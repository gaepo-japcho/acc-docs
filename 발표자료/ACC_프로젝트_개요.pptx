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41B4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Rectangle 2"/>
          <p:cNvSpPr/>
          <p:nvPr/>
        </p:nvSpPr>
        <p:spPr>
          <a:xfrm>
            <a:off x="7498077" y="0"/>
            <a:ext cx="4693617" cy="685800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" name="Rectangle 3"/>
          <p:cNvSpPr/>
          <p:nvPr/>
        </p:nvSpPr>
        <p:spPr>
          <a:xfrm>
            <a:off x="7498077" y="3200399"/>
            <a:ext cx="109730" cy="548643"/>
          </a:xfrm>
          <a:prstGeom prst="rect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" name="TextBox 4"/>
          <p:cNvSpPr txBox="1"/>
          <p:nvPr/>
        </p:nvSpPr>
        <p:spPr>
          <a:xfrm>
            <a:off x="731518" y="1097280"/>
            <a:ext cx="548640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CADCFC"/>
                </a:solidFill>
              </a:defRPr>
            </a:lvl1pPr>
          </a:lstStyle>
          <a:p>
            <a:r>
              <a:t>SeSAC · AUTOSAR ACC PROJECT</a:t>
            </a:r>
          </a:p>
        </p:txBody>
      </p:sp>
      <p:sp>
        <p:nvSpPr>
          <p:cNvPr id="98" name="TextBox 6"/>
          <p:cNvSpPr txBox="1"/>
          <p:nvPr/>
        </p:nvSpPr>
        <p:spPr>
          <a:xfrm>
            <a:off x="731519" y="2331720"/>
            <a:ext cx="7315201" cy="5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4400" b="1">
                <a:solidFill>
                  <a:srgbClr val="FFFFFF"/>
                </a:solidFill>
              </a:defRPr>
            </a:lvl1pPr>
          </a:lstStyle>
          <a:p>
            <a:r>
              <a:t>Adaptive Cruise Control</a:t>
            </a:r>
          </a:p>
        </p:txBody>
      </p:sp>
      <p:sp>
        <p:nvSpPr>
          <p:cNvPr id="99" name="TextBox 7"/>
          <p:cNvSpPr txBox="1"/>
          <p:nvPr/>
        </p:nvSpPr>
        <p:spPr>
          <a:xfrm>
            <a:off x="731519" y="3063238"/>
            <a:ext cx="7315201" cy="645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4000" b="1">
                <a:solidFill>
                  <a:srgbClr val="CADCF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시스템 개발</a:t>
            </a:r>
          </a:p>
        </p:txBody>
      </p:sp>
      <p:sp>
        <p:nvSpPr>
          <p:cNvPr id="100" name="Rectangle 8"/>
          <p:cNvSpPr/>
          <p:nvPr/>
        </p:nvSpPr>
        <p:spPr>
          <a:xfrm>
            <a:off x="731518" y="4114798"/>
            <a:ext cx="1371603" cy="45723"/>
          </a:xfrm>
          <a:prstGeom prst="rect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" name="TextBox 9"/>
          <p:cNvSpPr txBox="1"/>
          <p:nvPr/>
        </p:nvSpPr>
        <p:spPr>
          <a:xfrm>
            <a:off x="731519" y="4297679"/>
            <a:ext cx="7315201" cy="255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600" i="1">
                <a:solidFill>
                  <a:srgbClr val="CADCFC"/>
                </a:solidFill>
              </a:defRPr>
            </a:pPr>
            <a:r>
              <a:t>AUTOSAR · ASPICE 4.0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기반 </a:t>
            </a:r>
            <a:r>
              <a:t>SW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개발</a:t>
            </a:r>
          </a:p>
        </p:txBody>
      </p:sp>
      <p:sp>
        <p:nvSpPr>
          <p:cNvPr id="102" name="TextBox 10"/>
          <p:cNvSpPr txBox="1"/>
          <p:nvPr/>
        </p:nvSpPr>
        <p:spPr>
          <a:xfrm>
            <a:off x="731519" y="5760720"/>
            <a:ext cx="3200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000" b="1">
                <a:solidFill>
                  <a:srgbClr val="CADCFC"/>
                </a:solidFill>
              </a:defRPr>
            </a:lvl1pPr>
          </a:lstStyle>
          <a:p>
            <a:r>
              <a:t>PROJECT</a:t>
            </a:r>
          </a:p>
        </p:txBody>
      </p:sp>
      <p:sp>
        <p:nvSpPr>
          <p:cNvPr id="103" name="TextBox 11"/>
          <p:cNvSpPr txBox="1"/>
          <p:nvPr/>
        </p:nvSpPr>
        <p:spPr>
          <a:xfrm>
            <a:off x="731519" y="5989320"/>
            <a:ext cx="3200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 b="1">
                <a:solidFill>
                  <a:srgbClr val="FFFFFF"/>
                </a:solidFill>
              </a:defRPr>
            </a:lvl1pPr>
          </a:lstStyle>
          <a:p>
            <a:r>
              <a:t>ACC on RC-Car Platform</a:t>
            </a:r>
          </a:p>
        </p:txBody>
      </p:sp>
      <p:sp>
        <p:nvSpPr>
          <p:cNvPr id="104" name="TextBox 12"/>
          <p:cNvSpPr txBox="1"/>
          <p:nvPr/>
        </p:nvSpPr>
        <p:spPr>
          <a:xfrm>
            <a:off x="4389120" y="5760720"/>
            <a:ext cx="22860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000" b="1">
                <a:solidFill>
                  <a:srgbClr val="CADCFC"/>
                </a:solidFill>
              </a:defRPr>
            </a:lvl1pPr>
          </a:lstStyle>
          <a:p>
            <a:r>
              <a:t>TEAM</a:t>
            </a:r>
          </a:p>
        </p:txBody>
      </p:sp>
      <p:sp>
        <p:nvSpPr>
          <p:cNvPr id="105" name="TextBox 13"/>
          <p:cNvSpPr txBox="1"/>
          <p:nvPr/>
        </p:nvSpPr>
        <p:spPr>
          <a:xfrm>
            <a:off x="4389120" y="5989320"/>
            <a:ext cx="228600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 b="1">
                <a:solidFill>
                  <a:srgbClr val="FFFFFF"/>
                </a:solidFill>
              </a:defRPr>
            </a:lvl1pPr>
          </a:lstStyle>
          <a:p>
            <a:r>
              <a:t>개포동잡초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" name="Rectangle 2"/>
          <p:cNvSpPr/>
          <p:nvPr/>
        </p:nvSpPr>
        <p:spPr>
          <a:xfrm>
            <a:off x="457198" y="502919"/>
            <a:ext cx="73155" cy="50292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" name="TextBox 3"/>
          <p:cNvSpPr txBox="1"/>
          <p:nvPr/>
        </p:nvSpPr>
        <p:spPr>
          <a:xfrm>
            <a:off x="658367" y="475487"/>
            <a:ext cx="54864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</a:defRPr>
            </a:lvl1pPr>
          </a:lstStyle>
          <a:p>
            <a:r>
              <a:t>01  PROJECT OVERVIEW</a:t>
            </a:r>
          </a:p>
        </p:txBody>
      </p:sp>
      <p:sp>
        <p:nvSpPr>
          <p:cNvPr id="110" name="TextBox 4"/>
          <p:cNvSpPr txBox="1"/>
          <p:nvPr/>
        </p:nvSpPr>
        <p:spPr>
          <a:xfrm>
            <a:off x="658368" y="713230"/>
            <a:ext cx="10972801" cy="45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28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프로젝트 개요</a:t>
            </a:r>
          </a:p>
        </p:txBody>
      </p:sp>
      <p:sp>
        <p:nvSpPr>
          <p:cNvPr id="111" name="TextBox 5"/>
          <p:cNvSpPr txBox="1"/>
          <p:nvPr/>
        </p:nvSpPr>
        <p:spPr>
          <a:xfrm>
            <a:off x="658366" y="1417319"/>
            <a:ext cx="5760723" cy="24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500" b="1">
                <a:solidFill>
                  <a:srgbClr val="1E2761"/>
                </a:solidFill>
              </a:defRPr>
            </a:pPr>
            <a:r>
              <a:t>AUTOSAR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기반 </a:t>
            </a:r>
            <a:r>
              <a:t>ACC SW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개발 프로세스 학습 </a:t>
            </a:r>
            <a:r>
              <a:t>&amp;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포트폴리오</a:t>
            </a:r>
          </a:p>
        </p:txBody>
      </p:sp>
      <p:sp>
        <p:nvSpPr>
          <p:cNvPr id="112" name="TextBox 6"/>
          <p:cNvSpPr txBox="1"/>
          <p:nvPr/>
        </p:nvSpPr>
        <p:spPr>
          <a:xfrm>
            <a:off x="658366" y="1920238"/>
            <a:ext cx="5760723" cy="910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300">
                <a:solidFill>
                  <a:srgbClr val="1E293B"/>
                </a:solidFill>
              </a:defRPr>
            </a:pPr>
            <a:r>
              <a:t>1/10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스케일 </a:t>
            </a:r>
            <a:r>
              <a:t>RC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카 플랫폼 위에 </a:t>
            </a:r>
            <a:r>
              <a:t>Adaptive Cruise Control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시스템을 설계 및 구현한다</a:t>
            </a:r>
            <a:r>
              <a:t>.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전방 차량을 인식하여 차간거리와 속도를 자동 제어하고</a:t>
            </a:r>
            <a:r>
              <a:t>, Automotive SPICE 4.0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프로세스를 </a:t>
            </a:r>
            <a:r>
              <a:t>V-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모델 전체 체인에 적용하여 요구사항부터 검증까지 추적성을 확보한다</a:t>
            </a:r>
            <a:r>
              <a:t>.</a:t>
            </a:r>
          </a:p>
        </p:txBody>
      </p:sp>
      <p:sp>
        <p:nvSpPr>
          <p:cNvPr id="113" name="Rectangle 7"/>
          <p:cNvSpPr/>
          <p:nvPr/>
        </p:nvSpPr>
        <p:spPr>
          <a:xfrm>
            <a:off x="658366" y="3886200"/>
            <a:ext cx="2697483" cy="1143000"/>
          </a:xfrm>
          <a:prstGeom prst="rect">
            <a:avLst/>
          </a:prstGeom>
          <a:solidFill>
            <a:srgbClr val="E8EFFD"/>
          </a:solidFill>
          <a:ln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4" name="Rectangle 8"/>
          <p:cNvSpPr/>
          <p:nvPr/>
        </p:nvSpPr>
        <p:spPr>
          <a:xfrm>
            <a:off x="658368" y="3886200"/>
            <a:ext cx="73154" cy="114300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5" name="TextBox 9"/>
          <p:cNvSpPr txBox="1"/>
          <p:nvPr/>
        </p:nvSpPr>
        <p:spPr>
          <a:xfrm>
            <a:off x="886966" y="4050791"/>
            <a:ext cx="24231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기간</a:t>
            </a:r>
          </a:p>
        </p:txBody>
      </p:sp>
      <p:sp>
        <p:nvSpPr>
          <p:cNvPr id="116" name="TextBox 10"/>
          <p:cNvSpPr txBox="1"/>
          <p:nvPr/>
        </p:nvSpPr>
        <p:spPr>
          <a:xfrm>
            <a:off x="886966" y="4297679"/>
            <a:ext cx="2423162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2200" b="1">
                <a:solidFill>
                  <a:srgbClr val="1E2761"/>
                </a:solidFill>
              </a:defRPr>
            </a:lvl1pPr>
          </a:lstStyle>
          <a:p>
            <a:r>
              <a:t>~ 2026.04.30</a:t>
            </a:r>
          </a:p>
        </p:txBody>
      </p:sp>
      <p:sp>
        <p:nvSpPr>
          <p:cNvPr id="117" name="TextBox 11"/>
          <p:cNvSpPr txBox="1"/>
          <p:nvPr/>
        </p:nvSpPr>
        <p:spPr>
          <a:xfrm>
            <a:off x="886966" y="4736591"/>
            <a:ext cx="2423162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개발 완료 목표</a:t>
            </a:r>
          </a:p>
        </p:txBody>
      </p:sp>
      <p:sp>
        <p:nvSpPr>
          <p:cNvPr id="118" name="Rectangle 12"/>
          <p:cNvSpPr/>
          <p:nvPr/>
        </p:nvSpPr>
        <p:spPr>
          <a:xfrm>
            <a:off x="3584447" y="3886200"/>
            <a:ext cx="2697482" cy="1143000"/>
          </a:xfrm>
          <a:prstGeom prst="rect">
            <a:avLst/>
          </a:prstGeom>
          <a:solidFill>
            <a:srgbClr val="E8EFFD"/>
          </a:solidFill>
          <a:ln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9" name="Rectangle 13"/>
          <p:cNvSpPr/>
          <p:nvPr/>
        </p:nvSpPr>
        <p:spPr>
          <a:xfrm>
            <a:off x="3584447" y="3886200"/>
            <a:ext cx="73154" cy="114300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0" name="TextBox 14"/>
          <p:cNvSpPr txBox="1"/>
          <p:nvPr/>
        </p:nvSpPr>
        <p:spPr>
          <a:xfrm>
            <a:off x="3813047" y="4050791"/>
            <a:ext cx="24231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팀</a:t>
            </a:r>
          </a:p>
        </p:txBody>
      </p:sp>
      <p:sp>
        <p:nvSpPr>
          <p:cNvPr id="121" name="TextBox 15"/>
          <p:cNvSpPr txBox="1"/>
          <p:nvPr/>
        </p:nvSpPr>
        <p:spPr>
          <a:xfrm>
            <a:off x="3813047" y="4297679"/>
            <a:ext cx="242316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2200" b="1">
                <a:solidFill>
                  <a:srgbClr val="1E2761"/>
                </a:solidFill>
              </a:defRPr>
            </a:pPr>
            <a:r>
              <a:t>5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명</a:t>
            </a:r>
          </a:p>
        </p:txBody>
      </p:sp>
      <p:sp>
        <p:nvSpPr>
          <p:cNvPr id="122" name="TextBox 16"/>
          <p:cNvSpPr txBox="1"/>
          <p:nvPr/>
        </p:nvSpPr>
        <p:spPr>
          <a:xfrm>
            <a:off x="3813047" y="4736591"/>
            <a:ext cx="24231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1E293B"/>
                </a:solidFill>
              </a:defRPr>
            </a:lvl1pPr>
          </a:lstStyle>
          <a:p>
            <a:r>
              <a:t>Sys · SW · HW · QA/Safety</a:t>
            </a:r>
          </a:p>
        </p:txBody>
      </p:sp>
      <p:sp>
        <p:nvSpPr>
          <p:cNvPr id="123" name="Rectangle 17"/>
          <p:cNvSpPr/>
          <p:nvPr/>
        </p:nvSpPr>
        <p:spPr>
          <a:xfrm>
            <a:off x="658366" y="5166359"/>
            <a:ext cx="2697483" cy="1143002"/>
          </a:xfrm>
          <a:prstGeom prst="rect">
            <a:avLst/>
          </a:prstGeom>
          <a:solidFill>
            <a:srgbClr val="E8EFFD"/>
          </a:solidFill>
          <a:ln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4" name="Rectangle 18"/>
          <p:cNvSpPr/>
          <p:nvPr/>
        </p:nvSpPr>
        <p:spPr>
          <a:xfrm>
            <a:off x="658368" y="5166359"/>
            <a:ext cx="73154" cy="114300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5" name="TextBox 19"/>
          <p:cNvSpPr txBox="1"/>
          <p:nvPr/>
        </p:nvSpPr>
        <p:spPr>
          <a:xfrm>
            <a:off x="886966" y="5330952"/>
            <a:ext cx="24231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 b="1">
                <a:solidFill>
                  <a:srgbClr val="64748B"/>
                </a:solidFill>
              </a:defRPr>
            </a:pPr>
            <a:r>
              <a:t>HW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플랫폼</a:t>
            </a:r>
          </a:p>
        </p:txBody>
      </p:sp>
      <p:sp>
        <p:nvSpPr>
          <p:cNvPr id="126" name="TextBox 20"/>
          <p:cNvSpPr txBox="1"/>
          <p:nvPr/>
        </p:nvSpPr>
        <p:spPr>
          <a:xfrm>
            <a:off x="886966" y="5577840"/>
            <a:ext cx="2423162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2200" b="1">
                <a:solidFill>
                  <a:srgbClr val="1E2761"/>
                </a:solidFill>
              </a:defRPr>
            </a:lvl1pPr>
          </a:lstStyle>
          <a:p>
            <a:r>
              <a:t>MPC5606B</a:t>
            </a:r>
          </a:p>
        </p:txBody>
      </p:sp>
      <p:sp>
        <p:nvSpPr>
          <p:cNvPr id="127" name="TextBox 21"/>
          <p:cNvSpPr txBox="1"/>
          <p:nvPr/>
        </p:nvSpPr>
        <p:spPr>
          <a:xfrm>
            <a:off x="886966" y="6016752"/>
            <a:ext cx="24231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1E293B"/>
                </a:solidFill>
              </a:defRPr>
            </a:lvl1pPr>
          </a:lstStyle>
          <a:p>
            <a:r>
              <a:t>Arduino · Raspberry Pi 5</a:t>
            </a:r>
          </a:p>
        </p:txBody>
      </p:sp>
      <p:sp>
        <p:nvSpPr>
          <p:cNvPr id="128" name="Rectangle 22"/>
          <p:cNvSpPr/>
          <p:nvPr/>
        </p:nvSpPr>
        <p:spPr>
          <a:xfrm>
            <a:off x="3584447" y="5166359"/>
            <a:ext cx="2697482" cy="1143002"/>
          </a:xfrm>
          <a:prstGeom prst="rect">
            <a:avLst/>
          </a:prstGeom>
          <a:solidFill>
            <a:srgbClr val="E8EFFD"/>
          </a:solidFill>
          <a:ln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9" name="Rectangle 23"/>
          <p:cNvSpPr/>
          <p:nvPr/>
        </p:nvSpPr>
        <p:spPr>
          <a:xfrm>
            <a:off x="3584447" y="5166359"/>
            <a:ext cx="73154" cy="114300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0" name="TextBox 24"/>
          <p:cNvSpPr txBox="1"/>
          <p:nvPr/>
        </p:nvSpPr>
        <p:spPr>
          <a:xfrm>
            <a:off x="3813047" y="5330952"/>
            <a:ext cx="24231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표준</a:t>
            </a:r>
          </a:p>
        </p:txBody>
      </p:sp>
      <p:sp>
        <p:nvSpPr>
          <p:cNvPr id="131" name="TextBox 25"/>
          <p:cNvSpPr txBox="1"/>
          <p:nvPr/>
        </p:nvSpPr>
        <p:spPr>
          <a:xfrm>
            <a:off x="3813047" y="5577840"/>
            <a:ext cx="2423162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2200" b="1">
                <a:solidFill>
                  <a:srgbClr val="1E2761"/>
                </a:solidFill>
              </a:defRPr>
            </a:lvl1pPr>
          </a:lstStyle>
          <a:p>
            <a:r>
              <a:t>ASPICE 4.0</a:t>
            </a:r>
          </a:p>
        </p:txBody>
      </p:sp>
      <p:sp>
        <p:nvSpPr>
          <p:cNvPr id="132" name="TextBox 26"/>
          <p:cNvSpPr txBox="1"/>
          <p:nvPr/>
        </p:nvSpPr>
        <p:spPr>
          <a:xfrm>
            <a:off x="3813047" y="6016752"/>
            <a:ext cx="24231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1E293B"/>
                </a:solidFill>
              </a:defRPr>
            </a:lvl1pPr>
          </a:lstStyle>
          <a:p>
            <a:r>
              <a:t>ISO 26262:2018</a:t>
            </a:r>
          </a:p>
        </p:txBody>
      </p:sp>
      <p:sp>
        <p:nvSpPr>
          <p:cNvPr id="133" name="Rectangle 27"/>
          <p:cNvSpPr/>
          <p:nvPr/>
        </p:nvSpPr>
        <p:spPr>
          <a:xfrm>
            <a:off x="6812280" y="1417319"/>
            <a:ext cx="4800602" cy="4892043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4" name="Rectangle 28"/>
          <p:cNvSpPr/>
          <p:nvPr/>
        </p:nvSpPr>
        <p:spPr>
          <a:xfrm>
            <a:off x="6812280" y="1417319"/>
            <a:ext cx="91442" cy="4892043"/>
          </a:xfrm>
          <a:prstGeom prst="rect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5" name="TextBox 29"/>
          <p:cNvSpPr txBox="1"/>
          <p:nvPr/>
        </p:nvSpPr>
        <p:spPr>
          <a:xfrm>
            <a:off x="7178040" y="1691638"/>
            <a:ext cx="425196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CADCFC"/>
                </a:solidFill>
              </a:defRPr>
            </a:lvl1pPr>
          </a:lstStyle>
          <a:p>
            <a:r>
              <a:t>KEY DELIVERABLES</a:t>
            </a:r>
          </a:p>
        </p:txBody>
      </p:sp>
      <p:sp>
        <p:nvSpPr>
          <p:cNvPr id="136" name="TextBox 30"/>
          <p:cNvSpPr txBox="1"/>
          <p:nvPr/>
        </p:nvSpPr>
        <p:spPr>
          <a:xfrm>
            <a:off x="7178040" y="1984248"/>
            <a:ext cx="4251962" cy="349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핵심 산출물</a:t>
            </a:r>
          </a:p>
        </p:txBody>
      </p:sp>
      <p:sp>
        <p:nvSpPr>
          <p:cNvPr id="137" name="Oval 31"/>
          <p:cNvSpPr/>
          <p:nvPr/>
        </p:nvSpPr>
        <p:spPr>
          <a:xfrm>
            <a:off x="7178040" y="2715766"/>
            <a:ext cx="164595" cy="164595"/>
          </a:xfrm>
          <a:prstGeom prst="ellipse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8" name="TextBox 32"/>
          <p:cNvSpPr txBox="1"/>
          <p:nvPr/>
        </p:nvSpPr>
        <p:spPr>
          <a:xfrm>
            <a:off x="7452359" y="2606038"/>
            <a:ext cx="3977641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전방 차량 인식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&amp; </a:t>
            </a:r>
            <a:r>
              <a:t>차간거리 제어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SWC</a:t>
            </a:r>
          </a:p>
        </p:txBody>
      </p:sp>
      <p:sp>
        <p:nvSpPr>
          <p:cNvPr id="139" name="TextBox 33"/>
          <p:cNvSpPr txBox="1"/>
          <p:nvPr/>
        </p:nvSpPr>
        <p:spPr>
          <a:xfrm>
            <a:off x="7452359" y="2880360"/>
            <a:ext cx="397764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ADCFC"/>
                </a:solidFill>
              </a:defRPr>
            </a:pPr>
            <a:r>
              <a:t>Camera + LiDAR + CAN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기반 실시간 제어</a:t>
            </a:r>
          </a:p>
        </p:txBody>
      </p:sp>
      <p:sp>
        <p:nvSpPr>
          <p:cNvPr id="140" name="Oval 34"/>
          <p:cNvSpPr/>
          <p:nvPr/>
        </p:nvSpPr>
        <p:spPr>
          <a:xfrm>
            <a:off x="7178040" y="3428998"/>
            <a:ext cx="164595" cy="164595"/>
          </a:xfrm>
          <a:prstGeom prst="ellipse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1" name="TextBox 35"/>
          <p:cNvSpPr txBox="1"/>
          <p:nvPr/>
        </p:nvSpPr>
        <p:spPr>
          <a:xfrm>
            <a:off x="7452359" y="3319271"/>
            <a:ext cx="397764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시간 기반 안전거리 모델</a:t>
            </a:r>
          </a:p>
        </p:txBody>
      </p:sp>
      <p:sp>
        <p:nvSpPr>
          <p:cNvPr id="142" name="TextBox 36"/>
          <p:cNvSpPr txBox="1"/>
          <p:nvPr/>
        </p:nvSpPr>
        <p:spPr>
          <a:xfrm>
            <a:off x="7452359" y="3593591"/>
            <a:ext cx="39776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ADCFC"/>
                </a:solidFill>
              </a:defRPr>
            </a:pPr>
            <a:r>
              <a:t>Short / Medium / Long 3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단계</a:t>
            </a:r>
          </a:p>
        </p:txBody>
      </p:sp>
      <p:sp>
        <p:nvSpPr>
          <p:cNvPr id="143" name="Oval 37"/>
          <p:cNvSpPr/>
          <p:nvPr/>
        </p:nvSpPr>
        <p:spPr>
          <a:xfrm>
            <a:off x="7178040" y="4142232"/>
            <a:ext cx="164595" cy="164595"/>
          </a:xfrm>
          <a:prstGeom prst="ellipse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4" name="TextBox 38"/>
          <p:cNvSpPr txBox="1"/>
          <p:nvPr/>
        </p:nvSpPr>
        <p:spPr>
          <a:xfrm>
            <a:off x="7452359" y="4032503"/>
            <a:ext cx="397764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FFFFFF"/>
                </a:solidFill>
              </a:defRPr>
            </a:pPr>
            <a:r>
              <a:t>ACC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상태 관리 </a:t>
            </a:r>
            <a:r>
              <a:t>Machine</a:t>
            </a:r>
          </a:p>
        </p:txBody>
      </p:sp>
      <p:sp>
        <p:nvSpPr>
          <p:cNvPr id="145" name="TextBox 39"/>
          <p:cNvSpPr txBox="1"/>
          <p:nvPr/>
        </p:nvSpPr>
        <p:spPr>
          <a:xfrm>
            <a:off x="7452359" y="4306823"/>
            <a:ext cx="3977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CADCFC"/>
                </a:solidFill>
              </a:defRPr>
            </a:lvl1pPr>
          </a:lstStyle>
          <a:p>
            <a:r>
              <a:t>OFF → STANDBY → CRUISING / FOLLOWING</a:t>
            </a:r>
          </a:p>
        </p:txBody>
      </p:sp>
      <p:sp>
        <p:nvSpPr>
          <p:cNvPr id="146" name="Oval 40"/>
          <p:cNvSpPr/>
          <p:nvPr/>
        </p:nvSpPr>
        <p:spPr>
          <a:xfrm>
            <a:off x="7178040" y="4855464"/>
            <a:ext cx="164595" cy="164595"/>
          </a:xfrm>
          <a:prstGeom prst="ellipse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7" name="TextBox 41"/>
          <p:cNvSpPr txBox="1"/>
          <p:nvPr/>
        </p:nvSpPr>
        <p:spPr>
          <a:xfrm>
            <a:off x="7452359" y="4745735"/>
            <a:ext cx="397764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운전자 오버라이드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&amp; FAULT Safe</a:t>
            </a:r>
          </a:p>
        </p:txBody>
      </p:sp>
      <p:sp>
        <p:nvSpPr>
          <p:cNvPr id="148" name="TextBox 42"/>
          <p:cNvSpPr txBox="1"/>
          <p:nvPr/>
        </p:nvSpPr>
        <p:spPr>
          <a:xfrm>
            <a:off x="7452359" y="5020054"/>
            <a:ext cx="3977641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ADCFC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브레이크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·</a:t>
            </a:r>
            <a:r>
              <a:t>액셀 즉시 반응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, FAULT </a:t>
            </a:r>
            <a:r>
              <a:t>시 자연 감속</a:t>
            </a:r>
          </a:p>
        </p:txBody>
      </p:sp>
      <p:sp>
        <p:nvSpPr>
          <p:cNvPr id="149" name="Oval 43"/>
          <p:cNvSpPr/>
          <p:nvPr/>
        </p:nvSpPr>
        <p:spPr>
          <a:xfrm>
            <a:off x="7178040" y="5568696"/>
            <a:ext cx="164595" cy="164595"/>
          </a:xfrm>
          <a:prstGeom prst="ellipse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0" name="TextBox 44"/>
          <p:cNvSpPr txBox="1"/>
          <p:nvPr/>
        </p:nvSpPr>
        <p:spPr>
          <a:xfrm>
            <a:off x="7452359" y="5458967"/>
            <a:ext cx="397764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요구사항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↔ </a:t>
            </a:r>
            <a:r>
              <a:t>설계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↔ </a:t>
            </a:r>
            <a:r>
              <a:t>테스트 추적</a:t>
            </a:r>
          </a:p>
        </p:txBody>
      </p:sp>
      <p:sp>
        <p:nvSpPr>
          <p:cNvPr id="151" name="TextBox 45"/>
          <p:cNvSpPr txBox="1"/>
          <p:nvPr/>
        </p:nvSpPr>
        <p:spPr>
          <a:xfrm>
            <a:off x="7452359" y="5733288"/>
            <a:ext cx="397764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ADCFC"/>
                </a:solidFill>
              </a:defRPr>
            </a:pPr>
            <a:r>
              <a:t>StrictDoc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기반 </a:t>
            </a:r>
            <a:r>
              <a:t>V-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모델 전체 체인</a:t>
            </a:r>
          </a:p>
        </p:txBody>
      </p:sp>
      <p:sp>
        <p:nvSpPr>
          <p:cNvPr id="152" name="TextBox 46"/>
          <p:cNvSpPr txBox="1"/>
          <p:nvPr/>
        </p:nvSpPr>
        <p:spPr>
          <a:xfrm>
            <a:off x="457200" y="6537959"/>
            <a:ext cx="5486400" cy="14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900">
                <a:solidFill>
                  <a:srgbClr val="64748B"/>
                </a:solidFill>
              </a:defRPr>
            </a:pPr>
            <a:r>
              <a:t>SeSAC · ACC Project ·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</a:p>
        </p:txBody>
      </p:sp>
      <p:sp>
        <p:nvSpPr>
          <p:cNvPr id="153" name="TextBox 47"/>
          <p:cNvSpPr txBox="1"/>
          <p:nvPr/>
        </p:nvSpPr>
        <p:spPr>
          <a:xfrm>
            <a:off x="11338559" y="6537959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5000"/>
              </a:lnSpc>
              <a:defRPr sz="900">
                <a:solidFill>
                  <a:srgbClr val="64748B"/>
                </a:solidFill>
              </a:defRPr>
            </a:lvl1pPr>
          </a:lstStyle>
          <a:p>
            <a:r>
              <a:t>01 / 08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2"/>
          <p:cNvSpPr/>
          <p:nvPr/>
        </p:nvSpPr>
        <p:spPr>
          <a:xfrm>
            <a:off x="457198" y="502919"/>
            <a:ext cx="73155" cy="50292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6" name="TextBox 3"/>
          <p:cNvSpPr txBox="1"/>
          <p:nvPr/>
        </p:nvSpPr>
        <p:spPr>
          <a:xfrm>
            <a:off x="658367" y="475487"/>
            <a:ext cx="54864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</a:defRPr>
            </a:lvl1pPr>
          </a:lstStyle>
          <a:p>
            <a:r>
              <a:t>02  TEAM &amp; SCHEDULE</a:t>
            </a:r>
          </a:p>
        </p:txBody>
      </p:sp>
      <p:sp>
        <p:nvSpPr>
          <p:cNvPr id="157" name="TextBox 4"/>
          <p:cNvSpPr txBox="1"/>
          <p:nvPr/>
        </p:nvSpPr>
        <p:spPr>
          <a:xfrm>
            <a:off x="658368" y="713230"/>
            <a:ext cx="10972801" cy="45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28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역할 분배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· </a:t>
            </a:r>
            <a:r>
              <a:t>개발 일정</a:t>
            </a:r>
          </a:p>
        </p:txBody>
      </p:sp>
      <p:sp>
        <p:nvSpPr>
          <p:cNvPr id="158" name="TextBox 5"/>
          <p:cNvSpPr txBox="1"/>
          <p:nvPr/>
        </p:nvSpPr>
        <p:spPr>
          <a:xfrm>
            <a:off x="658368" y="1371599"/>
            <a:ext cx="109728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 i="1">
                <a:solidFill>
                  <a:srgbClr val="64748B"/>
                </a:solidFill>
              </a:defRPr>
            </a:pPr>
            <a:r>
              <a:t>5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명 팀 </a:t>
            </a:r>
            <a:r>
              <a:t>·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독립성 원칙</a:t>
            </a:r>
            <a:r>
              <a:t>(D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가 </a:t>
            </a:r>
            <a:r>
              <a:t>A·B·C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안전 산출물 </a:t>
            </a:r>
            <a:r>
              <a:t>Confirmation Review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수행</a:t>
            </a:r>
            <a:r>
              <a:t>)</a:t>
            </a:r>
          </a:p>
        </p:txBody>
      </p:sp>
      <p:sp>
        <p:nvSpPr>
          <p:cNvPr id="159" name="TextBox 30"/>
          <p:cNvSpPr txBox="1"/>
          <p:nvPr/>
        </p:nvSpPr>
        <p:spPr>
          <a:xfrm>
            <a:off x="609599" y="4878633"/>
            <a:ext cx="10972802" cy="24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5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개발 일정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(~ 2026.05.01)</a:t>
            </a:r>
          </a:p>
        </p:txBody>
      </p:sp>
      <p:sp>
        <p:nvSpPr>
          <p:cNvPr id="160" name="Rectangle 31"/>
          <p:cNvSpPr/>
          <p:nvPr/>
        </p:nvSpPr>
        <p:spPr>
          <a:xfrm>
            <a:off x="658368" y="5349240"/>
            <a:ext cx="10881360" cy="128018"/>
          </a:xfrm>
          <a:prstGeom prst="rect">
            <a:avLst/>
          </a:prstGeom>
          <a:solidFill>
            <a:srgbClr val="CADC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1" name="Oval 32"/>
          <p:cNvSpPr/>
          <p:nvPr/>
        </p:nvSpPr>
        <p:spPr>
          <a:xfrm>
            <a:off x="512062" y="5239510"/>
            <a:ext cx="347475" cy="347475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2" name="TextBox 33"/>
          <p:cNvSpPr txBox="1"/>
          <p:nvPr/>
        </p:nvSpPr>
        <p:spPr>
          <a:xfrm>
            <a:off x="-438913" y="5669279"/>
            <a:ext cx="219456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2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요구사항</a:t>
            </a:r>
          </a:p>
        </p:txBody>
      </p:sp>
      <p:sp>
        <p:nvSpPr>
          <p:cNvPr id="163" name="TextBox 34"/>
          <p:cNvSpPr txBox="1"/>
          <p:nvPr/>
        </p:nvSpPr>
        <p:spPr>
          <a:xfrm>
            <a:off x="-438913" y="5925310"/>
            <a:ext cx="21945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>
                <a:solidFill>
                  <a:srgbClr val="64748B"/>
                </a:solidFill>
              </a:defRPr>
            </a:lvl1pPr>
          </a:lstStyle>
          <a:p>
            <a:r>
              <a:t>STK / SYS</a:t>
            </a:r>
          </a:p>
        </p:txBody>
      </p:sp>
      <p:sp>
        <p:nvSpPr>
          <p:cNvPr id="164" name="Oval 35"/>
          <p:cNvSpPr/>
          <p:nvPr/>
        </p:nvSpPr>
        <p:spPr>
          <a:xfrm>
            <a:off x="2905961" y="5239510"/>
            <a:ext cx="347475" cy="347475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TextBox 36"/>
          <p:cNvSpPr txBox="1"/>
          <p:nvPr/>
        </p:nvSpPr>
        <p:spPr>
          <a:xfrm>
            <a:off x="1954987" y="5669279"/>
            <a:ext cx="219456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2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설계</a:t>
            </a:r>
          </a:p>
        </p:txBody>
      </p:sp>
      <p:sp>
        <p:nvSpPr>
          <p:cNvPr id="166" name="TextBox 37"/>
          <p:cNvSpPr txBox="1"/>
          <p:nvPr/>
        </p:nvSpPr>
        <p:spPr>
          <a:xfrm>
            <a:off x="1954987" y="5925310"/>
            <a:ext cx="21945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>
                <a:solidFill>
                  <a:srgbClr val="64748B"/>
                </a:solidFill>
              </a:defRPr>
            </a:lvl1pPr>
          </a:lstStyle>
          <a:p>
            <a:r>
              <a:t>SWE.2 / 3</a:t>
            </a:r>
          </a:p>
        </p:txBody>
      </p:sp>
      <p:sp>
        <p:nvSpPr>
          <p:cNvPr id="167" name="Oval 38"/>
          <p:cNvSpPr/>
          <p:nvPr/>
        </p:nvSpPr>
        <p:spPr>
          <a:xfrm>
            <a:off x="5952744" y="5239510"/>
            <a:ext cx="347475" cy="347475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8" name="TextBox 39"/>
          <p:cNvSpPr txBox="1"/>
          <p:nvPr/>
        </p:nvSpPr>
        <p:spPr>
          <a:xfrm>
            <a:off x="5001767" y="5669279"/>
            <a:ext cx="219456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2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구현</a:t>
            </a:r>
          </a:p>
        </p:txBody>
      </p:sp>
      <p:sp>
        <p:nvSpPr>
          <p:cNvPr id="169" name="TextBox 40"/>
          <p:cNvSpPr txBox="1"/>
          <p:nvPr/>
        </p:nvSpPr>
        <p:spPr>
          <a:xfrm>
            <a:off x="5001767" y="5925310"/>
            <a:ext cx="21945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>
                <a:solidFill>
                  <a:srgbClr val="64748B"/>
                </a:solidFill>
              </a:defRPr>
            </a:lvl1pPr>
          </a:lstStyle>
          <a:p>
            <a:r>
              <a:t>Coding / MBD</a:t>
            </a:r>
          </a:p>
        </p:txBody>
      </p:sp>
      <p:sp>
        <p:nvSpPr>
          <p:cNvPr id="170" name="Oval 41"/>
          <p:cNvSpPr/>
          <p:nvPr/>
        </p:nvSpPr>
        <p:spPr>
          <a:xfrm>
            <a:off x="8346643" y="5239510"/>
            <a:ext cx="347475" cy="347475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1" name="TextBox 42"/>
          <p:cNvSpPr txBox="1"/>
          <p:nvPr/>
        </p:nvSpPr>
        <p:spPr>
          <a:xfrm>
            <a:off x="7395667" y="5669279"/>
            <a:ext cx="219456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5000"/>
              </a:lnSpc>
              <a:defRPr sz="12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통합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&amp; </a:t>
            </a:r>
            <a:r>
              <a:t>테스트</a:t>
            </a:r>
          </a:p>
        </p:txBody>
      </p:sp>
      <p:sp>
        <p:nvSpPr>
          <p:cNvPr id="172" name="TextBox 43"/>
          <p:cNvSpPr txBox="1"/>
          <p:nvPr/>
        </p:nvSpPr>
        <p:spPr>
          <a:xfrm>
            <a:off x="7395667" y="5925310"/>
            <a:ext cx="21945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>
                <a:solidFill>
                  <a:srgbClr val="64748B"/>
                </a:solidFill>
              </a:defRPr>
            </a:lvl1pPr>
          </a:lstStyle>
          <a:p>
            <a:r>
              <a:t>SWE.5 / SYS.4</a:t>
            </a:r>
          </a:p>
        </p:txBody>
      </p:sp>
      <p:sp>
        <p:nvSpPr>
          <p:cNvPr id="173" name="Oval 44"/>
          <p:cNvSpPr/>
          <p:nvPr/>
        </p:nvSpPr>
        <p:spPr>
          <a:xfrm>
            <a:off x="10849356" y="5239510"/>
            <a:ext cx="347475" cy="347475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4" name="TextBox 45"/>
          <p:cNvSpPr txBox="1"/>
          <p:nvPr/>
        </p:nvSpPr>
        <p:spPr>
          <a:xfrm>
            <a:off x="9898380" y="5669279"/>
            <a:ext cx="219456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2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자격 검증</a:t>
            </a:r>
          </a:p>
        </p:txBody>
      </p:sp>
      <p:sp>
        <p:nvSpPr>
          <p:cNvPr id="175" name="TextBox 46"/>
          <p:cNvSpPr txBox="1"/>
          <p:nvPr/>
        </p:nvSpPr>
        <p:spPr>
          <a:xfrm>
            <a:off x="9898380" y="5925310"/>
            <a:ext cx="21945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>
                <a:solidFill>
                  <a:srgbClr val="64748B"/>
                </a:solidFill>
              </a:defRPr>
            </a:lvl1pPr>
          </a:lstStyle>
          <a:p>
            <a:r>
              <a:t>SYS.5 / VAL.1</a:t>
            </a:r>
          </a:p>
        </p:txBody>
      </p:sp>
      <p:sp>
        <p:nvSpPr>
          <p:cNvPr id="176" name="Rectangle 47"/>
          <p:cNvSpPr/>
          <p:nvPr/>
        </p:nvSpPr>
        <p:spPr>
          <a:xfrm>
            <a:off x="11503152" y="5166359"/>
            <a:ext cx="73154" cy="457202"/>
          </a:xfrm>
          <a:prstGeom prst="rect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7" name="TextBox 48"/>
          <p:cNvSpPr txBox="1"/>
          <p:nvPr/>
        </p:nvSpPr>
        <p:spPr>
          <a:xfrm>
            <a:off x="10716768" y="4892040"/>
            <a:ext cx="9144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5000"/>
              </a:lnSpc>
              <a:defRPr sz="1000" b="1">
                <a:solidFill>
                  <a:srgbClr val="F96167"/>
                </a:solidFill>
              </a:defRPr>
            </a:lvl1pPr>
          </a:lstStyle>
          <a:p>
            <a:r>
              <a:t>2026.05.01</a:t>
            </a:r>
          </a:p>
        </p:txBody>
      </p:sp>
      <p:sp>
        <p:nvSpPr>
          <p:cNvPr id="178" name="TextBox 49"/>
          <p:cNvSpPr txBox="1"/>
          <p:nvPr/>
        </p:nvSpPr>
        <p:spPr>
          <a:xfrm>
            <a:off x="457200" y="6537959"/>
            <a:ext cx="5486400" cy="14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900">
                <a:solidFill>
                  <a:srgbClr val="64748B"/>
                </a:solidFill>
              </a:defRPr>
            </a:pPr>
            <a:r>
              <a:t>SeSAC · ACC Project ·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</a:p>
        </p:txBody>
      </p:sp>
      <p:sp>
        <p:nvSpPr>
          <p:cNvPr id="179" name="TextBox 50"/>
          <p:cNvSpPr txBox="1"/>
          <p:nvPr/>
        </p:nvSpPr>
        <p:spPr>
          <a:xfrm>
            <a:off x="11338559" y="6537959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5000"/>
              </a:lnSpc>
              <a:defRPr sz="900">
                <a:solidFill>
                  <a:srgbClr val="64748B"/>
                </a:solidFill>
              </a:defRPr>
            </a:lvl1pPr>
          </a:lstStyle>
          <a:p>
            <a:r>
              <a:t>08 / 08</a:t>
            </a:r>
          </a:p>
        </p:txBody>
      </p:sp>
      <p:sp>
        <p:nvSpPr>
          <p:cNvPr id="180" name="Shape 5"/>
          <p:cNvSpPr/>
          <p:nvPr/>
        </p:nvSpPr>
        <p:spPr>
          <a:xfrm>
            <a:off x="420878" y="1722197"/>
            <a:ext cx="2159001" cy="2834641"/>
          </a:xfrm>
          <a:prstGeom prst="rect">
            <a:avLst/>
          </a:prstGeom>
          <a:solidFill>
            <a:srgbClr val="FFFFFF"/>
          </a:solidFill>
          <a:ln>
            <a:solidFill>
              <a:srgbClr val="BCC4DB"/>
            </a:solidFill>
          </a:ln>
          <a:effectLst>
            <a:outerShdw blurRad="76200" dist="127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181" name="Shape 6"/>
          <p:cNvSpPr/>
          <p:nvPr/>
        </p:nvSpPr>
        <p:spPr>
          <a:xfrm>
            <a:off x="420878" y="1722197"/>
            <a:ext cx="2159001" cy="822961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182" name="Text 7"/>
          <p:cNvSpPr txBox="1"/>
          <p:nvPr/>
        </p:nvSpPr>
        <p:spPr>
          <a:xfrm>
            <a:off x="564812" y="1863167"/>
            <a:ext cx="1871134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defTabSz="914400">
              <a:defRPr b="1">
                <a:solidFill>
                  <a:srgbClr val="FFFFFF"/>
                </a:solidFill>
              </a:defRPr>
            </a:lvl1pPr>
          </a:lstStyle>
          <a:p>
            <a:r>
              <a:t>김유림</a:t>
            </a:r>
          </a:p>
        </p:txBody>
      </p:sp>
      <p:sp>
        <p:nvSpPr>
          <p:cNvPr id="183" name="Text 8"/>
          <p:cNvSpPr txBox="1"/>
          <p:nvPr/>
        </p:nvSpPr>
        <p:spPr>
          <a:xfrm>
            <a:off x="564812" y="2252295"/>
            <a:ext cx="187113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defTabSz="914400">
              <a:defRPr sz="1100">
                <a:solidFill>
                  <a:srgbClr val="CADCFC"/>
                </a:solidFill>
              </a:defRPr>
            </a:lvl1pPr>
          </a:lstStyle>
          <a:p>
            <a:r>
              <a:t>PM · 시스템 엔지니어</a:t>
            </a:r>
          </a:p>
        </p:txBody>
      </p:sp>
      <p:sp>
        <p:nvSpPr>
          <p:cNvPr id="184" name="Text 10"/>
          <p:cNvSpPr txBox="1"/>
          <p:nvPr/>
        </p:nvSpPr>
        <p:spPr>
          <a:xfrm>
            <a:off x="564812" y="2762238"/>
            <a:ext cx="1871134" cy="754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프로젝트 관리 · 일정 관리</a:t>
            </a:r>
          </a:p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PID MBD · AUTOSAR SWC</a:t>
            </a:r>
          </a:p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Arduino 모터부 보조</a:t>
            </a:r>
          </a:p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차체 제작</a:t>
            </a:r>
          </a:p>
        </p:txBody>
      </p:sp>
      <p:sp>
        <p:nvSpPr>
          <p:cNvPr id="185" name="Shape 11"/>
          <p:cNvSpPr/>
          <p:nvPr/>
        </p:nvSpPr>
        <p:spPr>
          <a:xfrm>
            <a:off x="2743073" y="1722197"/>
            <a:ext cx="2159001" cy="2834641"/>
          </a:xfrm>
          <a:prstGeom prst="rect">
            <a:avLst/>
          </a:prstGeom>
          <a:solidFill>
            <a:srgbClr val="FFFFFF"/>
          </a:solidFill>
          <a:ln>
            <a:solidFill>
              <a:srgbClr val="BCC4DB"/>
            </a:solidFill>
          </a:ln>
          <a:effectLst>
            <a:outerShdw blurRad="76200" dist="127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186" name="Shape 12"/>
          <p:cNvSpPr/>
          <p:nvPr/>
        </p:nvSpPr>
        <p:spPr>
          <a:xfrm>
            <a:off x="2743073" y="1722197"/>
            <a:ext cx="2159001" cy="822961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187" name="Text 13"/>
          <p:cNvSpPr txBox="1"/>
          <p:nvPr/>
        </p:nvSpPr>
        <p:spPr>
          <a:xfrm>
            <a:off x="2887006" y="1863167"/>
            <a:ext cx="187113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defTabSz="914400">
              <a:defRPr b="1">
                <a:solidFill>
                  <a:srgbClr val="FFFFFF"/>
                </a:solidFill>
              </a:defRPr>
            </a:lvl1pPr>
          </a:lstStyle>
          <a:p>
            <a:r>
              <a:t>엄지혜</a:t>
            </a:r>
          </a:p>
        </p:txBody>
      </p:sp>
      <p:sp>
        <p:nvSpPr>
          <p:cNvPr id="188" name="Text 14"/>
          <p:cNvSpPr txBox="1"/>
          <p:nvPr/>
        </p:nvSpPr>
        <p:spPr>
          <a:xfrm>
            <a:off x="2887006" y="2252295"/>
            <a:ext cx="187113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defTabSz="914400">
              <a:defRPr sz="1100">
                <a:solidFill>
                  <a:srgbClr val="CADCFC"/>
                </a:solidFill>
              </a:defRPr>
            </a:lvl1pPr>
          </a:lstStyle>
          <a:p>
            <a:r>
              <a:t>SW 엔지니어 (메인 ECU)</a:t>
            </a:r>
          </a:p>
        </p:txBody>
      </p:sp>
      <p:sp>
        <p:nvSpPr>
          <p:cNvPr id="189" name="Text 16"/>
          <p:cNvSpPr txBox="1"/>
          <p:nvPr/>
        </p:nvSpPr>
        <p:spPr>
          <a:xfrm>
            <a:off x="2887006" y="2698681"/>
            <a:ext cx="1871135" cy="113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AUTOSAR SWC 구현 (mobilgene)</a:t>
            </a:r>
          </a:p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CAN 배선</a:t>
            </a:r>
          </a:p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CAN DB 설계</a:t>
            </a:r>
            <a:br/>
            <a:r>
              <a:t>CAN 인터페이스 (RPi)</a:t>
            </a:r>
          </a:p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정적 분석 · 단위·통합 시험</a:t>
            </a:r>
          </a:p>
        </p:txBody>
      </p:sp>
      <p:sp>
        <p:nvSpPr>
          <p:cNvPr id="190" name="Shape 17"/>
          <p:cNvSpPr/>
          <p:nvPr/>
        </p:nvSpPr>
        <p:spPr>
          <a:xfrm>
            <a:off x="5065268" y="1722197"/>
            <a:ext cx="2159001" cy="2834641"/>
          </a:xfrm>
          <a:prstGeom prst="rect">
            <a:avLst/>
          </a:prstGeom>
          <a:solidFill>
            <a:srgbClr val="FFFFFF"/>
          </a:solidFill>
          <a:ln>
            <a:solidFill>
              <a:srgbClr val="BCC4DB"/>
            </a:solidFill>
          </a:ln>
          <a:effectLst>
            <a:outerShdw blurRad="76200" dist="127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191" name="Shape 18"/>
          <p:cNvSpPr/>
          <p:nvPr/>
        </p:nvSpPr>
        <p:spPr>
          <a:xfrm>
            <a:off x="5065268" y="1722197"/>
            <a:ext cx="2159001" cy="822961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192" name="Text 19"/>
          <p:cNvSpPr txBox="1"/>
          <p:nvPr/>
        </p:nvSpPr>
        <p:spPr>
          <a:xfrm>
            <a:off x="5209201" y="1863167"/>
            <a:ext cx="187113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defTabSz="914400">
              <a:defRPr b="1">
                <a:solidFill>
                  <a:srgbClr val="FFFFFF"/>
                </a:solidFill>
              </a:defRPr>
            </a:lvl1pPr>
          </a:lstStyle>
          <a:p>
            <a:r>
              <a:t>박종범</a:t>
            </a:r>
          </a:p>
        </p:txBody>
      </p:sp>
      <p:sp>
        <p:nvSpPr>
          <p:cNvPr id="193" name="Text 20"/>
          <p:cNvSpPr txBox="1"/>
          <p:nvPr/>
        </p:nvSpPr>
        <p:spPr>
          <a:xfrm>
            <a:off x="5209201" y="2252295"/>
            <a:ext cx="187113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defTabSz="914400">
              <a:defRPr sz="1100">
                <a:solidFill>
                  <a:srgbClr val="CADCFC"/>
                </a:solidFill>
              </a:defRPr>
            </a:lvl1pPr>
          </a:lstStyle>
          <a:p>
            <a:r>
              <a:t>SW 엔지니어 (HMI · HW)</a:t>
            </a:r>
          </a:p>
        </p:txBody>
      </p:sp>
      <p:sp>
        <p:nvSpPr>
          <p:cNvPr id="194" name="Text 22"/>
          <p:cNvSpPr txBox="1"/>
          <p:nvPr/>
        </p:nvSpPr>
        <p:spPr>
          <a:xfrm>
            <a:off x="5210789" y="2684704"/>
            <a:ext cx="1871134" cy="94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AUTOSAR SWC 구현 (mobilgene)</a:t>
            </a:r>
            <a:br/>
            <a:r>
              <a:t>RPi 카메라 + LiDAR 융합</a:t>
            </a:r>
          </a:p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GUI HMI 애플리케이션</a:t>
            </a:r>
          </a:p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Confirmation Review 수행</a:t>
            </a:r>
          </a:p>
        </p:txBody>
      </p:sp>
      <p:sp>
        <p:nvSpPr>
          <p:cNvPr id="195" name="Shape 23"/>
          <p:cNvSpPr/>
          <p:nvPr/>
        </p:nvSpPr>
        <p:spPr>
          <a:xfrm>
            <a:off x="7387463" y="1722197"/>
            <a:ext cx="2159001" cy="2834641"/>
          </a:xfrm>
          <a:prstGeom prst="rect">
            <a:avLst/>
          </a:prstGeom>
          <a:solidFill>
            <a:srgbClr val="FFFFFF"/>
          </a:solidFill>
          <a:ln>
            <a:solidFill>
              <a:srgbClr val="BCC4DB"/>
            </a:solidFill>
          </a:ln>
          <a:effectLst>
            <a:outerShdw blurRad="76200" dist="127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196" name="Shape 24"/>
          <p:cNvSpPr/>
          <p:nvPr/>
        </p:nvSpPr>
        <p:spPr>
          <a:xfrm>
            <a:off x="7387463" y="1722197"/>
            <a:ext cx="2159001" cy="822961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197" name="Text 25"/>
          <p:cNvSpPr txBox="1"/>
          <p:nvPr/>
        </p:nvSpPr>
        <p:spPr>
          <a:xfrm>
            <a:off x="7531396" y="1863167"/>
            <a:ext cx="187113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defTabSz="914400">
              <a:defRPr b="1">
                <a:solidFill>
                  <a:srgbClr val="FFFFFF"/>
                </a:solidFill>
              </a:defRPr>
            </a:lvl1pPr>
          </a:lstStyle>
          <a:p>
            <a:r>
              <a:t>유다희</a:t>
            </a:r>
          </a:p>
        </p:txBody>
      </p:sp>
      <p:sp>
        <p:nvSpPr>
          <p:cNvPr id="198" name="Text 26"/>
          <p:cNvSpPr txBox="1"/>
          <p:nvPr/>
        </p:nvSpPr>
        <p:spPr>
          <a:xfrm>
            <a:off x="7531396" y="2252295"/>
            <a:ext cx="187113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defTabSz="914400">
              <a:defRPr sz="1100">
                <a:solidFill>
                  <a:srgbClr val="CADCFC"/>
                </a:solidFill>
              </a:defRPr>
            </a:lvl1pPr>
          </a:lstStyle>
          <a:p>
            <a:r>
              <a:t>HW 엔지니어</a:t>
            </a:r>
          </a:p>
        </p:txBody>
      </p:sp>
      <p:sp>
        <p:nvSpPr>
          <p:cNvPr id="199" name="Text 28"/>
          <p:cNvSpPr txBox="1"/>
          <p:nvPr/>
        </p:nvSpPr>
        <p:spPr>
          <a:xfrm>
            <a:off x="7528221" y="2659431"/>
            <a:ext cx="1871135" cy="960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차체 제작</a:t>
            </a:r>
          </a:p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Simulink MBD PID 설계</a:t>
            </a:r>
          </a:p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PID MBD 설계 보조</a:t>
            </a:r>
          </a:p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Arduino 모터 펌웨어</a:t>
            </a:r>
          </a:p>
        </p:txBody>
      </p:sp>
      <p:sp>
        <p:nvSpPr>
          <p:cNvPr id="200" name="Shape 23"/>
          <p:cNvSpPr/>
          <p:nvPr/>
        </p:nvSpPr>
        <p:spPr>
          <a:xfrm>
            <a:off x="9709658" y="1722197"/>
            <a:ext cx="2159001" cy="2834641"/>
          </a:xfrm>
          <a:prstGeom prst="rect">
            <a:avLst/>
          </a:prstGeom>
          <a:solidFill>
            <a:srgbClr val="FFFFFF"/>
          </a:solidFill>
          <a:ln>
            <a:solidFill>
              <a:srgbClr val="BCC4DB"/>
            </a:solidFill>
          </a:ln>
          <a:effectLst>
            <a:outerShdw blurRad="76200" dist="12700" dir="8100000" rotWithShape="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201" name="Shape 24"/>
          <p:cNvSpPr/>
          <p:nvPr/>
        </p:nvSpPr>
        <p:spPr>
          <a:xfrm>
            <a:off x="9709658" y="1722197"/>
            <a:ext cx="2159001" cy="822961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202" name="Text 25"/>
          <p:cNvSpPr txBox="1"/>
          <p:nvPr/>
        </p:nvSpPr>
        <p:spPr>
          <a:xfrm>
            <a:off x="9853591" y="1863167"/>
            <a:ext cx="1871134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defTabSz="914400">
              <a:defRPr b="1">
                <a:solidFill>
                  <a:srgbClr val="FFFFFF"/>
                </a:solidFill>
              </a:defRPr>
            </a:lvl1pPr>
          </a:lstStyle>
          <a:p>
            <a:r>
              <a:t>배정우</a:t>
            </a:r>
          </a:p>
        </p:txBody>
      </p:sp>
      <p:sp>
        <p:nvSpPr>
          <p:cNvPr id="203" name="Text 26"/>
          <p:cNvSpPr txBox="1"/>
          <p:nvPr/>
        </p:nvSpPr>
        <p:spPr>
          <a:xfrm>
            <a:off x="9853591" y="2252295"/>
            <a:ext cx="187113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defTabSz="914400">
              <a:defRPr sz="1100">
                <a:solidFill>
                  <a:srgbClr val="CADCFC"/>
                </a:solidFill>
              </a:defRPr>
            </a:lvl1pPr>
          </a:lstStyle>
          <a:p>
            <a:r>
              <a:t>안전·품질 · SW 엔지니어</a:t>
            </a:r>
          </a:p>
        </p:txBody>
      </p:sp>
      <p:sp>
        <p:nvSpPr>
          <p:cNvPr id="204" name="Text 28"/>
          <p:cNvSpPr txBox="1"/>
          <p:nvPr/>
        </p:nvSpPr>
        <p:spPr>
          <a:xfrm>
            <a:off x="9845654" y="2656872"/>
            <a:ext cx="1871135" cy="1258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AUTOSAR SWC 구현 (mobilgene)</a:t>
            </a:r>
            <a:br/>
            <a:r>
              <a:t>CAN DB 설계</a:t>
            </a:r>
          </a:p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차체 제작 · CAN 배선</a:t>
            </a:r>
          </a:p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PID MBD 설계 보조</a:t>
            </a:r>
          </a:p>
          <a:p>
            <a:pPr defTabSz="914400">
              <a:spcBef>
                <a:spcPts val="200"/>
              </a:spcBef>
              <a:defRPr sz="1000">
                <a:solidFill>
                  <a:srgbClr val="0F1A3D"/>
                </a:solidFill>
              </a:defRPr>
            </a:pPr>
            <a:r>
              <a:t>ASIL B 검증 · Safety Case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7" name="Rectangle 2"/>
          <p:cNvSpPr/>
          <p:nvPr/>
        </p:nvSpPr>
        <p:spPr>
          <a:xfrm>
            <a:off x="457198" y="502919"/>
            <a:ext cx="73155" cy="50292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8" name="TextBox 3"/>
          <p:cNvSpPr txBox="1"/>
          <p:nvPr/>
        </p:nvSpPr>
        <p:spPr>
          <a:xfrm>
            <a:off x="658367" y="475487"/>
            <a:ext cx="54864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</a:defRPr>
            </a:lvl1pPr>
          </a:lstStyle>
          <a:p>
            <a:r>
              <a:t>03  FUNCTIONAL REQUIREMENTS</a:t>
            </a:r>
          </a:p>
        </p:txBody>
      </p:sp>
      <p:sp>
        <p:nvSpPr>
          <p:cNvPr id="209" name="TextBox 4"/>
          <p:cNvSpPr txBox="1"/>
          <p:nvPr/>
        </p:nvSpPr>
        <p:spPr>
          <a:xfrm>
            <a:off x="658368" y="713230"/>
            <a:ext cx="10972801" cy="45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28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주요 기능 요구사항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(Stakeholder)</a:t>
            </a:r>
          </a:p>
        </p:txBody>
      </p:sp>
      <p:sp>
        <p:nvSpPr>
          <p:cNvPr id="210" name="TextBox 5"/>
          <p:cNvSpPr txBox="1"/>
          <p:nvPr/>
        </p:nvSpPr>
        <p:spPr>
          <a:xfrm>
            <a:off x="658368" y="1371599"/>
            <a:ext cx="109728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 i="1">
                <a:solidFill>
                  <a:srgbClr val="64748B"/>
                </a:solidFill>
              </a:defRPr>
            </a:pPr>
            <a:r>
              <a:t>StrictDoc STK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기반 </a:t>
            </a:r>
            <a:r>
              <a:t>—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전방 인식</a:t>
            </a:r>
            <a:r>
              <a:t>,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제어</a:t>
            </a:r>
            <a:r>
              <a:t>,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상태 관리</a:t>
            </a:r>
            <a:r>
              <a:t>,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안전</a:t>
            </a:r>
            <a:r>
              <a:t>,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인터페이스</a:t>
            </a:r>
          </a:p>
        </p:txBody>
      </p:sp>
      <p:sp>
        <p:nvSpPr>
          <p:cNvPr id="211" name="Rectangle 6"/>
          <p:cNvSpPr/>
          <p:nvPr/>
        </p:nvSpPr>
        <p:spPr>
          <a:xfrm>
            <a:off x="658368" y="1920239"/>
            <a:ext cx="3611880" cy="2148841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2" name="Rectangle 7"/>
          <p:cNvSpPr/>
          <p:nvPr/>
        </p:nvSpPr>
        <p:spPr>
          <a:xfrm>
            <a:off x="658368" y="1920238"/>
            <a:ext cx="3611880" cy="73154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3" name="Rectangle 8"/>
          <p:cNvSpPr/>
          <p:nvPr/>
        </p:nvSpPr>
        <p:spPr>
          <a:xfrm>
            <a:off x="932688" y="2194560"/>
            <a:ext cx="1188722" cy="320042"/>
          </a:xfrm>
          <a:prstGeom prst="rect">
            <a:avLst/>
          </a:prstGeom>
          <a:solidFill>
            <a:srgbClr val="E8EF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4" name="TextBox 9"/>
          <p:cNvSpPr txBox="1"/>
          <p:nvPr/>
        </p:nvSpPr>
        <p:spPr>
          <a:xfrm>
            <a:off x="932688" y="2221992"/>
            <a:ext cx="118872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 b="1">
                <a:solidFill>
                  <a:srgbClr val="1E2761"/>
                </a:solidFill>
              </a:defRPr>
            </a:lvl1pPr>
          </a:lstStyle>
          <a:p>
            <a:r>
              <a:t>STK002 / 003</a:t>
            </a:r>
          </a:p>
        </p:txBody>
      </p:sp>
      <p:sp>
        <p:nvSpPr>
          <p:cNvPr id="215" name="TextBox 10"/>
          <p:cNvSpPr txBox="1"/>
          <p:nvPr/>
        </p:nvSpPr>
        <p:spPr>
          <a:xfrm>
            <a:off x="932687" y="2651760"/>
            <a:ext cx="3063243" cy="24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5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전방 차량 인식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&amp; </a:t>
            </a:r>
            <a:r>
              <a:t>거리 측정</a:t>
            </a:r>
          </a:p>
        </p:txBody>
      </p:sp>
      <p:sp>
        <p:nvSpPr>
          <p:cNvPr id="216" name="TextBox 11"/>
          <p:cNvSpPr txBox="1"/>
          <p:nvPr/>
        </p:nvSpPr>
        <p:spPr>
          <a:xfrm>
            <a:off x="932687" y="3154678"/>
            <a:ext cx="3063243" cy="481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카메라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(RPi)</a:t>
            </a:r>
            <a:r>
              <a:t>로 전방 차량 인식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,</a:t>
            </a:r>
          </a:p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</a:defRPr>
            </a:pPr>
            <a:r>
              <a:t>LiDAR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로 차간거리 실시간 측정</a:t>
            </a:r>
          </a:p>
        </p:txBody>
      </p:sp>
      <p:sp>
        <p:nvSpPr>
          <p:cNvPr id="217" name="Rectangle 12"/>
          <p:cNvSpPr/>
          <p:nvPr/>
        </p:nvSpPr>
        <p:spPr>
          <a:xfrm>
            <a:off x="4498847" y="1920239"/>
            <a:ext cx="3611882" cy="2148841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8" name="Rectangle 13"/>
          <p:cNvSpPr/>
          <p:nvPr/>
        </p:nvSpPr>
        <p:spPr>
          <a:xfrm>
            <a:off x="4498847" y="1920238"/>
            <a:ext cx="3611882" cy="73154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9" name="Rectangle 14"/>
          <p:cNvSpPr/>
          <p:nvPr/>
        </p:nvSpPr>
        <p:spPr>
          <a:xfrm>
            <a:off x="4773167" y="2194560"/>
            <a:ext cx="1188722" cy="320042"/>
          </a:xfrm>
          <a:prstGeom prst="rect">
            <a:avLst/>
          </a:prstGeom>
          <a:solidFill>
            <a:srgbClr val="E8EF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0" name="TextBox 15"/>
          <p:cNvSpPr txBox="1"/>
          <p:nvPr/>
        </p:nvSpPr>
        <p:spPr>
          <a:xfrm>
            <a:off x="4773167" y="2221992"/>
            <a:ext cx="118872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 b="1">
                <a:solidFill>
                  <a:srgbClr val="1E2761"/>
                </a:solidFill>
              </a:defRPr>
            </a:lvl1pPr>
          </a:lstStyle>
          <a:p>
            <a:r>
              <a:t>STK004 / 005</a:t>
            </a:r>
          </a:p>
        </p:txBody>
      </p:sp>
      <p:sp>
        <p:nvSpPr>
          <p:cNvPr id="221" name="TextBox 16"/>
          <p:cNvSpPr txBox="1"/>
          <p:nvPr/>
        </p:nvSpPr>
        <p:spPr>
          <a:xfrm>
            <a:off x="4773167" y="2651760"/>
            <a:ext cx="3063242" cy="24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5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속도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&amp; </a:t>
            </a:r>
            <a:r>
              <a:t>차간거리 제어</a:t>
            </a:r>
          </a:p>
        </p:txBody>
      </p:sp>
      <p:sp>
        <p:nvSpPr>
          <p:cNvPr id="222" name="TextBox 17"/>
          <p:cNvSpPr txBox="1"/>
          <p:nvPr/>
        </p:nvSpPr>
        <p:spPr>
          <a:xfrm>
            <a:off x="4773167" y="3154678"/>
            <a:ext cx="3063242" cy="481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설정 최고속도 유지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, </a:t>
            </a:r>
            <a:r>
              <a:t>전방 차량과의</a:t>
            </a:r>
          </a:p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안전거리 유지하는 추종 제어</a:t>
            </a:r>
          </a:p>
        </p:txBody>
      </p:sp>
      <p:sp>
        <p:nvSpPr>
          <p:cNvPr id="223" name="Rectangle 18"/>
          <p:cNvSpPr/>
          <p:nvPr/>
        </p:nvSpPr>
        <p:spPr>
          <a:xfrm>
            <a:off x="8339328" y="1920239"/>
            <a:ext cx="3611882" cy="2148841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4" name="Rectangle 19"/>
          <p:cNvSpPr/>
          <p:nvPr/>
        </p:nvSpPr>
        <p:spPr>
          <a:xfrm>
            <a:off x="8339328" y="1920238"/>
            <a:ext cx="3611882" cy="73154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5" name="Rectangle 20"/>
          <p:cNvSpPr/>
          <p:nvPr/>
        </p:nvSpPr>
        <p:spPr>
          <a:xfrm>
            <a:off x="8613647" y="2194560"/>
            <a:ext cx="1188722" cy="320042"/>
          </a:xfrm>
          <a:prstGeom prst="rect">
            <a:avLst/>
          </a:prstGeom>
          <a:solidFill>
            <a:srgbClr val="E8EF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6" name="TextBox 21"/>
          <p:cNvSpPr txBox="1"/>
          <p:nvPr/>
        </p:nvSpPr>
        <p:spPr>
          <a:xfrm>
            <a:off x="8613647" y="2221992"/>
            <a:ext cx="118872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 b="1">
                <a:solidFill>
                  <a:srgbClr val="1E2761"/>
                </a:solidFill>
              </a:defRPr>
            </a:lvl1pPr>
          </a:lstStyle>
          <a:p>
            <a:r>
              <a:t>STK006</a:t>
            </a:r>
          </a:p>
        </p:txBody>
      </p:sp>
      <p:sp>
        <p:nvSpPr>
          <p:cNvPr id="227" name="TextBox 22"/>
          <p:cNvSpPr txBox="1"/>
          <p:nvPr/>
        </p:nvSpPr>
        <p:spPr>
          <a:xfrm>
            <a:off x="8613647" y="2651760"/>
            <a:ext cx="3063242" cy="24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5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안전거리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3</a:t>
            </a:r>
            <a:r>
              <a:t>단계</a:t>
            </a:r>
          </a:p>
        </p:txBody>
      </p:sp>
      <p:sp>
        <p:nvSpPr>
          <p:cNvPr id="228" name="TextBox 23"/>
          <p:cNvSpPr txBox="1"/>
          <p:nvPr/>
        </p:nvSpPr>
        <p:spPr>
          <a:xfrm>
            <a:off x="8613647" y="3154678"/>
            <a:ext cx="3063242" cy="435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</a:defRPr>
            </a:pPr>
            <a:r>
              <a:t>Short · Medium · Long</a:t>
            </a:r>
          </a:p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시간 기반 안전거리 모델</a:t>
            </a:r>
          </a:p>
        </p:txBody>
      </p:sp>
      <p:sp>
        <p:nvSpPr>
          <p:cNvPr id="229" name="Rectangle 24"/>
          <p:cNvSpPr/>
          <p:nvPr/>
        </p:nvSpPr>
        <p:spPr>
          <a:xfrm>
            <a:off x="658368" y="4297679"/>
            <a:ext cx="3611880" cy="2148841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0" name="Rectangle 25"/>
          <p:cNvSpPr/>
          <p:nvPr/>
        </p:nvSpPr>
        <p:spPr>
          <a:xfrm>
            <a:off x="658368" y="4297679"/>
            <a:ext cx="3611880" cy="73154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1" name="Rectangle 26"/>
          <p:cNvSpPr/>
          <p:nvPr/>
        </p:nvSpPr>
        <p:spPr>
          <a:xfrm>
            <a:off x="932688" y="4571998"/>
            <a:ext cx="1188722" cy="320043"/>
          </a:xfrm>
          <a:prstGeom prst="rect">
            <a:avLst/>
          </a:prstGeom>
          <a:solidFill>
            <a:srgbClr val="E8EF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2" name="TextBox 27"/>
          <p:cNvSpPr txBox="1"/>
          <p:nvPr/>
        </p:nvSpPr>
        <p:spPr>
          <a:xfrm>
            <a:off x="932688" y="4599432"/>
            <a:ext cx="118872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 b="1">
                <a:solidFill>
                  <a:srgbClr val="1E2761"/>
                </a:solidFill>
              </a:defRPr>
            </a:lvl1pPr>
          </a:lstStyle>
          <a:p>
            <a:r>
              <a:t>STK009</a:t>
            </a:r>
          </a:p>
        </p:txBody>
      </p:sp>
      <p:sp>
        <p:nvSpPr>
          <p:cNvPr id="233" name="TextBox 28"/>
          <p:cNvSpPr txBox="1"/>
          <p:nvPr/>
        </p:nvSpPr>
        <p:spPr>
          <a:xfrm>
            <a:off x="932687" y="5029200"/>
            <a:ext cx="3063243" cy="24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500" b="1">
                <a:solidFill>
                  <a:srgbClr val="1E2761"/>
                </a:solidFill>
              </a:defRPr>
            </a:pPr>
            <a:r>
              <a:t>ACC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상태 머신</a:t>
            </a:r>
          </a:p>
        </p:txBody>
      </p:sp>
      <p:sp>
        <p:nvSpPr>
          <p:cNvPr id="234" name="TextBox 29"/>
          <p:cNvSpPr txBox="1"/>
          <p:nvPr/>
        </p:nvSpPr>
        <p:spPr>
          <a:xfrm>
            <a:off x="932687" y="5532120"/>
            <a:ext cx="3063243" cy="4359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</a:defRPr>
            </a:pPr>
            <a:r>
              <a:t>OFF · STANDBY · CRUISING ·</a:t>
            </a:r>
          </a:p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</a:defRPr>
            </a:pPr>
            <a:r>
              <a:t>FOLLOWING · FAULT 5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단계</a:t>
            </a:r>
          </a:p>
        </p:txBody>
      </p:sp>
      <p:sp>
        <p:nvSpPr>
          <p:cNvPr id="235" name="Rectangle 30"/>
          <p:cNvSpPr/>
          <p:nvPr/>
        </p:nvSpPr>
        <p:spPr>
          <a:xfrm>
            <a:off x="4498847" y="4297679"/>
            <a:ext cx="3611882" cy="2148841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6" name="Rectangle 31"/>
          <p:cNvSpPr/>
          <p:nvPr/>
        </p:nvSpPr>
        <p:spPr>
          <a:xfrm>
            <a:off x="4498847" y="4297679"/>
            <a:ext cx="3611882" cy="73154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7" name="Rectangle 32"/>
          <p:cNvSpPr/>
          <p:nvPr/>
        </p:nvSpPr>
        <p:spPr>
          <a:xfrm>
            <a:off x="4773167" y="4571998"/>
            <a:ext cx="1188722" cy="320043"/>
          </a:xfrm>
          <a:prstGeom prst="rect">
            <a:avLst/>
          </a:prstGeom>
          <a:solidFill>
            <a:srgbClr val="E8EF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8" name="TextBox 33"/>
          <p:cNvSpPr txBox="1"/>
          <p:nvPr/>
        </p:nvSpPr>
        <p:spPr>
          <a:xfrm>
            <a:off x="4773167" y="4599432"/>
            <a:ext cx="118872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 b="1">
                <a:solidFill>
                  <a:srgbClr val="1E2761"/>
                </a:solidFill>
              </a:defRPr>
            </a:lvl1pPr>
          </a:lstStyle>
          <a:p>
            <a:r>
              <a:t>STK007 / 008</a:t>
            </a:r>
          </a:p>
        </p:txBody>
      </p:sp>
      <p:sp>
        <p:nvSpPr>
          <p:cNvPr id="239" name="TextBox 34"/>
          <p:cNvSpPr txBox="1"/>
          <p:nvPr/>
        </p:nvSpPr>
        <p:spPr>
          <a:xfrm>
            <a:off x="4773167" y="5029200"/>
            <a:ext cx="3063242" cy="24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운전자 오버라이드</a:t>
            </a:r>
          </a:p>
        </p:txBody>
      </p:sp>
      <p:sp>
        <p:nvSpPr>
          <p:cNvPr id="240" name="TextBox 35"/>
          <p:cNvSpPr txBox="1"/>
          <p:nvPr/>
        </p:nvSpPr>
        <p:spPr>
          <a:xfrm>
            <a:off x="4773167" y="5532120"/>
            <a:ext cx="3063242" cy="48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브레이크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/</a:t>
            </a:r>
            <a:r>
              <a:t>액셀 입력 시</a:t>
            </a:r>
          </a:p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즉시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STANDBY </a:t>
            </a:r>
            <a:r>
              <a:t>전환</a:t>
            </a:r>
          </a:p>
        </p:txBody>
      </p:sp>
      <p:sp>
        <p:nvSpPr>
          <p:cNvPr id="241" name="Rectangle 36"/>
          <p:cNvSpPr/>
          <p:nvPr/>
        </p:nvSpPr>
        <p:spPr>
          <a:xfrm>
            <a:off x="8339328" y="4297679"/>
            <a:ext cx="3611882" cy="2148841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2" name="Rectangle 37"/>
          <p:cNvSpPr/>
          <p:nvPr/>
        </p:nvSpPr>
        <p:spPr>
          <a:xfrm>
            <a:off x="8339328" y="4297679"/>
            <a:ext cx="3611882" cy="73154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3" name="Rectangle 38"/>
          <p:cNvSpPr/>
          <p:nvPr/>
        </p:nvSpPr>
        <p:spPr>
          <a:xfrm>
            <a:off x="8613647" y="4571998"/>
            <a:ext cx="1188722" cy="320043"/>
          </a:xfrm>
          <a:prstGeom prst="rect">
            <a:avLst/>
          </a:prstGeom>
          <a:solidFill>
            <a:srgbClr val="E8EF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4" name="TextBox 39"/>
          <p:cNvSpPr txBox="1"/>
          <p:nvPr/>
        </p:nvSpPr>
        <p:spPr>
          <a:xfrm>
            <a:off x="8613647" y="4599432"/>
            <a:ext cx="118872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 b="1">
                <a:solidFill>
                  <a:srgbClr val="1E2761"/>
                </a:solidFill>
              </a:defRPr>
            </a:lvl1pPr>
          </a:lstStyle>
          <a:p>
            <a:r>
              <a:t>STK020</a:t>
            </a:r>
          </a:p>
        </p:txBody>
      </p:sp>
      <p:sp>
        <p:nvSpPr>
          <p:cNvPr id="245" name="TextBox 40"/>
          <p:cNvSpPr txBox="1"/>
          <p:nvPr/>
        </p:nvSpPr>
        <p:spPr>
          <a:xfrm>
            <a:off x="8613647" y="5029200"/>
            <a:ext cx="30632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 b="1">
                <a:solidFill>
                  <a:srgbClr val="1E2761"/>
                </a:solidFill>
              </a:defRPr>
            </a:lvl1pPr>
          </a:lstStyle>
          <a:p>
            <a:r>
              <a:t>HMI GUI (Raspberry Pi)</a:t>
            </a:r>
          </a:p>
        </p:txBody>
      </p:sp>
      <p:sp>
        <p:nvSpPr>
          <p:cNvPr id="246" name="TextBox 41"/>
          <p:cNvSpPr txBox="1"/>
          <p:nvPr/>
        </p:nvSpPr>
        <p:spPr>
          <a:xfrm>
            <a:off x="8613647" y="5532120"/>
            <a:ext cx="3063242" cy="48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상태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·</a:t>
            </a:r>
            <a:r>
              <a:t>속도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·</a:t>
            </a:r>
            <a:r>
              <a:t>거리단계 표시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,</a:t>
            </a:r>
          </a:p>
          <a:p>
            <a:pPr>
              <a:lnSpc>
                <a:spcPct val="135000"/>
              </a:lnSpc>
              <a:defRPr sz="1200">
                <a:solidFill>
                  <a:srgbClr val="1E293B"/>
                </a:solidFill>
              </a:defRPr>
            </a:pPr>
            <a:r>
              <a:t>FAULT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경고</a:t>
            </a:r>
          </a:p>
        </p:txBody>
      </p:sp>
      <p:sp>
        <p:nvSpPr>
          <p:cNvPr id="247" name="TextBox 42"/>
          <p:cNvSpPr txBox="1"/>
          <p:nvPr/>
        </p:nvSpPr>
        <p:spPr>
          <a:xfrm>
            <a:off x="457200" y="6537959"/>
            <a:ext cx="5486400" cy="14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900">
                <a:solidFill>
                  <a:srgbClr val="64748B"/>
                </a:solidFill>
              </a:defRPr>
            </a:pPr>
            <a:r>
              <a:t>SeSAC · ACC Project ·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</a:p>
        </p:txBody>
      </p:sp>
      <p:sp>
        <p:nvSpPr>
          <p:cNvPr id="248" name="TextBox 43"/>
          <p:cNvSpPr txBox="1"/>
          <p:nvPr/>
        </p:nvSpPr>
        <p:spPr>
          <a:xfrm>
            <a:off x="11338559" y="6537959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5000"/>
              </a:lnSpc>
              <a:defRPr sz="900">
                <a:solidFill>
                  <a:srgbClr val="64748B"/>
                </a:solidFill>
              </a:defRPr>
            </a:lvl1pPr>
          </a:lstStyle>
          <a:p>
            <a:r>
              <a:t>02 / 08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1" name="Rectangle 2"/>
          <p:cNvSpPr/>
          <p:nvPr/>
        </p:nvSpPr>
        <p:spPr>
          <a:xfrm>
            <a:off x="457198" y="502919"/>
            <a:ext cx="73155" cy="50292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2" name="TextBox 3"/>
          <p:cNvSpPr txBox="1"/>
          <p:nvPr/>
        </p:nvSpPr>
        <p:spPr>
          <a:xfrm>
            <a:off x="658367" y="475487"/>
            <a:ext cx="54864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</a:defRPr>
            </a:lvl1pPr>
          </a:lstStyle>
          <a:p>
            <a:r>
              <a:t>04  SYSTEM ARCHITECTURE</a:t>
            </a:r>
          </a:p>
        </p:txBody>
      </p:sp>
      <p:sp>
        <p:nvSpPr>
          <p:cNvPr id="253" name="TextBox 4"/>
          <p:cNvSpPr txBox="1"/>
          <p:nvPr/>
        </p:nvSpPr>
        <p:spPr>
          <a:xfrm>
            <a:off x="658368" y="713230"/>
            <a:ext cx="10972801" cy="45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28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하드웨어 구성</a:t>
            </a:r>
          </a:p>
        </p:txBody>
      </p:sp>
      <p:sp>
        <p:nvSpPr>
          <p:cNvPr id="254" name="TextBox 5"/>
          <p:cNvSpPr txBox="1"/>
          <p:nvPr/>
        </p:nvSpPr>
        <p:spPr>
          <a:xfrm>
            <a:off x="658368" y="1371599"/>
            <a:ext cx="109728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 i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메인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ECU + </a:t>
            </a:r>
            <a:r>
              <a:t>보조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MCU + </a:t>
            </a:r>
            <a:r>
              <a:t>호스트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— CAN </a:t>
            </a:r>
            <a:r>
              <a:t>기반 분산 아키텍처</a:t>
            </a:r>
          </a:p>
        </p:txBody>
      </p:sp>
      <p:sp>
        <p:nvSpPr>
          <p:cNvPr id="255" name="Rectangle 6"/>
          <p:cNvSpPr/>
          <p:nvPr/>
        </p:nvSpPr>
        <p:spPr>
          <a:xfrm>
            <a:off x="658366" y="1920238"/>
            <a:ext cx="5760723" cy="41148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6" name="TextBox 7"/>
          <p:cNvSpPr txBox="1"/>
          <p:nvPr/>
        </p:nvSpPr>
        <p:spPr>
          <a:xfrm>
            <a:off x="795527" y="1993392"/>
            <a:ext cx="11887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구성 요소</a:t>
            </a:r>
          </a:p>
        </p:txBody>
      </p:sp>
      <p:sp>
        <p:nvSpPr>
          <p:cNvPr id="257" name="TextBox 8"/>
          <p:cNvSpPr txBox="1"/>
          <p:nvPr/>
        </p:nvSpPr>
        <p:spPr>
          <a:xfrm>
            <a:off x="2167127" y="1993392"/>
            <a:ext cx="187451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사양</a:t>
            </a:r>
          </a:p>
        </p:txBody>
      </p:sp>
      <p:sp>
        <p:nvSpPr>
          <p:cNvPr id="258" name="TextBox 9"/>
          <p:cNvSpPr txBox="1"/>
          <p:nvPr/>
        </p:nvSpPr>
        <p:spPr>
          <a:xfrm>
            <a:off x="4224528" y="1993392"/>
            <a:ext cx="214884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역할</a:t>
            </a:r>
          </a:p>
        </p:txBody>
      </p:sp>
      <p:sp>
        <p:nvSpPr>
          <p:cNvPr id="259" name="Rectangle 10"/>
          <p:cNvSpPr/>
          <p:nvPr/>
        </p:nvSpPr>
        <p:spPr>
          <a:xfrm>
            <a:off x="658366" y="2331720"/>
            <a:ext cx="5760723" cy="411482"/>
          </a:xfrm>
          <a:prstGeom prst="rect">
            <a:avLst/>
          </a:prstGeom>
          <a:solidFill>
            <a:srgbClr val="E8EFFD"/>
          </a:solidFill>
          <a:ln w="6350"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0" name="TextBox 11"/>
          <p:cNvSpPr txBox="1"/>
          <p:nvPr/>
        </p:nvSpPr>
        <p:spPr>
          <a:xfrm>
            <a:off x="795527" y="2414016"/>
            <a:ext cx="118872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메인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ECU</a:t>
            </a:r>
          </a:p>
        </p:txBody>
      </p:sp>
      <p:sp>
        <p:nvSpPr>
          <p:cNvPr id="261" name="TextBox 12"/>
          <p:cNvSpPr txBox="1"/>
          <p:nvPr/>
        </p:nvSpPr>
        <p:spPr>
          <a:xfrm>
            <a:off x="2167127" y="2414016"/>
            <a:ext cx="187451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1E293B"/>
                </a:solidFill>
              </a:defRPr>
            </a:lvl1pPr>
          </a:lstStyle>
          <a:p>
            <a:r>
              <a:t>NXP TRK-MPC5606B</a:t>
            </a:r>
          </a:p>
        </p:txBody>
      </p:sp>
      <p:sp>
        <p:nvSpPr>
          <p:cNvPr id="262" name="TextBox 13"/>
          <p:cNvSpPr txBox="1"/>
          <p:nvPr/>
        </p:nvSpPr>
        <p:spPr>
          <a:xfrm>
            <a:off x="4224528" y="2414016"/>
            <a:ext cx="214884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1E293B"/>
                </a:solidFill>
              </a:defRPr>
            </a:pPr>
            <a:r>
              <a:t>ACC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제어 </a:t>
            </a:r>
            <a:r>
              <a:t>(AUTOSAR)</a:t>
            </a:r>
          </a:p>
        </p:txBody>
      </p:sp>
      <p:sp>
        <p:nvSpPr>
          <p:cNvPr id="263" name="Rectangle 14"/>
          <p:cNvSpPr/>
          <p:nvPr/>
        </p:nvSpPr>
        <p:spPr>
          <a:xfrm>
            <a:off x="658366" y="2743199"/>
            <a:ext cx="5760723" cy="41148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4" name="TextBox 15"/>
          <p:cNvSpPr txBox="1"/>
          <p:nvPr/>
        </p:nvSpPr>
        <p:spPr>
          <a:xfrm>
            <a:off x="795527" y="2825494"/>
            <a:ext cx="1188721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보조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MCU</a:t>
            </a:r>
          </a:p>
        </p:txBody>
      </p:sp>
      <p:sp>
        <p:nvSpPr>
          <p:cNvPr id="265" name="TextBox 16"/>
          <p:cNvSpPr txBox="1"/>
          <p:nvPr/>
        </p:nvSpPr>
        <p:spPr>
          <a:xfrm>
            <a:off x="2167127" y="2825494"/>
            <a:ext cx="1874518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1E293B"/>
                </a:solidFill>
              </a:defRPr>
            </a:lvl1pPr>
          </a:lstStyle>
          <a:p>
            <a:r>
              <a:t>Arduino</a:t>
            </a:r>
          </a:p>
        </p:txBody>
      </p:sp>
      <p:sp>
        <p:nvSpPr>
          <p:cNvPr id="266" name="TextBox 17"/>
          <p:cNvSpPr txBox="1"/>
          <p:nvPr/>
        </p:nvSpPr>
        <p:spPr>
          <a:xfrm>
            <a:off x="4224528" y="2825494"/>
            <a:ext cx="2148841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모터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/</a:t>
            </a:r>
            <a:r>
              <a:t>센서, Fusion 처리</a:t>
            </a:r>
          </a:p>
        </p:txBody>
      </p:sp>
      <p:sp>
        <p:nvSpPr>
          <p:cNvPr id="267" name="Rectangle 18"/>
          <p:cNvSpPr/>
          <p:nvPr/>
        </p:nvSpPr>
        <p:spPr>
          <a:xfrm>
            <a:off x="658366" y="3154678"/>
            <a:ext cx="5760723" cy="411482"/>
          </a:xfrm>
          <a:prstGeom prst="rect">
            <a:avLst/>
          </a:prstGeom>
          <a:solidFill>
            <a:srgbClr val="E8EFFD"/>
          </a:solidFill>
          <a:ln w="6350"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8" name="TextBox 19"/>
          <p:cNvSpPr txBox="1"/>
          <p:nvPr/>
        </p:nvSpPr>
        <p:spPr>
          <a:xfrm>
            <a:off x="795527" y="3236976"/>
            <a:ext cx="11887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호스트</a:t>
            </a:r>
          </a:p>
        </p:txBody>
      </p:sp>
      <p:sp>
        <p:nvSpPr>
          <p:cNvPr id="269" name="TextBox 20"/>
          <p:cNvSpPr txBox="1"/>
          <p:nvPr/>
        </p:nvSpPr>
        <p:spPr>
          <a:xfrm>
            <a:off x="2167127" y="3236976"/>
            <a:ext cx="187451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1E293B"/>
                </a:solidFill>
              </a:defRPr>
            </a:lvl1pPr>
          </a:lstStyle>
          <a:p>
            <a:r>
              <a:t>Raspberry Pi 5</a:t>
            </a:r>
          </a:p>
        </p:txBody>
      </p:sp>
      <p:sp>
        <p:nvSpPr>
          <p:cNvPr id="270" name="TextBox 21"/>
          <p:cNvSpPr txBox="1"/>
          <p:nvPr/>
        </p:nvSpPr>
        <p:spPr>
          <a:xfrm>
            <a:off x="4224528" y="3236976"/>
            <a:ext cx="21488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1E293B"/>
                </a:solidFill>
              </a:defRPr>
            </a:pPr>
            <a:r>
              <a:t>HMI GUI,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카메라</a:t>
            </a:r>
          </a:p>
        </p:txBody>
      </p:sp>
      <p:sp>
        <p:nvSpPr>
          <p:cNvPr id="271" name="Rectangle 22"/>
          <p:cNvSpPr/>
          <p:nvPr/>
        </p:nvSpPr>
        <p:spPr>
          <a:xfrm>
            <a:off x="658366" y="3566159"/>
            <a:ext cx="5760723" cy="41148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2" name="TextBox 23"/>
          <p:cNvSpPr txBox="1"/>
          <p:nvPr/>
        </p:nvSpPr>
        <p:spPr>
          <a:xfrm>
            <a:off x="795527" y="3648454"/>
            <a:ext cx="1188721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거리 센서</a:t>
            </a:r>
          </a:p>
        </p:txBody>
      </p:sp>
      <p:sp>
        <p:nvSpPr>
          <p:cNvPr id="273" name="TextBox 24"/>
          <p:cNvSpPr txBox="1"/>
          <p:nvPr/>
        </p:nvSpPr>
        <p:spPr>
          <a:xfrm>
            <a:off x="2167127" y="3648454"/>
            <a:ext cx="1874518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1E293B"/>
                </a:solidFill>
              </a:defRPr>
            </a:lvl1pPr>
          </a:lstStyle>
          <a:p>
            <a:r>
              <a:t>LiDAR</a:t>
            </a:r>
          </a:p>
        </p:txBody>
      </p:sp>
      <p:sp>
        <p:nvSpPr>
          <p:cNvPr id="274" name="TextBox 25"/>
          <p:cNvSpPr txBox="1"/>
          <p:nvPr/>
        </p:nvSpPr>
        <p:spPr>
          <a:xfrm>
            <a:off x="4224528" y="3648454"/>
            <a:ext cx="2148841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전방 차간거리</a:t>
            </a:r>
          </a:p>
        </p:txBody>
      </p:sp>
      <p:sp>
        <p:nvSpPr>
          <p:cNvPr id="275" name="Rectangle 26"/>
          <p:cNvSpPr/>
          <p:nvPr/>
        </p:nvSpPr>
        <p:spPr>
          <a:xfrm>
            <a:off x="658366" y="3977640"/>
            <a:ext cx="5760723" cy="411482"/>
          </a:xfrm>
          <a:prstGeom prst="rect">
            <a:avLst/>
          </a:prstGeom>
          <a:solidFill>
            <a:srgbClr val="E8EFFD"/>
          </a:solidFill>
          <a:ln w="6350"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6" name="TextBox 27"/>
          <p:cNvSpPr txBox="1"/>
          <p:nvPr/>
        </p:nvSpPr>
        <p:spPr>
          <a:xfrm>
            <a:off x="795527" y="4059935"/>
            <a:ext cx="11887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카메라</a:t>
            </a:r>
          </a:p>
        </p:txBody>
      </p:sp>
      <p:sp>
        <p:nvSpPr>
          <p:cNvPr id="277" name="TextBox 28"/>
          <p:cNvSpPr txBox="1"/>
          <p:nvPr/>
        </p:nvSpPr>
        <p:spPr>
          <a:xfrm>
            <a:off x="2167127" y="4059935"/>
            <a:ext cx="187451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1E293B"/>
                </a:solidFill>
              </a:defRPr>
            </a:lvl1pPr>
          </a:lstStyle>
          <a:p>
            <a:r>
              <a:t>RPi Camera</a:t>
            </a:r>
          </a:p>
        </p:txBody>
      </p:sp>
      <p:sp>
        <p:nvSpPr>
          <p:cNvPr id="278" name="TextBox 29"/>
          <p:cNvSpPr txBox="1"/>
          <p:nvPr/>
        </p:nvSpPr>
        <p:spPr>
          <a:xfrm>
            <a:off x="4224528" y="4059935"/>
            <a:ext cx="214884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전방 차량 인식</a:t>
            </a:r>
          </a:p>
        </p:txBody>
      </p:sp>
      <p:sp>
        <p:nvSpPr>
          <p:cNvPr id="279" name="Rectangle 30"/>
          <p:cNvSpPr/>
          <p:nvPr/>
        </p:nvSpPr>
        <p:spPr>
          <a:xfrm>
            <a:off x="658366" y="4389120"/>
            <a:ext cx="5760723" cy="41148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0" name="TextBox 31"/>
          <p:cNvSpPr txBox="1"/>
          <p:nvPr/>
        </p:nvSpPr>
        <p:spPr>
          <a:xfrm>
            <a:off x="795527" y="4471415"/>
            <a:ext cx="118872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통신 버스</a:t>
            </a:r>
          </a:p>
        </p:txBody>
      </p:sp>
      <p:sp>
        <p:nvSpPr>
          <p:cNvPr id="281" name="TextBox 32"/>
          <p:cNvSpPr txBox="1"/>
          <p:nvPr/>
        </p:nvSpPr>
        <p:spPr>
          <a:xfrm>
            <a:off x="2167127" y="4471415"/>
            <a:ext cx="187451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1E293B"/>
                </a:solidFill>
              </a:defRPr>
            </a:lvl1pPr>
          </a:lstStyle>
          <a:p>
            <a:r>
              <a:t>CAN</a:t>
            </a:r>
          </a:p>
        </p:txBody>
      </p:sp>
      <p:sp>
        <p:nvSpPr>
          <p:cNvPr id="282" name="TextBox 33"/>
          <p:cNvSpPr txBox="1"/>
          <p:nvPr/>
        </p:nvSpPr>
        <p:spPr>
          <a:xfrm>
            <a:off x="4224528" y="4471415"/>
            <a:ext cx="214884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1E293B"/>
                </a:solidFill>
              </a:defRPr>
            </a:pPr>
            <a:r>
              <a:t>ECU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간 메시지</a:t>
            </a:r>
          </a:p>
        </p:txBody>
      </p:sp>
      <p:sp>
        <p:nvSpPr>
          <p:cNvPr id="283" name="Rectangle 34"/>
          <p:cNvSpPr/>
          <p:nvPr/>
        </p:nvSpPr>
        <p:spPr>
          <a:xfrm>
            <a:off x="6537959" y="1920239"/>
            <a:ext cx="5074922" cy="4251961"/>
          </a:xfrm>
          <a:prstGeom prst="rect">
            <a:avLst/>
          </a:prstGeom>
          <a:solidFill>
            <a:srgbClr val="E8EFFD"/>
          </a:solidFill>
          <a:ln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4" name="TextBox 35"/>
          <p:cNvSpPr txBox="1"/>
          <p:nvPr/>
        </p:nvSpPr>
        <p:spPr>
          <a:xfrm>
            <a:off x="6812280" y="2103120"/>
            <a:ext cx="45262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</a:defRPr>
            </a:lvl1pPr>
          </a:lstStyle>
          <a:p>
            <a:r>
              <a:t>ARCHITECTURE DIAGRAM</a:t>
            </a:r>
          </a:p>
        </p:txBody>
      </p:sp>
      <p:sp>
        <p:nvSpPr>
          <p:cNvPr id="285" name="Rectangle 36"/>
          <p:cNvSpPr/>
          <p:nvPr/>
        </p:nvSpPr>
        <p:spPr>
          <a:xfrm>
            <a:off x="8046718" y="2606038"/>
            <a:ext cx="2011680" cy="64008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6" name="TextBox 37"/>
          <p:cNvSpPr txBox="1"/>
          <p:nvPr/>
        </p:nvSpPr>
        <p:spPr>
          <a:xfrm>
            <a:off x="8046718" y="2670048"/>
            <a:ext cx="201168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200" b="1">
                <a:solidFill>
                  <a:srgbClr val="FFFFFF"/>
                </a:solidFill>
              </a:defRPr>
            </a:lvl1pPr>
          </a:lstStyle>
          <a:p>
            <a:r>
              <a:t>Raspberry Pi 5</a:t>
            </a:r>
          </a:p>
        </p:txBody>
      </p:sp>
      <p:sp>
        <p:nvSpPr>
          <p:cNvPr id="287" name="TextBox 38"/>
          <p:cNvSpPr txBox="1"/>
          <p:nvPr/>
        </p:nvSpPr>
        <p:spPr>
          <a:xfrm>
            <a:off x="8046718" y="2935222"/>
            <a:ext cx="20116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>
                <a:solidFill>
                  <a:srgbClr val="CADCFC"/>
                </a:solidFill>
              </a:defRPr>
            </a:lvl1pPr>
          </a:lstStyle>
          <a:p>
            <a:r>
              <a:t>HMI · Camera</a:t>
            </a:r>
          </a:p>
        </p:txBody>
      </p:sp>
      <p:sp>
        <p:nvSpPr>
          <p:cNvPr id="288" name="Rectangle 39"/>
          <p:cNvSpPr/>
          <p:nvPr/>
        </p:nvSpPr>
        <p:spPr>
          <a:xfrm>
            <a:off x="6858000" y="3703320"/>
            <a:ext cx="2011679" cy="822962"/>
          </a:xfrm>
          <a:prstGeom prst="rect">
            <a:avLst/>
          </a:prstGeom>
          <a:solidFill>
            <a:srgbClr val="141B4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9" name="TextBox 40"/>
          <p:cNvSpPr txBox="1"/>
          <p:nvPr/>
        </p:nvSpPr>
        <p:spPr>
          <a:xfrm>
            <a:off x="6858000" y="3794759"/>
            <a:ext cx="201167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200" b="1">
                <a:solidFill>
                  <a:srgbClr val="FFFFFF"/>
                </a:solidFill>
              </a:defRPr>
            </a:lvl1pPr>
          </a:lstStyle>
          <a:p>
            <a:r>
              <a:t>MPC5606B</a:t>
            </a:r>
          </a:p>
        </p:txBody>
      </p:sp>
      <p:sp>
        <p:nvSpPr>
          <p:cNvPr id="290" name="TextBox 41"/>
          <p:cNvSpPr txBox="1"/>
          <p:nvPr/>
        </p:nvSpPr>
        <p:spPr>
          <a:xfrm>
            <a:off x="6858000" y="4087367"/>
            <a:ext cx="2011679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>
                <a:solidFill>
                  <a:srgbClr val="CADCFC"/>
                </a:solidFill>
              </a:defRPr>
            </a:lvl1pPr>
          </a:lstStyle>
          <a:p>
            <a:r>
              <a:t>AUTOSAR ACC</a:t>
            </a:r>
          </a:p>
        </p:txBody>
      </p:sp>
      <p:sp>
        <p:nvSpPr>
          <p:cNvPr id="291" name="TextBox 42"/>
          <p:cNvSpPr txBox="1"/>
          <p:nvPr/>
        </p:nvSpPr>
        <p:spPr>
          <a:xfrm>
            <a:off x="6858000" y="4297679"/>
            <a:ext cx="2011679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>
                <a:solidFill>
                  <a:srgbClr val="CADCF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제어 로직</a:t>
            </a:r>
          </a:p>
        </p:txBody>
      </p:sp>
      <p:sp>
        <p:nvSpPr>
          <p:cNvPr id="292" name="Rectangle 43"/>
          <p:cNvSpPr/>
          <p:nvPr/>
        </p:nvSpPr>
        <p:spPr>
          <a:xfrm>
            <a:off x="9235440" y="3703320"/>
            <a:ext cx="2011680" cy="82296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3" name="TextBox 44"/>
          <p:cNvSpPr txBox="1"/>
          <p:nvPr/>
        </p:nvSpPr>
        <p:spPr>
          <a:xfrm>
            <a:off x="9235440" y="3794759"/>
            <a:ext cx="201168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200" b="1">
                <a:solidFill>
                  <a:srgbClr val="FFFFFF"/>
                </a:solidFill>
              </a:defRPr>
            </a:lvl1pPr>
          </a:lstStyle>
          <a:p>
            <a:r>
              <a:t>Arduino</a:t>
            </a:r>
          </a:p>
        </p:txBody>
      </p:sp>
      <p:sp>
        <p:nvSpPr>
          <p:cNvPr id="294" name="TextBox 45"/>
          <p:cNvSpPr txBox="1"/>
          <p:nvPr/>
        </p:nvSpPr>
        <p:spPr>
          <a:xfrm>
            <a:off x="9235440" y="4087367"/>
            <a:ext cx="20116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>
                <a:solidFill>
                  <a:srgbClr val="CADCFC"/>
                </a:solidFill>
              </a:defRPr>
            </a:lvl1pPr>
          </a:lstStyle>
          <a:p>
            <a:r>
              <a:t>Motor / Sensor</a:t>
            </a:r>
          </a:p>
        </p:txBody>
      </p:sp>
      <p:sp>
        <p:nvSpPr>
          <p:cNvPr id="295" name="TextBox 46"/>
          <p:cNvSpPr txBox="1"/>
          <p:nvPr/>
        </p:nvSpPr>
        <p:spPr>
          <a:xfrm>
            <a:off x="9235440" y="4297679"/>
            <a:ext cx="20116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>
                <a:solidFill>
                  <a:srgbClr val="CADCFC"/>
                </a:solidFill>
              </a:defRPr>
            </a:lvl1pPr>
          </a:lstStyle>
          <a:p>
            <a:r>
              <a:t>I/O Bridge</a:t>
            </a:r>
          </a:p>
        </p:txBody>
      </p:sp>
      <p:sp>
        <p:nvSpPr>
          <p:cNvPr id="296" name="Rectangle 47"/>
          <p:cNvSpPr/>
          <p:nvPr/>
        </p:nvSpPr>
        <p:spPr>
          <a:xfrm>
            <a:off x="6857999" y="4800598"/>
            <a:ext cx="4389123" cy="320043"/>
          </a:xfrm>
          <a:prstGeom prst="rect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7" name="TextBox 48"/>
          <p:cNvSpPr txBox="1"/>
          <p:nvPr/>
        </p:nvSpPr>
        <p:spPr>
          <a:xfrm>
            <a:off x="6857999" y="4828032"/>
            <a:ext cx="438912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200" b="1">
                <a:solidFill>
                  <a:srgbClr val="FFFFFF"/>
                </a:solidFill>
              </a:defRPr>
            </a:lvl1pPr>
          </a:lstStyle>
          <a:p>
            <a:r>
              <a:t>CAN BUS</a:t>
            </a:r>
          </a:p>
        </p:txBody>
      </p:sp>
      <p:sp>
        <p:nvSpPr>
          <p:cNvPr id="298" name="Rectangle 49"/>
          <p:cNvSpPr/>
          <p:nvPr/>
        </p:nvSpPr>
        <p:spPr>
          <a:xfrm>
            <a:off x="6903718" y="5349240"/>
            <a:ext cx="1325882" cy="685802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9" name="TextBox 50"/>
          <p:cNvSpPr txBox="1"/>
          <p:nvPr/>
        </p:nvSpPr>
        <p:spPr>
          <a:xfrm>
            <a:off x="6903718" y="5440679"/>
            <a:ext cx="13258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 b="1">
                <a:solidFill>
                  <a:srgbClr val="1E2761"/>
                </a:solidFill>
              </a:defRPr>
            </a:lvl1pPr>
          </a:lstStyle>
          <a:p>
            <a:r>
              <a:t>LiDAR</a:t>
            </a:r>
          </a:p>
        </p:txBody>
      </p:sp>
      <p:sp>
        <p:nvSpPr>
          <p:cNvPr id="300" name="TextBox 51"/>
          <p:cNvSpPr txBox="1"/>
          <p:nvPr/>
        </p:nvSpPr>
        <p:spPr>
          <a:xfrm>
            <a:off x="6903718" y="5715000"/>
            <a:ext cx="1325882" cy="14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9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거리 측정</a:t>
            </a:r>
          </a:p>
        </p:txBody>
      </p:sp>
      <p:sp>
        <p:nvSpPr>
          <p:cNvPr id="301" name="Rectangle 52"/>
          <p:cNvSpPr/>
          <p:nvPr/>
        </p:nvSpPr>
        <p:spPr>
          <a:xfrm>
            <a:off x="8412480" y="5349240"/>
            <a:ext cx="1325882" cy="685802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2" name="TextBox 53"/>
          <p:cNvSpPr txBox="1"/>
          <p:nvPr/>
        </p:nvSpPr>
        <p:spPr>
          <a:xfrm>
            <a:off x="8412480" y="5440679"/>
            <a:ext cx="13258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 b="1">
                <a:solidFill>
                  <a:srgbClr val="1E2761"/>
                </a:solidFill>
              </a:defRPr>
            </a:lvl1pPr>
          </a:lstStyle>
          <a:p>
            <a:r>
              <a:t>Camera</a:t>
            </a:r>
          </a:p>
        </p:txBody>
      </p:sp>
      <p:sp>
        <p:nvSpPr>
          <p:cNvPr id="303" name="TextBox 54"/>
          <p:cNvSpPr txBox="1"/>
          <p:nvPr/>
        </p:nvSpPr>
        <p:spPr>
          <a:xfrm>
            <a:off x="8412480" y="5715000"/>
            <a:ext cx="1325882" cy="14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9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차량 인식</a:t>
            </a:r>
          </a:p>
        </p:txBody>
      </p:sp>
      <p:sp>
        <p:nvSpPr>
          <p:cNvPr id="304" name="Rectangle 55"/>
          <p:cNvSpPr/>
          <p:nvPr/>
        </p:nvSpPr>
        <p:spPr>
          <a:xfrm>
            <a:off x="9921240" y="5349240"/>
            <a:ext cx="1325882" cy="685802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5" name="TextBox 56"/>
          <p:cNvSpPr txBox="1"/>
          <p:nvPr/>
        </p:nvSpPr>
        <p:spPr>
          <a:xfrm>
            <a:off x="9921240" y="5440679"/>
            <a:ext cx="13258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 b="1">
                <a:solidFill>
                  <a:srgbClr val="1E2761"/>
                </a:solidFill>
              </a:defRPr>
            </a:lvl1pPr>
          </a:lstStyle>
          <a:p>
            <a:r>
              <a:t>Motor</a:t>
            </a:r>
          </a:p>
        </p:txBody>
      </p:sp>
      <p:sp>
        <p:nvSpPr>
          <p:cNvPr id="306" name="TextBox 57"/>
          <p:cNvSpPr txBox="1"/>
          <p:nvPr/>
        </p:nvSpPr>
        <p:spPr>
          <a:xfrm>
            <a:off x="9921240" y="5715000"/>
            <a:ext cx="1325882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9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구동</a:t>
            </a:r>
          </a:p>
        </p:txBody>
      </p:sp>
      <p:sp>
        <p:nvSpPr>
          <p:cNvPr id="307" name="TextBox 58"/>
          <p:cNvSpPr txBox="1"/>
          <p:nvPr/>
        </p:nvSpPr>
        <p:spPr>
          <a:xfrm>
            <a:off x="457200" y="6537959"/>
            <a:ext cx="5486400" cy="14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900">
                <a:solidFill>
                  <a:srgbClr val="64748B"/>
                </a:solidFill>
              </a:defRPr>
            </a:pPr>
            <a:r>
              <a:t>SeSAC · ACC Project ·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</a:p>
        </p:txBody>
      </p:sp>
      <p:sp>
        <p:nvSpPr>
          <p:cNvPr id="308" name="TextBox 59"/>
          <p:cNvSpPr txBox="1"/>
          <p:nvPr/>
        </p:nvSpPr>
        <p:spPr>
          <a:xfrm>
            <a:off x="11338559" y="6537959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5000"/>
              </a:lnSpc>
              <a:defRPr sz="900">
                <a:solidFill>
                  <a:srgbClr val="64748B"/>
                </a:solidFill>
              </a:defRPr>
            </a:lvl1pPr>
          </a:lstStyle>
          <a:p>
            <a:r>
              <a:t>03 / 08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roup"/>
          <p:cNvGrpSpPr/>
          <p:nvPr/>
        </p:nvGrpSpPr>
        <p:grpSpPr>
          <a:xfrm>
            <a:off x="731519" y="1707881"/>
            <a:ext cx="2926082" cy="3001280"/>
            <a:chOff x="0" y="0"/>
            <a:chExt cx="2926080" cy="3001278"/>
          </a:xfrm>
        </p:grpSpPr>
        <p:sp>
          <p:nvSpPr>
            <p:cNvPr id="310" name="Shape 5"/>
            <p:cNvSpPr/>
            <p:nvPr/>
          </p:nvSpPr>
          <p:spPr>
            <a:xfrm>
              <a:off x="0" y="0"/>
              <a:ext cx="2926081" cy="3001279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BCC4DB"/>
              </a:solidFill>
              <a:prstDash val="solid"/>
              <a:round/>
            </a:ln>
            <a:effectLst>
              <a:outerShdw blurRad="101600" dist="25400" dir="8100000" rotWithShape="0">
                <a:srgbClr val="000000">
                  <a:alpha val="10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/>
              <a:endParaRPr/>
            </a:p>
          </p:txBody>
        </p:sp>
        <p:sp>
          <p:nvSpPr>
            <p:cNvPr id="311" name="Shape 6"/>
            <p:cNvSpPr/>
            <p:nvPr/>
          </p:nvSpPr>
          <p:spPr>
            <a:xfrm>
              <a:off x="0" y="0"/>
              <a:ext cx="2926081" cy="94778"/>
            </a:xfrm>
            <a:prstGeom prst="rect">
              <a:avLst/>
            </a:prstGeom>
            <a:solidFill>
              <a:srgbClr val="E87722"/>
            </a:solidFill>
            <a:ln w="12700" cap="flat">
              <a:solidFill>
                <a:srgbClr val="E8772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/>
              <a:endParaRPr/>
            </a:p>
          </p:txBody>
        </p:sp>
        <p:sp>
          <p:nvSpPr>
            <p:cNvPr id="312" name="Text 7"/>
            <p:cNvSpPr txBox="1"/>
            <p:nvPr/>
          </p:nvSpPr>
          <p:spPr>
            <a:xfrm>
              <a:off x="137160" y="229545"/>
              <a:ext cx="2651761" cy="1806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914400">
                <a:defRPr sz="1600" b="1">
                  <a:solidFill>
                    <a:srgbClr val="1E2761"/>
                  </a:solidFill>
                </a:defRPr>
              </a:lvl1pPr>
            </a:lstStyle>
            <a:p>
              <a:r>
                <a:t>Raspberry Pi 5</a:t>
              </a:r>
            </a:p>
          </p:txBody>
        </p:sp>
        <p:sp>
          <p:nvSpPr>
            <p:cNvPr id="313" name="Text 8"/>
            <p:cNvSpPr txBox="1"/>
            <p:nvPr/>
          </p:nvSpPr>
          <p:spPr>
            <a:xfrm>
              <a:off x="137160" y="544749"/>
              <a:ext cx="2651761" cy="1426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914400">
                <a:defRPr sz="1100" i="1">
                  <a:solidFill>
                    <a:srgbClr val="6B7280"/>
                  </a:solidFill>
                </a:defRPr>
              </a:lvl1pPr>
            </a:lstStyle>
            <a:p>
              <a:r>
                <a:t>인식 · HMI 호스트</a:t>
              </a:r>
            </a:p>
          </p:txBody>
        </p:sp>
        <p:sp>
          <p:nvSpPr>
            <p:cNvPr id="314" name="Text 9"/>
            <p:cNvSpPr txBox="1"/>
            <p:nvPr/>
          </p:nvSpPr>
          <p:spPr>
            <a:xfrm>
              <a:off x="137160" y="789809"/>
              <a:ext cx="2651761" cy="924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· 카메라 → 전방 차량 인식</a:t>
              </a:r>
            </a:p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· LiDAR → 차간거리 · 상대속도</a:t>
              </a:r>
            </a:p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· Hailo-8L AI HAT+ (13 TOPS)</a:t>
              </a:r>
            </a:p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· GUI HMI (속도·단계·상태)</a:t>
              </a:r>
            </a:p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· 운전자 입력 → CAN 송신</a:t>
              </a:r>
            </a:p>
          </p:txBody>
        </p:sp>
      </p:grpSp>
      <p:grpSp>
        <p:nvGrpSpPr>
          <p:cNvPr id="321" name="Group"/>
          <p:cNvGrpSpPr/>
          <p:nvPr/>
        </p:nvGrpSpPr>
        <p:grpSpPr>
          <a:xfrm>
            <a:off x="4617720" y="1707881"/>
            <a:ext cx="2926081" cy="3001280"/>
            <a:chOff x="0" y="0"/>
            <a:chExt cx="2926080" cy="3001278"/>
          </a:xfrm>
        </p:grpSpPr>
        <p:sp>
          <p:nvSpPr>
            <p:cNvPr id="316" name="Shape 10"/>
            <p:cNvSpPr/>
            <p:nvPr/>
          </p:nvSpPr>
          <p:spPr>
            <a:xfrm>
              <a:off x="0" y="0"/>
              <a:ext cx="2926081" cy="3001279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BCC4DB"/>
              </a:solidFill>
              <a:prstDash val="solid"/>
              <a:round/>
            </a:ln>
            <a:effectLst>
              <a:outerShdw blurRad="101600" dist="25400" dir="8100000" rotWithShape="0">
                <a:srgbClr val="000000">
                  <a:alpha val="10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/>
              <a:endParaRPr/>
            </a:p>
          </p:txBody>
        </p:sp>
        <p:sp>
          <p:nvSpPr>
            <p:cNvPr id="317" name="Shape 11"/>
            <p:cNvSpPr/>
            <p:nvPr/>
          </p:nvSpPr>
          <p:spPr>
            <a:xfrm>
              <a:off x="0" y="0"/>
              <a:ext cx="2926081" cy="94778"/>
            </a:xfrm>
            <a:prstGeom prst="rect">
              <a:avLst/>
            </a:prstGeom>
            <a:solidFill>
              <a:srgbClr val="1E2761"/>
            </a:solidFill>
            <a:ln w="12700" cap="flat">
              <a:solidFill>
                <a:srgbClr val="1E276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/>
              <a:endParaRPr/>
            </a:p>
          </p:txBody>
        </p:sp>
        <p:sp>
          <p:nvSpPr>
            <p:cNvPr id="318" name="Text 12"/>
            <p:cNvSpPr txBox="1"/>
            <p:nvPr/>
          </p:nvSpPr>
          <p:spPr>
            <a:xfrm>
              <a:off x="137159" y="229545"/>
              <a:ext cx="2651761" cy="1806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914400">
                <a:defRPr sz="1600" b="1">
                  <a:solidFill>
                    <a:srgbClr val="1E2761"/>
                  </a:solidFill>
                </a:defRPr>
              </a:lvl1pPr>
            </a:lstStyle>
            <a:p>
              <a:r>
                <a:t>MPC5606B (Main ECU)</a:t>
              </a:r>
            </a:p>
          </p:txBody>
        </p:sp>
        <p:sp>
          <p:nvSpPr>
            <p:cNvPr id="319" name="Text 13"/>
            <p:cNvSpPr txBox="1"/>
            <p:nvPr/>
          </p:nvSpPr>
          <p:spPr>
            <a:xfrm>
              <a:off x="137159" y="544749"/>
              <a:ext cx="2651761" cy="1426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914400">
                <a:defRPr sz="1100" i="1">
                  <a:solidFill>
                    <a:srgbClr val="6B7280"/>
                  </a:solidFill>
                </a:defRPr>
              </a:lvl1pPr>
            </a:lstStyle>
            <a:p>
              <a:r>
                <a:t>ACC 제어 두뇌</a:t>
              </a:r>
            </a:p>
          </p:txBody>
        </p:sp>
        <p:sp>
          <p:nvSpPr>
            <p:cNvPr id="320" name="Text 14"/>
            <p:cNvSpPr txBox="1"/>
            <p:nvPr/>
          </p:nvSpPr>
          <p:spPr>
            <a:xfrm>
              <a:off x="137159" y="789809"/>
              <a:ext cx="2651761" cy="10201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· AUTOSAR Classic (mobilgene)</a:t>
              </a:r>
            </a:p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· AccStateMachine · Distance</a:t>
              </a:r>
            </a:p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  Control · CanCommunication</a:t>
              </a:r>
            </a:p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· Diagnostics · HmiManager</a:t>
              </a:r>
            </a:p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· Simulink MBD PID (Embedded</a:t>
              </a:r>
            </a:p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  Coder 자동 생성)</a:t>
              </a:r>
            </a:p>
          </p:txBody>
        </p:sp>
      </p:grpSp>
      <p:grpSp>
        <p:nvGrpSpPr>
          <p:cNvPr id="327" name="Group"/>
          <p:cNvGrpSpPr/>
          <p:nvPr/>
        </p:nvGrpSpPr>
        <p:grpSpPr>
          <a:xfrm>
            <a:off x="8503919" y="1707881"/>
            <a:ext cx="2926081" cy="3001280"/>
            <a:chOff x="0" y="0"/>
            <a:chExt cx="2926080" cy="3001278"/>
          </a:xfrm>
        </p:grpSpPr>
        <p:sp>
          <p:nvSpPr>
            <p:cNvPr id="322" name="Shape 15"/>
            <p:cNvSpPr/>
            <p:nvPr/>
          </p:nvSpPr>
          <p:spPr>
            <a:xfrm>
              <a:off x="0" y="0"/>
              <a:ext cx="2926081" cy="3001279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BCC4DB"/>
              </a:solidFill>
              <a:prstDash val="solid"/>
              <a:round/>
            </a:ln>
            <a:effectLst>
              <a:outerShdw blurRad="101600" dist="25400" dir="8100000" rotWithShape="0">
                <a:srgbClr val="000000">
                  <a:alpha val="10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/>
              <a:endParaRPr/>
            </a:p>
          </p:txBody>
        </p:sp>
        <p:sp>
          <p:nvSpPr>
            <p:cNvPr id="323" name="Shape 16"/>
            <p:cNvSpPr/>
            <p:nvPr/>
          </p:nvSpPr>
          <p:spPr>
            <a:xfrm>
              <a:off x="0" y="0"/>
              <a:ext cx="2926081" cy="94778"/>
            </a:xfrm>
            <a:prstGeom prst="rect">
              <a:avLst/>
            </a:prstGeom>
            <a:solidFill>
              <a:srgbClr val="E87722"/>
            </a:solidFill>
            <a:ln w="12700" cap="flat">
              <a:solidFill>
                <a:srgbClr val="E8772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/>
              <a:endParaRPr/>
            </a:p>
          </p:txBody>
        </p:sp>
        <p:sp>
          <p:nvSpPr>
            <p:cNvPr id="324" name="Text 17"/>
            <p:cNvSpPr txBox="1"/>
            <p:nvPr/>
          </p:nvSpPr>
          <p:spPr>
            <a:xfrm>
              <a:off x="137160" y="229545"/>
              <a:ext cx="2651761" cy="1806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914400">
                <a:defRPr sz="1600" b="1">
                  <a:solidFill>
                    <a:srgbClr val="1E2761"/>
                  </a:solidFill>
                </a:defRPr>
              </a:lvl1pPr>
            </a:lstStyle>
            <a:p>
              <a:r>
                <a:t>Arduino (Motor)</a:t>
              </a:r>
            </a:p>
          </p:txBody>
        </p:sp>
        <p:sp>
          <p:nvSpPr>
            <p:cNvPr id="325" name="Text 18"/>
            <p:cNvSpPr txBox="1"/>
            <p:nvPr/>
          </p:nvSpPr>
          <p:spPr>
            <a:xfrm>
              <a:off x="137160" y="544749"/>
              <a:ext cx="2651761" cy="1426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914400">
                <a:defRPr sz="1100" i="1">
                  <a:solidFill>
                    <a:srgbClr val="6B7280"/>
                  </a:solidFill>
                </a:defRPr>
              </a:lvl1pPr>
            </a:lstStyle>
            <a:p>
              <a:r>
                <a:t>액추에이터 인터페이스</a:t>
              </a:r>
            </a:p>
          </p:txBody>
        </p:sp>
        <p:sp>
          <p:nvSpPr>
            <p:cNvPr id="326" name="Text 19"/>
            <p:cNvSpPr txBox="1"/>
            <p:nvPr/>
          </p:nvSpPr>
          <p:spPr>
            <a:xfrm>
              <a:off x="137160" y="789809"/>
              <a:ext cx="2651761" cy="749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· PWM 4륜 모터 제어</a:t>
              </a:r>
            </a:p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· 휠 인코더 피드백 → CAN</a:t>
              </a:r>
            </a:p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· 브레이크 이중 GPIO</a:t>
              </a:r>
            </a:p>
            <a:p>
              <a:pPr defTabSz="914400">
                <a:spcBef>
                  <a:spcPts val="300"/>
                </a:spcBef>
                <a:defRPr sz="1100">
                  <a:solidFill>
                    <a:srgbClr val="0F1A3D"/>
                  </a:solidFill>
                </a:defRPr>
              </a:pPr>
              <a:r>
                <a:t>· 모터 Heartbeat</a:t>
              </a:r>
            </a:p>
          </p:txBody>
        </p:sp>
      </p:grpSp>
      <p:sp>
        <p:nvSpPr>
          <p:cNvPr id="328" name="Shape 20"/>
          <p:cNvSpPr/>
          <p:nvPr/>
        </p:nvSpPr>
        <p:spPr>
          <a:xfrm>
            <a:off x="731519" y="5074920"/>
            <a:ext cx="10698482" cy="320041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329" name="Text 21"/>
          <p:cNvSpPr txBox="1"/>
          <p:nvPr/>
        </p:nvSpPr>
        <p:spPr>
          <a:xfrm>
            <a:off x="731519" y="5156507"/>
            <a:ext cx="106984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914400">
              <a:defRPr sz="1200" b="1">
                <a:solidFill>
                  <a:srgbClr val="FFFFFF"/>
                </a:solidFill>
              </a:defRPr>
            </a:lvl1pPr>
          </a:lstStyle>
          <a:p>
            <a:r>
              <a:t>CAN BUS</a:t>
            </a:r>
          </a:p>
        </p:txBody>
      </p:sp>
      <p:sp>
        <p:nvSpPr>
          <p:cNvPr id="330" name="Shape 22"/>
          <p:cNvSpPr/>
          <p:nvPr/>
        </p:nvSpPr>
        <p:spPr>
          <a:xfrm>
            <a:off x="2194560" y="4709159"/>
            <a:ext cx="1" cy="365761"/>
          </a:xfrm>
          <a:prstGeom prst="line">
            <a:avLst/>
          </a:prstGeom>
          <a:ln w="25400">
            <a:solidFill>
              <a:srgbClr val="1E2761"/>
            </a:solidFill>
            <a:tailEnd type="triangle"/>
          </a:ln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331" name="Shape 23"/>
          <p:cNvSpPr/>
          <p:nvPr/>
        </p:nvSpPr>
        <p:spPr>
          <a:xfrm>
            <a:off x="6080759" y="4709159"/>
            <a:ext cx="1" cy="365761"/>
          </a:xfrm>
          <a:prstGeom prst="line">
            <a:avLst/>
          </a:prstGeom>
          <a:ln w="25400">
            <a:solidFill>
              <a:srgbClr val="1E2761"/>
            </a:solidFill>
            <a:tailEnd type="triangle"/>
          </a:ln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332" name="Shape 24"/>
          <p:cNvSpPr/>
          <p:nvPr/>
        </p:nvSpPr>
        <p:spPr>
          <a:xfrm>
            <a:off x="9966959" y="4709159"/>
            <a:ext cx="1" cy="365761"/>
          </a:xfrm>
          <a:prstGeom prst="line">
            <a:avLst/>
          </a:prstGeom>
          <a:ln w="25400">
            <a:solidFill>
              <a:srgbClr val="1E2761"/>
            </a:solidFill>
            <a:tailEnd type="triangle"/>
          </a:ln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333" name="Shape 25"/>
          <p:cNvSpPr/>
          <p:nvPr/>
        </p:nvSpPr>
        <p:spPr>
          <a:xfrm>
            <a:off x="731519" y="5623559"/>
            <a:ext cx="10698482" cy="777241"/>
          </a:xfrm>
          <a:prstGeom prst="rect">
            <a:avLst/>
          </a:prstGeom>
          <a:solidFill>
            <a:srgbClr val="E8EFFE"/>
          </a:solidFill>
          <a:ln w="12700">
            <a:solidFill>
              <a:srgbClr val="BCC4DB"/>
            </a:solidFill>
          </a:ln>
        </p:spPr>
        <p:txBody>
          <a:bodyPr lIns="45719" rIns="45719"/>
          <a:lstStyle/>
          <a:p>
            <a:pPr defTabSz="914400"/>
            <a:endParaRPr/>
          </a:p>
        </p:txBody>
      </p:sp>
      <p:sp>
        <p:nvSpPr>
          <p:cNvPr id="334" name="Text 26"/>
          <p:cNvSpPr txBox="1"/>
          <p:nvPr/>
        </p:nvSpPr>
        <p:spPr>
          <a:xfrm>
            <a:off x="914399" y="5934201"/>
            <a:ext cx="1033272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914400">
              <a:defRPr sz="1100" b="1">
                <a:solidFill>
                  <a:srgbClr val="1E2761"/>
                </a:solidFill>
              </a:defRPr>
            </a:pPr>
            <a:r>
              <a:t>센서  </a:t>
            </a:r>
            <a:r>
              <a:rPr b="0">
                <a:solidFill>
                  <a:srgbClr val="0F1A3D"/>
                </a:solidFill>
              </a:rPr>
              <a:t>LiDAR (거리)  ·  Camera (차량 인식)  ·  Encoder (자차 속도)      </a:t>
            </a:r>
            <a:r>
              <a:t>운전자 입력  </a:t>
            </a:r>
            <a:r>
              <a:rPr b="0">
                <a:solidFill>
                  <a:srgbClr val="0F1A3D"/>
                </a:solidFill>
              </a:rPr>
              <a:t>브레이크 · 액셀 (ACC 오버라이드)      </a:t>
            </a:r>
            <a:r>
              <a:t>HMI  </a:t>
            </a:r>
            <a:r>
              <a:rPr b="0">
                <a:solidFill>
                  <a:srgbClr val="0F1A3D"/>
                </a:solidFill>
              </a:rPr>
              <a:t>ACC ON/OFF · SET · RES · CANCEL · 단계 1/2/3 · 최고 속도</a:t>
            </a:r>
          </a:p>
        </p:txBody>
      </p:sp>
      <p:sp>
        <p:nvSpPr>
          <p:cNvPr id="335" name="Rectangle 2"/>
          <p:cNvSpPr/>
          <p:nvPr/>
        </p:nvSpPr>
        <p:spPr>
          <a:xfrm>
            <a:off x="457198" y="502919"/>
            <a:ext cx="73155" cy="50292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6" name="TextBox 3"/>
          <p:cNvSpPr txBox="1"/>
          <p:nvPr/>
        </p:nvSpPr>
        <p:spPr>
          <a:xfrm>
            <a:off x="658367" y="475487"/>
            <a:ext cx="54864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</a:defRPr>
            </a:lvl1pPr>
          </a:lstStyle>
          <a:p>
            <a:r>
              <a:t>05  SYSTEM ARCHITECTURE</a:t>
            </a:r>
          </a:p>
        </p:txBody>
      </p:sp>
      <p:sp>
        <p:nvSpPr>
          <p:cNvPr id="337" name="TextBox 4"/>
          <p:cNvSpPr txBox="1"/>
          <p:nvPr/>
        </p:nvSpPr>
        <p:spPr>
          <a:xfrm>
            <a:off x="658368" y="713230"/>
            <a:ext cx="10972801" cy="45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28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하드웨어 구성</a:t>
            </a:r>
          </a:p>
        </p:txBody>
      </p:sp>
      <p:sp>
        <p:nvSpPr>
          <p:cNvPr id="338" name="TextBox 5"/>
          <p:cNvSpPr txBox="1"/>
          <p:nvPr/>
        </p:nvSpPr>
        <p:spPr>
          <a:xfrm>
            <a:off x="658368" y="1371599"/>
            <a:ext cx="109728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 i="1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메인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ECU + </a:t>
            </a:r>
            <a:r>
              <a:t>보조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MCU + </a:t>
            </a:r>
            <a:r>
              <a:t>호스트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— CAN </a:t>
            </a:r>
            <a:r>
              <a:t>기반 분산 아키텍처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1" name="Rectangle 2"/>
          <p:cNvSpPr/>
          <p:nvPr/>
        </p:nvSpPr>
        <p:spPr>
          <a:xfrm>
            <a:off x="457198" y="502919"/>
            <a:ext cx="73155" cy="50292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2" name="TextBox 3"/>
          <p:cNvSpPr txBox="1"/>
          <p:nvPr/>
        </p:nvSpPr>
        <p:spPr>
          <a:xfrm>
            <a:off x="658367" y="475487"/>
            <a:ext cx="54864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</a:defRPr>
            </a:lvl1pPr>
          </a:lstStyle>
          <a:p>
            <a:r>
              <a:t>06  STATE MACHINE</a:t>
            </a:r>
          </a:p>
        </p:txBody>
      </p:sp>
      <p:sp>
        <p:nvSpPr>
          <p:cNvPr id="343" name="TextBox 4"/>
          <p:cNvSpPr txBox="1"/>
          <p:nvPr/>
        </p:nvSpPr>
        <p:spPr>
          <a:xfrm>
            <a:off x="658368" y="713230"/>
            <a:ext cx="10972801" cy="45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2800" b="1">
                <a:solidFill>
                  <a:srgbClr val="1E2761"/>
                </a:solidFill>
              </a:defRPr>
            </a:pPr>
            <a:r>
              <a:t>ACC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상태 머신 </a:t>
            </a:r>
            <a:r>
              <a:t>(STK009)</a:t>
            </a:r>
          </a:p>
        </p:txBody>
      </p:sp>
      <p:sp>
        <p:nvSpPr>
          <p:cNvPr id="344" name="TextBox 5"/>
          <p:cNvSpPr txBox="1"/>
          <p:nvPr/>
        </p:nvSpPr>
        <p:spPr>
          <a:xfrm>
            <a:off x="658368" y="1371599"/>
            <a:ext cx="109728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 i="1">
                <a:solidFill>
                  <a:srgbClr val="64748B"/>
                </a:solidFill>
              </a:defRPr>
            </a:pPr>
            <a:r>
              <a:t>5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개 상태 </a:t>
            </a:r>
            <a:r>
              <a:t>·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운전자 오버라이드 최우선 </a:t>
            </a:r>
            <a:r>
              <a:t>· FAULT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진입 시 능동 감속 없음</a:t>
            </a:r>
          </a:p>
        </p:txBody>
      </p:sp>
      <p:sp>
        <p:nvSpPr>
          <p:cNvPr id="345" name="Rectangle 6"/>
          <p:cNvSpPr/>
          <p:nvPr/>
        </p:nvSpPr>
        <p:spPr>
          <a:xfrm>
            <a:off x="1967445" y="1934198"/>
            <a:ext cx="1965962" cy="1371603"/>
          </a:xfrm>
          <a:prstGeom prst="rect">
            <a:avLst/>
          </a:prstGeom>
          <a:solidFill>
            <a:srgbClr val="141B4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6" name="TextBox 7"/>
          <p:cNvSpPr txBox="1"/>
          <p:nvPr/>
        </p:nvSpPr>
        <p:spPr>
          <a:xfrm>
            <a:off x="1967445" y="2071359"/>
            <a:ext cx="196596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700" b="1">
                <a:solidFill>
                  <a:srgbClr val="FFFFFF"/>
                </a:solidFill>
              </a:defRPr>
            </a:lvl1pPr>
          </a:lstStyle>
          <a:p>
            <a:r>
              <a:t>OFF</a:t>
            </a:r>
          </a:p>
        </p:txBody>
      </p:sp>
      <p:sp>
        <p:nvSpPr>
          <p:cNvPr id="347" name="TextBox 8"/>
          <p:cNvSpPr txBox="1"/>
          <p:nvPr/>
        </p:nvSpPr>
        <p:spPr>
          <a:xfrm>
            <a:off x="2077173" y="2501126"/>
            <a:ext cx="1746506" cy="378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30000"/>
              </a:lnSpc>
              <a:defRPr sz="1000">
                <a:solidFill>
                  <a:srgbClr val="FFFFFF"/>
                </a:solidFill>
              </a:defRPr>
            </a:pPr>
            <a:r>
              <a:t>ACC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비활성</a:t>
            </a:r>
          </a:p>
          <a:p>
            <a:pPr algn="ctr">
              <a:lnSpc>
                <a:spcPct val="130000"/>
              </a:lnSpc>
              <a:defRPr sz="1000">
                <a:solidFill>
                  <a:srgbClr val="FFFFFF"/>
                </a:solidFill>
              </a:defRPr>
            </a:pPr>
            <a:r>
              <a:t>(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자가진단</a:t>
            </a:r>
            <a:r>
              <a:t>)</a:t>
            </a:r>
          </a:p>
        </p:txBody>
      </p:sp>
      <p:sp>
        <p:nvSpPr>
          <p:cNvPr id="348" name="Rectangle 9"/>
          <p:cNvSpPr/>
          <p:nvPr/>
        </p:nvSpPr>
        <p:spPr>
          <a:xfrm>
            <a:off x="4207726" y="1934198"/>
            <a:ext cx="1965962" cy="1371603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9" name="TextBox 10"/>
          <p:cNvSpPr txBox="1"/>
          <p:nvPr/>
        </p:nvSpPr>
        <p:spPr>
          <a:xfrm>
            <a:off x="4207726" y="2071359"/>
            <a:ext cx="196596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700" b="1">
                <a:solidFill>
                  <a:srgbClr val="FFFFFF"/>
                </a:solidFill>
              </a:defRPr>
            </a:lvl1pPr>
          </a:lstStyle>
          <a:p>
            <a:r>
              <a:t>STANDBY</a:t>
            </a:r>
          </a:p>
        </p:txBody>
      </p:sp>
      <p:sp>
        <p:nvSpPr>
          <p:cNvPr id="350" name="TextBox 11"/>
          <p:cNvSpPr txBox="1"/>
          <p:nvPr/>
        </p:nvSpPr>
        <p:spPr>
          <a:xfrm>
            <a:off x="4317453" y="2501126"/>
            <a:ext cx="1746506" cy="576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30000"/>
              </a:lnSpc>
              <a:defRPr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대기</a:t>
            </a:r>
          </a:p>
          <a:p>
            <a:pPr algn="ctr">
              <a:lnSpc>
                <a:spcPct val="130000"/>
              </a:lnSpc>
              <a:defRPr sz="1000">
                <a:solidFill>
                  <a:srgbClr val="FFFFFF"/>
                </a:solidFill>
              </a:defRPr>
            </a:pPr>
            <a:r>
              <a:t>(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브레이크</a:t>
            </a:r>
            <a:r>
              <a:t>/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액셀</a:t>
            </a:r>
          </a:p>
          <a:p>
            <a:pPr algn="ctr">
              <a:lnSpc>
                <a:spcPct val="130000"/>
              </a:lnSpc>
              <a:defRPr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오버라이드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)</a:t>
            </a:r>
          </a:p>
        </p:txBody>
      </p:sp>
      <p:sp>
        <p:nvSpPr>
          <p:cNvPr id="351" name="Rectangle 18"/>
          <p:cNvSpPr/>
          <p:nvPr/>
        </p:nvSpPr>
        <p:spPr>
          <a:xfrm>
            <a:off x="8822473" y="1934198"/>
            <a:ext cx="1965962" cy="1371603"/>
          </a:xfrm>
          <a:prstGeom prst="rect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2" name="TextBox 19"/>
          <p:cNvSpPr txBox="1"/>
          <p:nvPr/>
        </p:nvSpPr>
        <p:spPr>
          <a:xfrm>
            <a:off x="8822473" y="2071359"/>
            <a:ext cx="196596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700" b="1">
                <a:solidFill>
                  <a:srgbClr val="FFFFFF"/>
                </a:solidFill>
              </a:defRPr>
            </a:lvl1pPr>
          </a:lstStyle>
          <a:p>
            <a:r>
              <a:t>FAULT</a:t>
            </a:r>
          </a:p>
        </p:txBody>
      </p:sp>
      <p:sp>
        <p:nvSpPr>
          <p:cNvPr id="353" name="TextBox 20"/>
          <p:cNvSpPr txBox="1"/>
          <p:nvPr/>
        </p:nvSpPr>
        <p:spPr>
          <a:xfrm>
            <a:off x="8932202" y="2501126"/>
            <a:ext cx="1746506" cy="370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30000"/>
              </a:lnSpc>
              <a:defRPr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고장 상태</a:t>
            </a:r>
          </a:p>
          <a:p>
            <a:pPr algn="ctr">
              <a:lnSpc>
                <a:spcPct val="130000"/>
              </a:lnSpc>
              <a:defRPr sz="1000">
                <a:solidFill>
                  <a:srgbClr val="FFFFFF"/>
                </a:solidFill>
              </a:defRPr>
            </a:pPr>
            <a:r>
              <a:t>(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모터 출력 </a:t>
            </a:r>
            <a:r>
              <a:t>0)</a:t>
            </a:r>
          </a:p>
        </p:txBody>
      </p:sp>
      <p:sp>
        <p:nvSpPr>
          <p:cNvPr id="354" name="Right Arrow 21"/>
          <p:cNvSpPr/>
          <p:nvPr/>
        </p:nvSpPr>
        <p:spPr>
          <a:xfrm>
            <a:off x="3951694" y="2551419"/>
            <a:ext cx="237745" cy="13716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360" name="Group"/>
          <p:cNvGrpSpPr/>
          <p:nvPr/>
        </p:nvGrpSpPr>
        <p:grpSpPr>
          <a:xfrm>
            <a:off x="6246838" y="1194729"/>
            <a:ext cx="2246456" cy="1371601"/>
            <a:chOff x="0" y="0"/>
            <a:chExt cx="2246455" cy="1371600"/>
          </a:xfrm>
        </p:grpSpPr>
        <p:grpSp>
          <p:nvGrpSpPr>
            <p:cNvPr id="358" name="Group"/>
            <p:cNvGrpSpPr/>
            <p:nvPr/>
          </p:nvGrpSpPr>
          <p:grpSpPr>
            <a:xfrm>
              <a:off x="280492" y="0"/>
              <a:ext cx="1965964" cy="1371601"/>
              <a:chOff x="0" y="0"/>
              <a:chExt cx="1965962" cy="1371600"/>
            </a:xfrm>
          </p:grpSpPr>
          <p:sp>
            <p:nvSpPr>
              <p:cNvPr id="355" name="Rectangle 12"/>
              <p:cNvSpPr/>
              <p:nvPr/>
            </p:nvSpPr>
            <p:spPr>
              <a:xfrm>
                <a:off x="0" y="-1"/>
                <a:ext cx="1965963" cy="1371601"/>
              </a:xfrm>
              <a:prstGeom prst="rect">
                <a:avLst/>
              </a:prstGeom>
              <a:solidFill>
                <a:srgbClr val="16A34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56" name="TextBox 13"/>
              <p:cNvSpPr txBox="1"/>
              <p:nvPr/>
            </p:nvSpPr>
            <p:spPr>
              <a:xfrm>
                <a:off x="0" y="137160"/>
                <a:ext cx="1965963" cy="21905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lnSpc>
                    <a:spcPct val="115000"/>
                  </a:lnSpc>
                  <a:defRPr sz="17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CRUISING</a:t>
                </a:r>
              </a:p>
            </p:txBody>
          </p:sp>
          <p:sp>
            <p:nvSpPr>
              <p:cNvPr id="357" name="TextBox 14"/>
              <p:cNvSpPr txBox="1"/>
              <p:nvPr/>
            </p:nvSpPr>
            <p:spPr>
              <a:xfrm>
                <a:off x="109728" y="566927"/>
                <a:ext cx="1746507" cy="37097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algn="ctr">
                  <a:lnSpc>
                    <a:spcPct val="130000"/>
                  </a:lnSpc>
                  <a:defRPr sz="100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defRPr>
                </a:pPr>
                <a:r>
                  <a:t>설정 속도 유지</a:t>
                </a:r>
              </a:p>
              <a:p>
                <a:pPr algn="ctr">
                  <a:lnSpc>
                    <a:spcPct val="130000"/>
                  </a:lnSpc>
                  <a:defRPr sz="1000">
                    <a:solidFill>
                      <a:srgbClr val="FFFFFF"/>
                    </a:solidFill>
                  </a:defRPr>
                </a:pPr>
                <a:r>
                  <a:t>(</a:t>
                </a:r>
                <a:r>
                  <a:rPr>
                    <a:latin typeface="Malgun Gothic"/>
                    <a:ea typeface="Malgun Gothic"/>
                    <a:cs typeface="Malgun Gothic"/>
                    <a:sym typeface="Malgun Gothic"/>
                  </a:rPr>
                  <a:t>전방 차량 </a:t>
                </a:r>
                <a:r>
                  <a:t>X)</a:t>
                </a:r>
              </a:p>
            </p:txBody>
          </p:sp>
        </p:grpSp>
        <p:sp>
          <p:nvSpPr>
            <p:cNvPr id="359" name="Right Arrow 22"/>
            <p:cNvSpPr/>
            <p:nvPr/>
          </p:nvSpPr>
          <p:spPr>
            <a:xfrm>
              <a:off x="-1" y="617219"/>
              <a:ext cx="237746" cy="13716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366" name="Group"/>
          <p:cNvGrpSpPr/>
          <p:nvPr/>
        </p:nvGrpSpPr>
        <p:grpSpPr>
          <a:xfrm>
            <a:off x="6246838" y="2661144"/>
            <a:ext cx="2246456" cy="1371601"/>
            <a:chOff x="0" y="0"/>
            <a:chExt cx="2246455" cy="1371600"/>
          </a:xfrm>
        </p:grpSpPr>
        <p:grpSp>
          <p:nvGrpSpPr>
            <p:cNvPr id="364" name="Group"/>
            <p:cNvGrpSpPr/>
            <p:nvPr/>
          </p:nvGrpSpPr>
          <p:grpSpPr>
            <a:xfrm>
              <a:off x="280492" y="0"/>
              <a:ext cx="1965964" cy="1371601"/>
              <a:chOff x="0" y="0"/>
              <a:chExt cx="1965962" cy="1371600"/>
            </a:xfrm>
          </p:grpSpPr>
          <p:sp>
            <p:nvSpPr>
              <p:cNvPr id="361" name="Rectangle 15"/>
              <p:cNvSpPr/>
              <p:nvPr/>
            </p:nvSpPr>
            <p:spPr>
              <a:xfrm>
                <a:off x="0" y="-1"/>
                <a:ext cx="1965963" cy="1371601"/>
              </a:xfrm>
              <a:prstGeom prst="rect">
                <a:avLst/>
              </a:prstGeom>
              <a:solidFill>
                <a:srgbClr val="16A34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62" name="TextBox 16"/>
              <p:cNvSpPr txBox="1"/>
              <p:nvPr/>
            </p:nvSpPr>
            <p:spPr>
              <a:xfrm>
                <a:off x="0" y="137160"/>
                <a:ext cx="1965963" cy="21905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lnSpc>
                    <a:spcPct val="115000"/>
                  </a:lnSpc>
                  <a:defRPr sz="17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FOLLOWING</a:t>
                </a:r>
              </a:p>
            </p:txBody>
          </p:sp>
          <p:sp>
            <p:nvSpPr>
              <p:cNvPr id="363" name="TextBox 17"/>
              <p:cNvSpPr txBox="1"/>
              <p:nvPr/>
            </p:nvSpPr>
            <p:spPr>
              <a:xfrm>
                <a:off x="109727" y="566927"/>
                <a:ext cx="1746507" cy="37097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algn="ctr">
                  <a:lnSpc>
                    <a:spcPct val="130000"/>
                  </a:lnSpc>
                  <a:defRPr sz="1000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defRPr>
                </a:pPr>
                <a:r>
                  <a:t>추종 주행</a:t>
                </a:r>
              </a:p>
              <a:p>
                <a:pPr algn="ctr">
                  <a:lnSpc>
                    <a:spcPct val="130000"/>
                  </a:lnSpc>
                  <a:defRPr sz="1000">
                    <a:solidFill>
                      <a:srgbClr val="FFFFFF"/>
                    </a:solidFill>
                  </a:defRPr>
                </a:pPr>
                <a:r>
                  <a:t>(</a:t>
                </a:r>
                <a:r>
                  <a:rPr>
                    <a:latin typeface="Malgun Gothic"/>
                    <a:ea typeface="Malgun Gothic"/>
                    <a:cs typeface="Malgun Gothic"/>
                    <a:sym typeface="Malgun Gothic"/>
                  </a:rPr>
                  <a:t>안전거리 유지</a:t>
                </a:r>
                <a:r>
                  <a:t>)</a:t>
                </a:r>
              </a:p>
            </p:txBody>
          </p:sp>
        </p:grpSp>
        <p:sp>
          <p:nvSpPr>
            <p:cNvPr id="365" name="Right Arrow 23"/>
            <p:cNvSpPr/>
            <p:nvPr/>
          </p:nvSpPr>
          <p:spPr>
            <a:xfrm>
              <a:off x="-1" y="591860"/>
              <a:ext cx="237746" cy="13716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367" name="Right Arrow 24"/>
          <p:cNvSpPr/>
          <p:nvPr/>
        </p:nvSpPr>
        <p:spPr>
          <a:xfrm>
            <a:off x="8566442" y="2551419"/>
            <a:ext cx="237746" cy="13716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8" name="TextBox 25"/>
          <p:cNvSpPr txBox="1"/>
          <p:nvPr/>
        </p:nvSpPr>
        <p:spPr>
          <a:xfrm>
            <a:off x="658368" y="3794759"/>
            <a:ext cx="10972801" cy="255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6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주요 전이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(Transitions)</a:t>
            </a:r>
          </a:p>
        </p:txBody>
      </p:sp>
      <p:sp>
        <p:nvSpPr>
          <p:cNvPr id="369" name="Oval 26"/>
          <p:cNvSpPr/>
          <p:nvPr/>
        </p:nvSpPr>
        <p:spPr>
          <a:xfrm>
            <a:off x="658368" y="4416552"/>
            <a:ext cx="228603" cy="228603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0" name="TextBox 27"/>
          <p:cNvSpPr txBox="1"/>
          <p:nvPr/>
        </p:nvSpPr>
        <p:spPr>
          <a:xfrm>
            <a:off x="658368" y="4416552"/>
            <a:ext cx="2286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200" b="1">
                <a:solidFill>
                  <a:srgbClr val="FFFFFF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371" name="TextBox 28"/>
          <p:cNvSpPr txBox="1"/>
          <p:nvPr/>
        </p:nvSpPr>
        <p:spPr>
          <a:xfrm>
            <a:off x="1024127" y="4343398"/>
            <a:ext cx="512064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1E2761"/>
                </a:solidFill>
              </a:defRPr>
            </a:lvl1pPr>
          </a:lstStyle>
          <a:p>
            <a:r>
              <a:t>OFF → CRUISING / FOLLOWING</a:t>
            </a:r>
          </a:p>
        </p:txBody>
      </p:sp>
      <p:sp>
        <p:nvSpPr>
          <p:cNvPr id="372" name="TextBox 29"/>
          <p:cNvSpPr txBox="1"/>
          <p:nvPr/>
        </p:nvSpPr>
        <p:spPr>
          <a:xfrm>
            <a:off x="1024127" y="4617720"/>
            <a:ext cx="5120643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1E293B"/>
                </a:solidFill>
              </a:defRPr>
            </a:pPr>
            <a:r>
              <a:t>ACC ON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토글 </a:t>
            </a:r>
            <a:r>
              <a:t>+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자가진단 통과</a:t>
            </a:r>
          </a:p>
        </p:txBody>
      </p:sp>
      <p:sp>
        <p:nvSpPr>
          <p:cNvPr id="373" name="Oval 30"/>
          <p:cNvSpPr/>
          <p:nvPr/>
        </p:nvSpPr>
        <p:spPr>
          <a:xfrm>
            <a:off x="658368" y="5129784"/>
            <a:ext cx="228603" cy="228603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4" name="TextBox 31"/>
          <p:cNvSpPr txBox="1"/>
          <p:nvPr/>
        </p:nvSpPr>
        <p:spPr>
          <a:xfrm>
            <a:off x="658368" y="5129784"/>
            <a:ext cx="228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200" b="1">
                <a:solidFill>
                  <a:srgbClr val="FFFFFF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375" name="TextBox 32"/>
          <p:cNvSpPr txBox="1"/>
          <p:nvPr/>
        </p:nvSpPr>
        <p:spPr>
          <a:xfrm>
            <a:off x="1024127" y="5056632"/>
            <a:ext cx="512064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1E2761"/>
                </a:solidFill>
              </a:defRPr>
            </a:lvl1pPr>
          </a:lstStyle>
          <a:p>
            <a:r>
              <a:t>CRUISING ↔ FOLLOWING</a:t>
            </a:r>
          </a:p>
        </p:txBody>
      </p:sp>
      <p:sp>
        <p:nvSpPr>
          <p:cNvPr id="376" name="TextBox 33"/>
          <p:cNvSpPr txBox="1"/>
          <p:nvPr/>
        </p:nvSpPr>
        <p:spPr>
          <a:xfrm>
            <a:off x="1024127" y="5330952"/>
            <a:ext cx="5120643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전방 차량 감지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/ </a:t>
            </a:r>
            <a:r>
              <a:t>소멸</a:t>
            </a:r>
          </a:p>
        </p:txBody>
      </p:sp>
      <p:sp>
        <p:nvSpPr>
          <p:cNvPr id="377" name="Oval 34"/>
          <p:cNvSpPr/>
          <p:nvPr/>
        </p:nvSpPr>
        <p:spPr>
          <a:xfrm>
            <a:off x="658368" y="5843015"/>
            <a:ext cx="228603" cy="228603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8" name="TextBox 35"/>
          <p:cNvSpPr txBox="1"/>
          <p:nvPr/>
        </p:nvSpPr>
        <p:spPr>
          <a:xfrm>
            <a:off x="658368" y="5843015"/>
            <a:ext cx="2286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200" b="1">
                <a:solidFill>
                  <a:srgbClr val="FFFFFF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379" name="TextBox 36"/>
          <p:cNvSpPr txBox="1"/>
          <p:nvPr/>
        </p:nvSpPr>
        <p:spPr>
          <a:xfrm>
            <a:off x="1024127" y="5769864"/>
            <a:ext cx="512064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1E2761"/>
                </a:solidFill>
              </a:defRPr>
            </a:lvl1pPr>
          </a:lstStyle>
          <a:p>
            <a:r>
              <a:t>CRUISING / FOLLOWING → STANDBY</a:t>
            </a:r>
          </a:p>
        </p:txBody>
      </p:sp>
      <p:sp>
        <p:nvSpPr>
          <p:cNvPr id="380" name="TextBox 37"/>
          <p:cNvSpPr txBox="1"/>
          <p:nvPr/>
        </p:nvSpPr>
        <p:spPr>
          <a:xfrm>
            <a:off x="1024127" y="6044184"/>
            <a:ext cx="5120643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브레이크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· </a:t>
            </a:r>
            <a:r>
              <a:t>액셀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· </a:t>
            </a:r>
            <a:r>
              <a:t>일시정지 입력</a:t>
            </a:r>
          </a:p>
        </p:txBody>
      </p:sp>
      <p:sp>
        <p:nvSpPr>
          <p:cNvPr id="381" name="Oval 38"/>
          <p:cNvSpPr/>
          <p:nvPr/>
        </p:nvSpPr>
        <p:spPr>
          <a:xfrm>
            <a:off x="6263640" y="4416552"/>
            <a:ext cx="228603" cy="228603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2" name="TextBox 39"/>
          <p:cNvSpPr txBox="1"/>
          <p:nvPr/>
        </p:nvSpPr>
        <p:spPr>
          <a:xfrm>
            <a:off x="6263640" y="4416552"/>
            <a:ext cx="22860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200" b="1">
                <a:solidFill>
                  <a:srgbClr val="FFFFFF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383" name="TextBox 40"/>
          <p:cNvSpPr txBox="1"/>
          <p:nvPr/>
        </p:nvSpPr>
        <p:spPr>
          <a:xfrm>
            <a:off x="6629399" y="4343398"/>
            <a:ext cx="512064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1E2761"/>
                </a:solidFill>
              </a:defRPr>
            </a:lvl1pPr>
          </a:lstStyle>
          <a:p>
            <a:r>
              <a:t>STANDBY → CRUISING / FOLLOWING</a:t>
            </a:r>
          </a:p>
        </p:txBody>
      </p:sp>
      <p:sp>
        <p:nvSpPr>
          <p:cNvPr id="384" name="TextBox 41"/>
          <p:cNvSpPr txBox="1"/>
          <p:nvPr/>
        </p:nvSpPr>
        <p:spPr>
          <a:xfrm>
            <a:off x="6629399" y="4617720"/>
            <a:ext cx="5120643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1E293B"/>
                </a:solidFill>
              </a:defRPr>
            </a:pPr>
            <a:r>
              <a:t>SET (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현재 속도</a:t>
            </a:r>
            <a:r>
              <a:t>) · RES (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이전 속도</a:t>
            </a:r>
            <a:r>
              <a:t>)</a:t>
            </a:r>
          </a:p>
        </p:txBody>
      </p:sp>
      <p:sp>
        <p:nvSpPr>
          <p:cNvPr id="385" name="Oval 42"/>
          <p:cNvSpPr/>
          <p:nvPr/>
        </p:nvSpPr>
        <p:spPr>
          <a:xfrm>
            <a:off x="6263640" y="5129784"/>
            <a:ext cx="228603" cy="228603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6" name="TextBox 43"/>
          <p:cNvSpPr txBox="1"/>
          <p:nvPr/>
        </p:nvSpPr>
        <p:spPr>
          <a:xfrm>
            <a:off x="6263640" y="5129784"/>
            <a:ext cx="22860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200" b="1">
                <a:solidFill>
                  <a:srgbClr val="FFFFFF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387" name="TextBox 44"/>
          <p:cNvSpPr txBox="1"/>
          <p:nvPr/>
        </p:nvSpPr>
        <p:spPr>
          <a:xfrm>
            <a:off x="6629399" y="5056632"/>
            <a:ext cx="512064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1E2761"/>
                </a:solidFill>
              </a:defRPr>
            </a:lvl1pPr>
          </a:lstStyle>
          <a:p>
            <a:r>
              <a:t>→ FAULT</a:t>
            </a:r>
          </a:p>
        </p:txBody>
      </p:sp>
      <p:sp>
        <p:nvSpPr>
          <p:cNvPr id="388" name="TextBox 45"/>
          <p:cNvSpPr txBox="1"/>
          <p:nvPr/>
        </p:nvSpPr>
        <p:spPr>
          <a:xfrm>
            <a:off x="6629399" y="5330952"/>
            <a:ext cx="5120643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센서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/</a:t>
            </a:r>
            <a:r>
              <a:t>통신 이상 감지</a:t>
            </a:r>
          </a:p>
        </p:txBody>
      </p:sp>
      <p:sp>
        <p:nvSpPr>
          <p:cNvPr id="389" name="Oval 46"/>
          <p:cNvSpPr/>
          <p:nvPr/>
        </p:nvSpPr>
        <p:spPr>
          <a:xfrm>
            <a:off x="6263640" y="5843015"/>
            <a:ext cx="228603" cy="228603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0" name="TextBox 47"/>
          <p:cNvSpPr txBox="1"/>
          <p:nvPr/>
        </p:nvSpPr>
        <p:spPr>
          <a:xfrm>
            <a:off x="6263640" y="5843015"/>
            <a:ext cx="22860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200" b="1">
                <a:solidFill>
                  <a:srgbClr val="FFFFFF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391" name="TextBox 48"/>
          <p:cNvSpPr txBox="1"/>
          <p:nvPr/>
        </p:nvSpPr>
        <p:spPr>
          <a:xfrm>
            <a:off x="6629399" y="5769864"/>
            <a:ext cx="512064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1E2761"/>
                </a:solidFill>
              </a:defRPr>
            </a:lvl1pPr>
          </a:lstStyle>
          <a:p>
            <a:r>
              <a:t>FAULT → OFF</a:t>
            </a:r>
          </a:p>
        </p:txBody>
      </p:sp>
      <p:sp>
        <p:nvSpPr>
          <p:cNvPr id="392" name="TextBox 49"/>
          <p:cNvSpPr txBox="1"/>
          <p:nvPr/>
        </p:nvSpPr>
        <p:spPr>
          <a:xfrm>
            <a:off x="6629399" y="6044184"/>
            <a:ext cx="5120643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운전자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ACC ON/OFF </a:t>
            </a:r>
            <a:r>
              <a:t>토글</a:t>
            </a:r>
          </a:p>
        </p:txBody>
      </p:sp>
      <p:sp>
        <p:nvSpPr>
          <p:cNvPr id="393" name="TextBox 50"/>
          <p:cNvSpPr txBox="1"/>
          <p:nvPr/>
        </p:nvSpPr>
        <p:spPr>
          <a:xfrm>
            <a:off x="457200" y="6537959"/>
            <a:ext cx="5486400" cy="14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900">
                <a:solidFill>
                  <a:srgbClr val="64748B"/>
                </a:solidFill>
              </a:defRPr>
            </a:pPr>
            <a:r>
              <a:t>SeSAC · ACC Project ·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</a:p>
        </p:txBody>
      </p:sp>
      <p:sp>
        <p:nvSpPr>
          <p:cNvPr id="394" name="TextBox 51"/>
          <p:cNvSpPr txBox="1"/>
          <p:nvPr/>
        </p:nvSpPr>
        <p:spPr>
          <a:xfrm>
            <a:off x="11338559" y="6537959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5000"/>
              </a:lnSpc>
              <a:defRPr sz="900">
                <a:solidFill>
                  <a:srgbClr val="64748B"/>
                </a:solidFill>
              </a:defRPr>
            </a:lvl1pPr>
          </a:lstStyle>
          <a:p>
            <a:r>
              <a:t>04 / 08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 2"/>
          <p:cNvSpPr/>
          <p:nvPr/>
        </p:nvSpPr>
        <p:spPr>
          <a:xfrm>
            <a:off x="457198" y="502919"/>
            <a:ext cx="73155" cy="50292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7" name="TextBox 3"/>
          <p:cNvSpPr txBox="1"/>
          <p:nvPr/>
        </p:nvSpPr>
        <p:spPr>
          <a:xfrm>
            <a:off x="658367" y="475487"/>
            <a:ext cx="54864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</a:defRPr>
            </a:lvl1pPr>
          </a:lstStyle>
          <a:p>
            <a:r>
              <a:t>07  SAFETY</a:t>
            </a:r>
          </a:p>
        </p:txBody>
      </p:sp>
      <p:sp>
        <p:nvSpPr>
          <p:cNvPr id="398" name="TextBox 4"/>
          <p:cNvSpPr txBox="1"/>
          <p:nvPr/>
        </p:nvSpPr>
        <p:spPr>
          <a:xfrm>
            <a:off x="658368" y="713230"/>
            <a:ext cx="10972801" cy="45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28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안전 기능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· </a:t>
            </a:r>
            <a:r>
              <a:t>운전자 오버라이드</a:t>
            </a:r>
          </a:p>
        </p:txBody>
      </p:sp>
      <p:sp>
        <p:nvSpPr>
          <p:cNvPr id="399" name="TextBox 5"/>
          <p:cNvSpPr txBox="1"/>
          <p:nvPr/>
        </p:nvSpPr>
        <p:spPr>
          <a:xfrm>
            <a:off x="658368" y="1371599"/>
            <a:ext cx="109728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 i="1">
                <a:solidFill>
                  <a:srgbClr val="64748B"/>
                </a:solidFill>
              </a:defRPr>
            </a:pPr>
            <a:r>
              <a:t>ISO 26262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기반 </a:t>
            </a:r>
            <a:r>
              <a:t>Fail-Safe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정책 </a:t>
            </a:r>
            <a:r>
              <a:t>—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운전자 제어가 </a:t>
            </a:r>
            <a:r>
              <a:t>ACC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보다 항상 우선</a:t>
            </a:r>
          </a:p>
        </p:txBody>
      </p:sp>
      <p:sp>
        <p:nvSpPr>
          <p:cNvPr id="400" name="Rectangle 6"/>
          <p:cNvSpPr/>
          <p:nvPr/>
        </p:nvSpPr>
        <p:spPr>
          <a:xfrm>
            <a:off x="658368" y="1965959"/>
            <a:ext cx="3611880" cy="2926083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1" name="Rectangle 7"/>
          <p:cNvSpPr/>
          <p:nvPr/>
        </p:nvSpPr>
        <p:spPr>
          <a:xfrm>
            <a:off x="658368" y="1965960"/>
            <a:ext cx="3611880" cy="77724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2" name="Rectangle 8"/>
          <p:cNvSpPr/>
          <p:nvPr/>
        </p:nvSpPr>
        <p:spPr>
          <a:xfrm>
            <a:off x="749808" y="2116834"/>
            <a:ext cx="1005840" cy="29261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3" name="TextBox 9"/>
          <p:cNvSpPr txBox="1"/>
          <p:nvPr/>
        </p:nvSpPr>
        <p:spPr>
          <a:xfrm>
            <a:off x="749808" y="2135122"/>
            <a:ext cx="10058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 b="1">
                <a:solidFill>
                  <a:srgbClr val="1E2761"/>
                </a:solidFill>
              </a:defRPr>
            </a:lvl1pPr>
          </a:lstStyle>
          <a:p>
            <a:r>
              <a:t>STK007</a:t>
            </a:r>
          </a:p>
        </p:txBody>
      </p:sp>
      <p:sp>
        <p:nvSpPr>
          <p:cNvPr id="404" name="TextBox 10"/>
          <p:cNvSpPr txBox="1"/>
          <p:nvPr/>
        </p:nvSpPr>
        <p:spPr>
          <a:xfrm>
            <a:off x="932687" y="2441448"/>
            <a:ext cx="3063243" cy="29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브레이크 우선</a:t>
            </a:r>
          </a:p>
        </p:txBody>
      </p:sp>
      <p:sp>
        <p:nvSpPr>
          <p:cNvPr id="405" name="TextBox 11"/>
          <p:cNvSpPr txBox="1"/>
          <p:nvPr/>
        </p:nvSpPr>
        <p:spPr>
          <a:xfrm>
            <a:off x="932687" y="2971800"/>
            <a:ext cx="3063243" cy="1148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브레이크 입력 시 즉시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STANDBY</a:t>
            </a:r>
            <a:r>
              <a:t>로 전환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 </a:t>
            </a:r>
            <a:br>
              <a:rPr>
                <a:latin typeface="+mj-lt"/>
                <a:ea typeface="+mj-ea"/>
                <a:cs typeface="+mj-cs"/>
                <a:sym typeface="Calibri"/>
              </a:rPr>
            </a:br>
            <a:r>
              <a:t>눌려있는 동안 지속 제동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 </a:t>
            </a:r>
            <a:br>
              <a:rPr>
                <a:latin typeface="+mj-lt"/>
                <a:ea typeface="+mj-ea"/>
                <a:cs typeface="+mj-cs"/>
                <a:sym typeface="Calibri"/>
              </a:rPr>
            </a:br>
            <a:r>
              <a:t>어떠한 상황에서도 운전자의 제동이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ACC </a:t>
            </a:r>
            <a:r>
              <a:t>제어보다 우선한다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</a:t>
            </a:r>
          </a:p>
        </p:txBody>
      </p:sp>
      <p:sp>
        <p:nvSpPr>
          <p:cNvPr id="406" name="Rectangle 12"/>
          <p:cNvSpPr/>
          <p:nvPr/>
        </p:nvSpPr>
        <p:spPr>
          <a:xfrm>
            <a:off x="4498847" y="1965959"/>
            <a:ext cx="3611882" cy="2926083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7" name="Rectangle 13"/>
          <p:cNvSpPr/>
          <p:nvPr/>
        </p:nvSpPr>
        <p:spPr>
          <a:xfrm>
            <a:off x="4498847" y="1965960"/>
            <a:ext cx="3611882" cy="777242"/>
          </a:xfrm>
          <a:prstGeom prst="rect">
            <a:avLst/>
          </a:prstGeom>
          <a:solidFill>
            <a:srgbClr val="141B4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8" name="Rectangle 14"/>
          <p:cNvSpPr/>
          <p:nvPr/>
        </p:nvSpPr>
        <p:spPr>
          <a:xfrm>
            <a:off x="4668665" y="2098548"/>
            <a:ext cx="1005840" cy="29261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9" name="TextBox 15"/>
          <p:cNvSpPr txBox="1"/>
          <p:nvPr/>
        </p:nvSpPr>
        <p:spPr>
          <a:xfrm>
            <a:off x="4668665" y="2116834"/>
            <a:ext cx="10058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 b="1">
                <a:solidFill>
                  <a:srgbClr val="141B45"/>
                </a:solidFill>
              </a:defRPr>
            </a:lvl1pPr>
          </a:lstStyle>
          <a:p>
            <a:r>
              <a:t>STK008</a:t>
            </a:r>
          </a:p>
        </p:txBody>
      </p:sp>
      <p:sp>
        <p:nvSpPr>
          <p:cNvPr id="410" name="TextBox 16"/>
          <p:cNvSpPr txBox="1"/>
          <p:nvPr/>
        </p:nvSpPr>
        <p:spPr>
          <a:xfrm>
            <a:off x="4773167" y="2441448"/>
            <a:ext cx="3063242" cy="29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액셀 오버라이드</a:t>
            </a:r>
          </a:p>
        </p:txBody>
      </p:sp>
      <p:sp>
        <p:nvSpPr>
          <p:cNvPr id="411" name="TextBox 17"/>
          <p:cNvSpPr txBox="1"/>
          <p:nvPr/>
        </p:nvSpPr>
        <p:spPr>
          <a:xfrm>
            <a:off x="4773167" y="2971800"/>
            <a:ext cx="3063242" cy="82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액셀 입력 시 즉시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STANDBY</a:t>
            </a:r>
            <a:r>
              <a:t>로 전환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 </a:t>
            </a:r>
            <a:br>
              <a:rPr>
                <a:latin typeface="+mj-lt"/>
                <a:ea typeface="+mj-ea"/>
                <a:cs typeface="+mj-cs"/>
                <a:sym typeface="Calibri"/>
              </a:rPr>
            </a:br>
            <a:r>
              <a:t>이전 설정 속도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· </a:t>
            </a:r>
            <a:r>
              <a:t>안전거리 단계는 유지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 </a:t>
            </a:r>
            <a:br>
              <a:rPr>
                <a:latin typeface="+mj-lt"/>
                <a:ea typeface="+mj-ea"/>
                <a:cs typeface="+mj-cs"/>
                <a:sym typeface="Calibri"/>
              </a:rPr>
            </a:br>
            <a:r>
              <a:t>운전자의 가속 의지가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ACC </a:t>
            </a:r>
            <a:r>
              <a:t>제어보다 우선한다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</a:t>
            </a:r>
          </a:p>
        </p:txBody>
      </p:sp>
      <p:sp>
        <p:nvSpPr>
          <p:cNvPr id="412" name="Rectangle 18"/>
          <p:cNvSpPr/>
          <p:nvPr/>
        </p:nvSpPr>
        <p:spPr>
          <a:xfrm>
            <a:off x="8339328" y="1965959"/>
            <a:ext cx="3611882" cy="2926083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3" name="Rectangle 19"/>
          <p:cNvSpPr/>
          <p:nvPr/>
        </p:nvSpPr>
        <p:spPr>
          <a:xfrm>
            <a:off x="8339328" y="1965960"/>
            <a:ext cx="3611882" cy="777242"/>
          </a:xfrm>
          <a:prstGeom prst="rect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4" name="Rectangle 20"/>
          <p:cNvSpPr/>
          <p:nvPr/>
        </p:nvSpPr>
        <p:spPr>
          <a:xfrm>
            <a:off x="8491728" y="2098548"/>
            <a:ext cx="1005840" cy="29261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5" name="TextBox 21"/>
          <p:cNvSpPr txBox="1"/>
          <p:nvPr/>
        </p:nvSpPr>
        <p:spPr>
          <a:xfrm>
            <a:off x="8491728" y="2116834"/>
            <a:ext cx="10058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000" b="1">
                <a:solidFill>
                  <a:srgbClr val="F96167"/>
                </a:solidFill>
              </a:defRPr>
            </a:lvl1pPr>
          </a:lstStyle>
          <a:p>
            <a:r>
              <a:t>STK010</a:t>
            </a:r>
          </a:p>
        </p:txBody>
      </p:sp>
      <p:sp>
        <p:nvSpPr>
          <p:cNvPr id="416" name="TextBox 22"/>
          <p:cNvSpPr txBox="1"/>
          <p:nvPr/>
        </p:nvSpPr>
        <p:spPr>
          <a:xfrm>
            <a:off x="8613647" y="2441448"/>
            <a:ext cx="30632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b="1">
                <a:solidFill>
                  <a:srgbClr val="FFFFFF"/>
                </a:solidFill>
              </a:defRPr>
            </a:pPr>
            <a:r>
              <a:t>FAULT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안전</a:t>
            </a:r>
          </a:p>
        </p:txBody>
      </p:sp>
      <p:sp>
        <p:nvSpPr>
          <p:cNvPr id="417" name="TextBox 23"/>
          <p:cNvSpPr txBox="1"/>
          <p:nvPr/>
        </p:nvSpPr>
        <p:spPr>
          <a:xfrm>
            <a:off x="8613647" y="2971800"/>
            <a:ext cx="3063242" cy="146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센서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/</a:t>
            </a:r>
            <a:r>
              <a:t>통신 이상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→ FAULT </a:t>
            </a:r>
            <a:r>
              <a:t>진입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, </a:t>
            </a:r>
            <a:r>
              <a:t>모터 출력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0</a:t>
            </a:r>
            <a:r>
              <a:t>으로 자연 감속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 </a:t>
            </a:r>
            <a:br>
              <a:rPr>
                <a:latin typeface="+mj-lt"/>
                <a:ea typeface="+mj-ea"/>
                <a:cs typeface="+mj-cs"/>
                <a:sym typeface="Calibri"/>
              </a:rPr>
            </a:br>
            <a:r>
              <a:rPr>
                <a:latin typeface="+mj-lt"/>
                <a:ea typeface="+mj-ea"/>
                <a:cs typeface="+mj-cs"/>
                <a:sym typeface="Calibri"/>
              </a:rPr>
              <a:t>HMI </a:t>
            </a:r>
            <a:r>
              <a:t>즉시 경고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 </a:t>
            </a:r>
            <a:br>
              <a:rPr>
                <a:latin typeface="+mj-lt"/>
                <a:ea typeface="+mj-ea"/>
                <a:cs typeface="+mj-cs"/>
                <a:sym typeface="Calibri"/>
              </a:rPr>
            </a:br>
            <a:r>
              <a:t>운전자가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ACC OFF </a:t>
            </a:r>
            <a:r>
              <a:t>수동 전환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 </a:t>
            </a:r>
            <a:br>
              <a:rPr>
                <a:latin typeface="+mj-lt"/>
                <a:ea typeface="+mj-ea"/>
                <a:cs typeface="+mj-cs"/>
                <a:sym typeface="Calibri"/>
              </a:rPr>
            </a:br>
            <a:r>
              <a:rPr>
                <a:latin typeface="+mj-lt"/>
                <a:ea typeface="+mj-ea"/>
                <a:cs typeface="+mj-cs"/>
                <a:sym typeface="Calibri"/>
              </a:rPr>
              <a:t>AEB</a:t>
            </a:r>
            <a:r>
              <a:t>는 시스템 범위 외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(STK023).</a:t>
            </a:r>
          </a:p>
        </p:txBody>
      </p:sp>
      <p:sp>
        <p:nvSpPr>
          <p:cNvPr id="418" name="Rectangle 24"/>
          <p:cNvSpPr/>
          <p:nvPr/>
        </p:nvSpPr>
        <p:spPr>
          <a:xfrm>
            <a:off x="658368" y="5166359"/>
            <a:ext cx="10881360" cy="1051562"/>
          </a:xfrm>
          <a:prstGeom prst="rect">
            <a:avLst/>
          </a:prstGeom>
          <a:solidFill>
            <a:srgbClr val="141B4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9" name="Rectangle 25"/>
          <p:cNvSpPr/>
          <p:nvPr/>
        </p:nvSpPr>
        <p:spPr>
          <a:xfrm>
            <a:off x="658368" y="5166359"/>
            <a:ext cx="91442" cy="1051562"/>
          </a:xfrm>
          <a:prstGeom prst="rect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0" name="TextBox 26"/>
          <p:cNvSpPr txBox="1"/>
          <p:nvPr/>
        </p:nvSpPr>
        <p:spPr>
          <a:xfrm>
            <a:off x="914400" y="5330952"/>
            <a:ext cx="1051560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000" b="1">
                <a:solidFill>
                  <a:srgbClr val="CADCFC"/>
                </a:solidFill>
              </a:defRPr>
            </a:lvl1pPr>
          </a:lstStyle>
          <a:p>
            <a:r>
              <a:t>DRIVER OVERRIDE PRINCIPLE</a:t>
            </a:r>
          </a:p>
        </p:txBody>
      </p:sp>
      <p:sp>
        <p:nvSpPr>
          <p:cNvPr id="421" name="TextBox 27"/>
          <p:cNvSpPr txBox="1"/>
          <p:nvPr/>
        </p:nvSpPr>
        <p:spPr>
          <a:xfrm>
            <a:off x="914400" y="5577840"/>
            <a:ext cx="10515600" cy="24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어떠한 상황에서도 운전자의 제동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·</a:t>
            </a:r>
            <a:r>
              <a:t>가속 제어가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ACC </a:t>
            </a:r>
            <a:r>
              <a:t>제어보다 우선한다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.</a:t>
            </a:r>
          </a:p>
        </p:txBody>
      </p:sp>
      <p:sp>
        <p:nvSpPr>
          <p:cNvPr id="422" name="TextBox 29"/>
          <p:cNvSpPr txBox="1"/>
          <p:nvPr/>
        </p:nvSpPr>
        <p:spPr>
          <a:xfrm>
            <a:off x="457200" y="6537959"/>
            <a:ext cx="5486400" cy="14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900">
                <a:solidFill>
                  <a:srgbClr val="64748B"/>
                </a:solidFill>
              </a:defRPr>
            </a:pPr>
            <a:r>
              <a:t>SeSAC · ACC Project ·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</a:p>
        </p:txBody>
      </p:sp>
      <p:sp>
        <p:nvSpPr>
          <p:cNvPr id="423" name="TextBox 30"/>
          <p:cNvSpPr txBox="1"/>
          <p:nvPr/>
        </p:nvSpPr>
        <p:spPr>
          <a:xfrm>
            <a:off x="11338559" y="6537959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5000"/>
              </a:lnSpc>
              <a:defRPr sz="900">
                <a:solidFill>
                  <a:srgbClr val="64748B"/>
                </a:solidFill>
              </a:defRPr>
            </a:lvl1pPr>
          </a:lstStyle>
          <a:p>
            <a:r>
              <a:t>05 / 08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9"/>
            <a:ext cx="12192000" cy="67665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Rectangle 2"/>
          <p:cNvSpPr/>
          <p:nvPr/>
        </p:nvSpPr>
        <p:spPr>
          <a:xfrm>
            <a:off x="457198" y="502919"/>
            <a:ext cx="73155" cy="50292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8" name="TextBox 3"/>
          <p:cNvSpPr txBox="1"/>
          <p:nvPr/>
        </p:nvSpPr>
        <p:spPr>
          <a:xfrm>
            <a:off x="658367" y="475487"/>
            <a:ext cx="54864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</a:defRPr>
            </a:lvl1pPr>
          </a:lstStyle>
          <a:p>
            <a:r>
              <a:t>08  STANDARDS</a:t>
            </a:r>
          </a:p>
        </p:txBody>
      </p:sp>
      <p:sp>
        <p:nvSpPr>
          <p:cNvPr id="429" name="TextBox 4"/>
          <p:cNvSpPr txBox="1"/>
          <p:nvPr/>
        </p:nvSpPr>
        <p:spPr>
          <a:xfrm>
            <a:off x="609599" y="629612"/>
            <a:ext cx="10972802" cy="45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28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적용 현황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— ASPICE 4.0 · ISO 26262:2018</a:t>
            </a:r>
          </a:p>
        </p:txBody>
      </p:sp>
      <p:sp>
        <p:nvSpPr>
          <p:cNvPr id="430" name="TextBox 54"/>
          <p:cNvSpPr txBox="1"/>
          <p:nvPr/>
        </p:nvSpPr>
        <p:spPr>
          <a:xfrm>
            <a:off x="398032" y="6694543"/>
            <a:ext cx="5486400" cy="14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900">
                <a:solidFill>
                  <a:srgbClr val="64748B"/>
                </a:solidFill>
              </a:defRPr>
            </a:pPr>
            <a:r>
              <a:rPr dirty="0" err="1"/>
              <a:t>SeSAC</a:t>
            </a:r>
            <a:r>
              <a:rPr dirty="0"/>
              <a:t> · ACC Project · </a:t>
            </a:r>
            <a:r>
              <a:rPr dirty="0" err="1">
                <a:latin typeface="Malgun Gothic"/>
                <a:ea typeface="Malgun Gothic"/>
                <a:cs typeface="Malgun Gothic"/>
                <a:sym typeface="Malgun Gothic"/>
              </a:rPr>
              <a:t>프로젝트</a:t>
            </a:r>
            <a:r>
              <a:rPr dirty="0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dirty="0" err="1">
                <a:latin typeface="Malgun Gothic"/>
                <a:ea typeface="Malgun Gothic"/>
                <a:cs typeface="Malgun Gothic"/>
                <a:sym typeface="Malgun Gothic"/>
              </a:rPr>
              <a:t>개요</a:t>
            </a:r>
            <a:endParaRPr dirty="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1" name="TextBox 55"/>
          <p:cNvSpPr txBox="1"/>
          <p:nvPr/>
        </p:nvSpPr>
        <p:spPr>
          <a:xfrm>
            <a:off x="11338559" y="6537959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5000"/>
              </a:lnSpc>
              <a:defRPr sz="900">
                <a:solidFill>
                  <a:srgbClr val="64748B"/>
                </a:solidFill>
              </a:defRPr>
            </a:lvl1pPr>
          </a:lstStyle>
          <a:p>
            <a:r>
              <a:t>06 / 08</a:t>
            </a:r>
          </a:p>
        </p:txBody>
      </p:sp>
      <p:sp>
        <p:nvSpPr>
          <p:cNvPr id="432" name="Text 5"/>
          <p:cNvSpPr txBox="1"/>
          <p:nvPr/>
        </p:nvSpPr>
        <p:spPr>
          <a:xfrm>
            <a:off x="8724761" y="1070158"/>
            <a:ext cx="2936886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914400">
              <a:defRPr sz="1100" b="1">
                <a:solidFill>
                  <a:srgbClr val="2D8659"/>
                </a:solidFill>
              </a:defRPr>
            </a:pPr>
            <a:r>
              <a:rPr dirty="0"/>
              <a:t>● </a:t>
            </a:r>
            <a:r>
              <a:rPr dirty="0" err="1"/>
              <a:t>완료</a:t>
            </a:r>
            <a:r>
              <a:rPr b="0" dirty="0">
                <a:solidFill>
                  <a:srgbClr val="000000"/>
                </a:solidFill>
              </a:rPr>
              <a:t>    </a:t>
            </a:r>
            <a:r>
              <a:rPr dirty="0">
                <a:solidFill>
                  <a:srgbClr val="E87722"/>
                </a:solidFill>
              </a:rPr>
              <a:t>◐ </a:t>
            </a:r>
            <a:r>
              <a:rPr dirty="0" err="1">
                <a:solidFill>
                  <a:srgbClr val="E87722"/>
                </a:solidFill>
              </a:rPr>
              <a:t>진행중</a:t>
            </a:r>
            <a:r>
              <a:rPr b="0" dirty="0">
                <a:solidFill>
                  <a:srgbClr val="000000"/>
                </a:solidFill>
              </a:rPr>
              <a:t>    </a:t>
            </a:r>
            <a:r>
              <a:rPr dirty="0">
                <a:solidFill>
                  <a:srgbClr val="6B7280"/>
                </a:solidFill>
              </a:rPr>
              <a:t>○ </a:t>
            </a:r>
            <a:r>
              <a:rPr dirty="0" err="1">
                <a:solidFill>
                  <a:srgbClr val="6B7280"/>
                </a:solidFill>
              </a:rPr>
              <a:t>예정</a:t>
            </a:r>
            <a:r>
              <a:rPr b="0" dirty="0">
                <a:solidFill>
                  <a:srgbClr val="000000"/>
                </a:solidFill>
              </a:rPr>
              <a:t>    </a:t>
            </a:r>
            <a:r>
              <a:rPr dirty="0">
                <a:solidFill>
                  <a:srgbClr val="BCC4DB"/>
                </a:solidFill>
              </a:rPr>
              <a:t>— </a:t>
            </a:r>
            <a:r>
              <a:rPr dirty="0" err="1">
                <a:solidFill>
                  <a:srgbClr val="BCC4DB"/>
                </a:solidFill>
              </a:rPr>
              <a:t>제외</a:t>
            </a:r>
            <a:r>
              <a:rPr dirty="0">
                <a:solidFill>
                  <a:srgbClr val="BCC4DB"/>
                </a:solidFill>
              </a:rPr>
              <a:t> (</a:t>
            </a:r>
            <a:r>
              <a:rPr dirty="0" err="1">
                <a:solidFill>
                  <a:srgbClr val="BCC4DB"/>
                </a:solidFill>
              </a:rPr>
              <a:t>테일러링</a:t>
            </a:r>
            <a:r>
              <a:rPr dirty="0">
                <a:solidFill>
                  <a:srgbClr val="BCC4DB"/>
                </a:solidFill>
              </a:rPr>
              <a:t>)</a:t>
            </a:r>
          </a:p>
        </p:txBody>
      </p:sp>
      <p:graphicFrame>
        <p:nvGraphicFramePr>
          <p:cNvPr id="433" name="Table 0"/>
          <p:cNvGraphicFramePr/>
          <p:nvPr>
            <p:extLst>
              <p:ext uri="{D42A27DB-BD31-4B8C-83A1-F6EECF244321}">
                <p14:modId xmlns:p14="http://schemas.microsoft.com/office/powerpoint/2010/main" val="3983685834"/>
              </p:ext>
            </p:extLst>
          </p:nvPr>
        </p:nvGraphicFramePr>
        <p:xfrm>
          <a:off x="548640" y="1285240"/>
          <a:ext cx="11064240" cy="5379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295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프로세스 군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프로세스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산출물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상태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저장소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433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 b="1">
                          <a:solidFill>
                            <a:srgbClr val="0F1A3D"/>
                          </a:solidFill>
                        </a:rPr>
                        <a:t>MAN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MAN.3 Project Management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WBS · 일정 · 역할 · 위험 · 소통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2D8659"/>
                          </a:solidFill>
                        </a:rPr>
                        <a:t>●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Confluence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endParaRPr/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MAN.5 Risk Management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Risk Register · 모니터링 · 완화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2D8659"/>
                          </a:solidFill>
                        </a:rPr>
                        <a:t>●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Confluence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endParaRPr/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MAN.6 Measurement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측정 목표 · Metrics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2D8659"/>
                          </a:solidFill>
                        </a:rPr>
                        <a:t>●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Confluence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433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 b="1">
                          <a:solidFill>
                            <a:srgbClr val="0F1A3D"/>
                          </a:solidFill>
                        </a:rPr>
                        <a:t>SYS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SYS.1 Requirements Elicitation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STK.sdoc (STK001~024)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2D8659"/>
                          </a:solidFill>
                        </a:rPr>
                        <a:t>●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StrictDoc/Git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endParaRPr/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SYS.2 System Req Analysis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SYS.sdoc (SYS001~035) · SYS1/2.sdoc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2D8659"/>
                          </a:solidFill>
                        </a:rPr>
                        <a:t>●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StrictDoc/Git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endParaRPr/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SYS.3 Architectural Design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시스템 아키텍처 · CAN DB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E87722"/>
                          </a:solidFill>
                        </a:rPr>
                        <a:t>◐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Confluence/Git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endParaRPr/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SYS.4/5 Integ·Qual Test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시스템 시험 계획/결과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6B7280"/>
                          </a:solidFill>
                        </a:rPr>
                        <a:t>○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Git (M5)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433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 b="1">
                          <a:solidFill>
                            <a:srgbClr val="0F1A3D"/>
                          </a:solidFill>
                        </a:rPr>
                        <a:t>SWE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SWE.1~3 Req·Arch·Detail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SWR.sdoc · ARXML · MBD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E87722"/>
                          </a:solidFill>
                        </a:rPr>
                        <a:t>◐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StrictDoc/Git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endParaRPr/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SWE.4 Implementation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C 소스 · MISRA-C:2012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E87722"/>
                          </a:solidFill>
                        </a:rPr>
                        <a:t>◐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Git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endParaRPr/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SWE.5/6 Integ·Qual Test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단위·통합 시험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6B7280"/>
                          </a:solidFill>
                        </a:rPr>
                        <a:t>○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Git (M5)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433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 b="1">
                          <a:solidFill>
                            <a:srgbClr val="0F1A3D"/>
                          </a:solidFill>
                        </a:rPr>
                        <a:t>SUP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SUP.1 Quality Assurance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QA 계획 · 감사 · CAR · Confirmation Review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2D8659"/>
                          </a:solidFill>
                        </a:rPr>
                        <a:t>●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Confluence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endParaRPr/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SUP.8 Configuration Mgmt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Git 전략 · 베이스라인 · 태깅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2D8659"/>
                          </a:solidFill>
                        </a:rPr>
                        <a:t>●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Confluence+Git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endParaRPr/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SUP.9 Problem Resolution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Jira 이슈 워크플로우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2D8659"/>
                          </a:solidFill>
                        </a:rPr>
                        <a:t>●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Confluence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endParaRPr/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SUP.10 Change Request Mgmt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CR 프로세스 · 영향 분석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2D8659"/>
                          </a:solidFill>
                        </a:rPr>
                        <a:t>●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Confluence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0433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 b="1">
                          <a:solidFill>
                            <a:srgbClr val="0F1A3D"/>
                          </a:solidFill>
                        </a:rPr>
                        <a:t>VAL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VAL.1 Validation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차량 주행 시험 (M5)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6B7280"/>
                          </a:solidFill>
                        </a:rPr>
                        <a:t>○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Git (M5)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0433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 b="1">
                          <a:solidFill>
                            <a:srgbClr val="0F1A3D"/>
                          </a:solidFill>
                        </a:rPr>
                        <a:t>HW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HW.1~4 (light)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>
                          <a:solidFill>
                            <a:srgbClr val="0F1A3D"/>
                          </a:solidFill>
                        </a:rPr>
                        <a:t>HSI · board bring-up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000" b="1">
                          <a:solidFill>
                            <a:srgbClr val="E87722"/>
                          </a:solidFill>
                        </a:rPr>
                        <a:t>◐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 dirty="0">
                          <a:solidFill>
                            <a:srgbClr val="0F1A3D"/>
                          </a:solidFill>
                        </a:rPr>
                        <a:t>Git</a:t>
                      </a:r>
                    </a:p>
                  </a:txBody>
                  <a:tcPr marL="45720" marR="45720" horzOverflow="overflow">
                    <a:lnL w="6350">
                      <a:solidFill>
                        <a:srgbClr val="BCC4DB"/>
                      </a:solidFill>
                    </a:lnL>
                    <a:lnR w="6350">
                      <a:solidFill>
                        <a:srgbClr val="BCC4DB"/>
                      </a:solidFill>
                    </a:lnR>
                    <a:lnT w="6350">
                      <a:solidFill>
                        <a:srgbClr val="BCC4DB"/>
                      </a:solidFill>
                    </a:lnT>
                    <a:lnB w="6350">
                      <a:solidFill>
                        <a:srgbClr val="BCC4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6" name="Rectangle 2"/>
          <p:cNvSpPr/>
          <p:nvPr/>
        </p:nvSpPr>
        <p:spPr>
          <a:xfrm>
            <a:off x="457198" y="502919"/>
            <a:ext cx="73155" cy="50292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7" name="TextBox 3"/>
          <p:cNvSpPr txBox="1"/>
          <p:nvPr/>
        </p:nvSpPr>
        <p:spPr>
          <a:xfrm>
            <a:off x="658367" y="475487"/>
            <a:ext cx="54864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</a:defRPr>
            </a:lvl1pPr>
          </a:lstStyle>
          <a:p>
            <a:r>
              <a:t>09 TRACEABILITY</a:t>
            </a:r>
          </a:p>
        </p:txBody>
      </p:sp>
      <p:sp>
        <p:nvSpPr>
          <p:cNvPr id="438" name="TextBox 4"/>
          <p:cNvSpPr txBox="1"/>
          <p:nvPr/>
        </p:nvSpPr>
        <p:spPr>
          <a:xfrm>
            <a:off x="658368" y="713230"/>
            <a:ext cx="10972801" cy="45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28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추적성 체인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— </a:t>
            </a:r>
            <a:r>
              <a:t>요구사항에서 테스트까지</a:t>
            </a:r>
          </a:p>
        </p:txBody>
      </p:sp>
      <p:sp>
        <p:nvSpPr>
          <p:cNvPr id="439" name="TextBox 5"/>
          <p:cNvSpPr txBox="1"/>
          <p:nvPr/>
        </p:nvSpPr>
        <p:spPr>
          <a:xfrm>
            <a:off x="658368" y="1371599"/>
            <a:ext cx="109728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 i="1">
                <a:solidFill>
                  <a:srgbClr val="64748B"/>
                </a:solidFill>
              </a:defRPr>
            </a:pPr>
            <a:r>
              <a:t>StrictDoc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기반 요구사항</a:t>
            </a:r>
            <a:r>
              <a:t>(.sdoc) ·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양방향 추적 </a:t>
            </a:r>
            <a:r>
              <a:t>· ASPICE V-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모델 </a:t>
            </a:r>
            <a:r>
              <a:t>+ ISO 26262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안전 체인</a:t>
            </a:r>
          </a:p>
        </p:txBody>
      </p:sp>
      <p:sp>
        <p:nvSpPr>
          <p:cNvPr id="440" name="TextBox 6"/>
          <p:cNvSpPr txBox="1"/>
          <p:nvPr/>
        </p:nvSpPr>
        <p:spPr>
          <a:xfrm>
            <a:off x="658368" y="1874517"/>
            <a:ext cx="109728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</a:defRPr>
            </a:lvl1pPr>
          </a:lstStyle>
          <a:p>
            <a:r>
              <a:t>ASPICE V-MODEL CHAIN</a:t>
            </a:r>
          </a:p>
        </p:txBody>
      </p:sp>
      <p:sp>
        <p:nvSpPr>
          <p:cNvPr id="441" name="Rectangle 7"/>
          <p:cNvSpPr/>
          <p:nvPr/>
        </p:nvSpPr>
        <p:spPr>
          <a:xfrm>
            <a:off x="719173" y="2240278"/>
            <a:ext cx="1426466" cy="914402"/>
          </a:xfrm>
          <a:prstGeom prst="rect">
            <a:avLst/>
          </a:prstGeom>
          <a:solidFill>
            <a:srgbClr val="141B4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2" name="TextBox 8"/>
          <p:cNvSpPr txBox="1"/>
          <p:nvPr/>
        </p:nvSpPr>
        <p:spPr>
          <a:xfrm>
            <a:off x="719173" y="2377438"/>
            <a:ext cx="1426466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300" b="1">
                <a:solidFill>
                  <a:srgbClr val="FFFFFF"/>
                </a:solidFill>
              </a:defRPr>
            </a:lvl1pPr>
          </a:lstStyle>
          <a:p>
            <a:r>
              <a:t>STK</a:t>
            </a:r>
          </a:p>
        </p:txBody>
      </p:sp>
      <p:sp>
        <p:nvSpPr>
          <p:cNvPr id="443" name="TextBox 9"/>
          <p:cNvSpPr txBox="1"/>
          <p:nvPr/>
        </p:nvSpPr>
        <p:spPr>
          <a:xfrm>
            <a:off x="719173" y="2743199"/>
            <a:ext cx="142646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>
                <a:solidFill>
                  <a:srgbClr val="CADCFC"/>
                </a:solidFill>
              </a:defRPr>
            </a:lvl1pPr>
          </a:lstStyle>
          <a:p>
            <a:r>
              <a:t>SYS.1</a:t>
            </a:r>
          </a:p>
        </p:txBody>
      </p:sp>
      <p:sp>
        <p:nvSpPr>
          <p:cNvPr id="444" name="Right Arrow 10"/>
          <p:cNvSpPr/>
          <p:nvPr/>
        </p:nvSpPr>
        <p:spPr>
          <a:xfrm>
            <a:off x="2154783" y="2624327"/>
            <a:ext cx="109730" cy="1463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5" name="Rectangle 11"/>
          <p:cNvSpPr/>
          <p:nvPr/>
        </p:nvSpPr>
        <p:spPr>
          <a:xfrm>
            <a:off x="2273655" y="2240278"/>
            <a:ext cx="1426466" cy="91440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6" name="TextBox 12"/>
          <p:cNvSpPr txBox="1"/>
          <p:nvPr/>
        </p:nvSpPr>
        <p:spPr>
          <a:xfrm>
            <a:off x="2273655" y="2377438"/>
            <a:ext cx="1426466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300" b="1">
                <a:solidFill>
                  <a:srgbClr val="FFFFFF"/>
                </a:solidFill>
              </a:defRPr>
            </a:lvl1pPr>
          </a:lstStyle>
          <a:p>
            <a:r>
              <a:t>SYS</a:t>
            </a:r>
          </a:p>
        </p:txBody>
      </p:sp>
      <p:sp>
        <p:nvSpPr>
          <p:cNvPr id="447" name="TextBox 13"/>
          <p:cNvSpPr txBox="1"/>
          <p:nvPr/>
        </p:nvSpPr>
        <p:spPr>
          <a:xfrm>
            <a:off x="2273655" y="2743199"/>
            <a:ext cx="142646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>
                <a:solidFill>
                  <a:srgbClr val="CADCFC"/>
                </a:solidFill>
              </a:defRPr>
            </a:lvl1pPr>
          </a:lstStyle>
          <a:p>
            <a:r>
              <a:t>SYS.2</a:t>
            </a:r>
          </a:p>
        </p:txBody>
      </p:sp>
      <p:sp>
        <p:nvSpPr>
          <p:cNvPr id="448" name="Right Arrow 14"/>
          <p:cNvSpPr/>
          <p:nvPr/>
        </p:nvSpPr>
        <p:spPr>
          <a:xfrm>
            <a:off x="3709263" y="2624327"/>
            <a:ext cx="109730" cy="1463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9" name="Rectangle 15"/>
          <p:cNvSpPr/>
          <p:nvPr/>
        </p:nvSpPr>
        <p:spPr>
          <a:xfrm>
            <a:off x="3828134" y="2240278"/>
            <a:ext cx="1426466" cy="91440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0" name="TextBox 16"/>
          <p:cNvSpPr txBox="1"/>
          <p:nvPr/>
        </p:nvSpPr>
        <p:spPr>
          <a:xfrm>
            <a:off x="3828134" y="2377438"/>
            <a:ext cx="142646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FFFFFF"/>
                </a:solidFill>
              </a:defRPr>
            </a:pPr>
            <a:r>
              <a:t>SW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아키</a:t>
            </a:r>
          </a:p>
        </p:txBody>
      </p:sp>
      <p:sp>
        <p:nvSpPr>
          <p:cNvPr id="451" name="TextBox 17"/>
          <p:cNvSpPr txBox="1"/>
          <p:nvPr/>
        </p:nvSpPr>
        <p:spPr>
          <a:xfrm>
            <a:off x="3828134" y="2743199"/>
            <a:ext cx="142646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>
                <a:solidFill>
                  <a:srgbClr val="CADCFC"/>
                </a:solidFill>
              </a:defRPr>
            </a:lvl1pPr>
          </a:lstStyle>
          <a:p>
            <a:r>
              <a:t>SWE.2</a:t>
            </a:r>
          </a:p>
        </p:txBody>
      </p:sp>
      <p:sp>
        <p:nvSpPr>
          <p:cNvPr id="452" name="Right Arrow 18"/>
          <p:cNvSpPr/>
          <p:nvPr/>
        </p:nvSpPr>
        <p:spPr>
          <a:xfrm>
            <a:off x="5263743" y="2624327"/>
            <a:ext cx="109730" cy="1463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3" name="Rectangle 19"/>
          <p:cNvSpPr/>
          <p:nvPr/>
        </p:nvSpPr>
        <p:spPr>
          <a:xfrm>
            <a:off x="5382614" y="2240278"/>
            <a:ext cx="1426466" cy="91440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4" name="TextBox 20"/>
          <p:cNvSpPr txBox="1"/>
          <p:nvPr/>
        </p:nvSpPr>
        <p:spPr>
          <a:xfrm>
            <a:off x="5382614" y="2377438"/>
            <a:ext cx="142646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상세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/</a:t>
            </a:r>
            <a:r>
              <a:t>구현</a:t>
            </a:r>
          </a:p>
        </p:txBody>
      </p:sp>
      <p:sp>
        <p:nvSpPr>
          <p:cNvPr id="455" name="TextBox 21"/>
          <p:cNvSpPr txBox="1"/>
          <p:nvPr/>
        </p:nvSpPr>
        <p:spPr>
          <a:xfrm>
            <a:off x="5382614" y="2743199"/>
            <a:ext cx="142646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>
                <a:solidFill>
                  <a:srgbClr val="CADCFC"/>
                </a:solidFill>
              </a:defRPr>
            </a:lvl1pPr>
          </a:lstStyle>
          <a:p>
            <a:r>
              <a:t>SWE.3</a:t>
            </a:r>
          </a:p>
        </p:txBody>
      </p:sp>
      <p:sp>
        <p:nvSpPr>
          <p:cNvPr id="456" name="Right Arrow 22"/>
          <p:cNvSpPr/>
          <p:nvPr/>
        </p:nvSpPr>
        <p:spPr>
          <a:xfrm>
            <a:off x="6818223" y="2624327"/>
            <a:ext cx="109730" cy="1463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7" name="Rectangle 23"/>
          <p:cNvSpPr/>
          <p:nvPr/>
        </p:nvSpPr>
        <p:spPr>
          <a:xfrm>
            <a:off x="6937095" y="2240278"/>
            <a:ext cx="1426466" cy="914402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8" name="TextBox 24"/>
          <p:cNvSpPr txBox="1"/>
          <p:nvPr/>
        </p:nvSpPr>
        <p:spPr>
          <a:xfrm>
            <a:off x="6937095" y="2377438"/>
            <a:ext cx="142646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단위검증</a:t>
            </a:r>
          </a:p>
        </p:txBody>
      </p:sp>
      <p:sp>
        <p:nvSpPr>
          <p:cNvPr id="459" name="TextBox 25"/>
          <p:cNvSpPr txBox="1"/>
          <p:nvPr/>
        </p:nvSpPr>
        <p:spPr>
          <a:xfrm>
            <a:off x="6937095" y="2743199"/>
            <a:ext cx="142646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>
                <a:solidFill>
                  <a:srgbClr val="CADCFC"/>
                </a:solidFill>
              </a:defRPr>
            </a:lvl1pPr>
          </a:lstStyle>
          <a:p>
            <a:r>
              <a:t>SWE.4</a:t>
            </a:r>
          </a:p>
        </p:txBody>
      </p:sp>
      <p:sp>
        <p:nvSpPr>
          <p:cNvPr id="460" name="Right Arrow 26"/>
          <p:cNvSpPr/>
          <p:nvPr/>
        </p:nvSpPr>
        <p:spPr>
          <a:xfrm>
            <a:off x="8372702" y="2624327"/>
            <a:ext cx="109730" cy="1463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1" name="Rectangle 27"/>
          <p:cNvSpPr/>
          <p:nvPr/>
        </p:nvSpPr>
        <p:spPr>
          <a:xfrm>
            <a:off x="8491573" y="2240278"/>
            <a:ext cx="1426466" cy="914402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2" name="TextBox 28"/>
          <p:cNvSpPr txBox="1"/>
          <p:nvPr/>
        </p:nvSpPr>
        <p:spPr>
          <a:xfrm>
            <a:off x="8491573" y="2377438"/>
            <a:ext cx="142646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통합</a:t>
            </a:r>
          </a:p>
        </p:txBody>
      </p:sp>
      <p:sp>
        <p:nvSpPr>
          <p:cNvPr id="463" name="TextBox 29"/>
          <p:cNvSpPr txBox="1"/>
          <p:nvPr/>
        </p:nvSpPr>
        <p:spPr>
          <a:xfrm>
            <a:off x="8491573" y="2743199"/>
            <a:ext cx="142646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>
                <a:solidFill>
                  <a:srgbClr val="CADCFC"/>
                </a:solidFill>
              </a:defRPr>
            </a:lvl1pPr>
          </a:lstStyle>
          <a:p>
            <a:r>
              <a:t>SWE.5 / SYS.4</a:t>
            </a:r>
          </a:p>
        </p:txBody>
      </p:sp>
      <p:sp>
        <p:nvSpPr>
          <p:cNvPr id="464" name="Right Arrow 30"/>
          <p:cNvSpPr/>
          <p:nvPr/>
        </p:nvSpPr>
        <p:spPr>
          <a:xfrm>
            <a:off x="9927183" y="2624327"/>
            <a:ext cx="109730" cy="1463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5" name="Rectangle 31"/>
          <p:cNvSpPr/>
          <p:nvPr/>
        </p:nvSpPr>
        <p:spPr>
          <a:xfrm>
            <a:off x="10046055" y="2240278"/>
            <a:ext cx="1426466" cy="914402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6" name="TextBox 32"/>
          <p:cNvSpPr txBox="1"/>
          <p:nvPr/>
        </p:nvSpPr>
        <p:spPr>
          <a:xfrm>
            <a:off x="10046055" y="2377438"/>
            <a:ext cx="142646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자격</a:t>
            </a:r>
          </a:p>
        </p:txBody>
      </p:sp>
      <p:sp>
        <p:nvSpPr>
          <p:cNvPr id="467" name="TextBox 33"/>
          <p:cNvSpPr txBox="1"/>
          <p:nvPr/>
        </p:nvSpPr>
        <p:spPr>
          <a:xfrm>
            <a:off x="10046055" y="2743199"/>
            <a:ext cx="142646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>
                <a:solidFill>
                  <a:srgbClr val="CADCFC"/>
                </a:solidFill>
              </a:defRPr>
            </a:lvl1pPr>
          </a:lstStyle>
          <a:p>
            <a:r>
              <a:t>SWE.6 / SYS.5</a:t>
            </a:r>
          </a:p>
        </p:txBody>
      </p:sp>
      <p:sp>
        <p:nvSpPr>
          <p:cNvPr id="468" name="TextBox 34"/>
          <p:cNvSpPr txBox="1"/>
          <p:nvPr/>
        </p:nvSpPr>
        <p:spPr>
          <a:xfrm>
            <a:off x="658368" y="3428998"/>
            <a:ext cx="109728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64748B"/>
                </a:solidFill>
              </a:defRPr>
            </a:lvl1pPr>
          </a:lstStyle>
          <a:p>
            <a:r>
              <a:t>ISO 26262 SAFETY CHAIN</a:t>
            </a:r>
          </a:p>
        </p:txBody>
      </p:sp>
      <p:sp>
        <p:nvSpPr>
          <p:cNvPr id="469" name="Rectangle 35"/>
          <p:cNvSpPr/>
          <p:nvPr/>
        </p:nvSpPr>
        <p:spPr>
          <a:xfrm>
            <a:off x="742034" y="3794759"/>
            <a:ext cx="1234443" cy="640082"/>
          </a:xfrm>
          <a:prstGeom prst="rect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0" name="TextBox 36"/>
          <p:cNvSpPr txBox="1"/>
          <p:nvPr/>
        </p:nvSpPr>
        <p:spPr>
          <a:xfrm>
            <a:off x="742034" y="3977640"/>
            <a:ext cx="123444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lvl1pPr>
          </a:lstStyle>
          <a:p>
            <a:r>
              <a:t>HARA</a:t>
            </a:r>
          </a:p>
        </p:txBody>
      </p:sp>
      <p:sp>
        <p:nvSpPr>
          <p:cNvPr id="471" name="Right Arrow 37"/>
          <p:cNvSpPr/>
          <p:nvPr/>
        </p:nvSpPr>
        <p:spPr>
          <a:xfrm>
            <a:off x="1985617" y="4041647"/>
            <a:ext cx="100586" cy="1463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2" name="Rectangle 38"/>
          <p:cNvSpPr/>
          <p:nvPr/>
        </p:nvSpPr>
        <p:spPr>
          <a:xfrm>
            <a:off x="2095345" y="3794759"/>
            <a:ext cx="1234442" cy="640082"/>
          </a:xfrm>
          <a:prstGeom prst="rect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3" name="TextBox 39"/>
          <p:cNvSpPr txBox="1"/>
          <p:nvPr/>
        </p:nvSpPr>
        <p:spPr>
          <a:xfrm>
            <a:off x="2095345" y="3977640"/>
            <a:ext cx="12344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lvl1pPr>
          </a:lstStyle>
          <a:p>
            <a:r>
              <a:t>Safety Goal</a:t>
            </a:r>
          </a:p>
        </p:txBody>
      </p:sp>
      <p:sp>
        <p:nvSpPr>
          <p:cNvPr id="474" name="Right Arrow 40"/>
          <p:cNvSpPr/>
          <p:nvPr/>
        </p:nvSpPr>
        <p:spPr>
          <a:xfrm>
            <a:off x="3338931" y="4041647"/>
            <a:ext cx="100586" cy="1463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5" name="Rectangle 41"/>
          <p:cNvSpPr/>
          <p:nvPr/>
        </p:nvSpPr>
        <p:spPr>
          <a:xfrm>
            <a:off x="3448658" y="3794759"/>
            <a:ext cx="1234442" cy="64008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6" name="TextBox 42"/>
          <p:cNvSpPr txBox="1"/>
          <p:nvPr/>
        </p:nvSpPr>
        <p:spPr>
          <a:xfrm>
            <a:off x="3448658" y="3977640"/>
            <a:ext cx="12344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lvl1pPr>
          </a:lstStyle>
          <a:p>
            <a:r>
              <a:t>FSC / FSR</a:t>
            </a:r>
          </a:p>
        </p:txBody>
      </p:sp>
      <p:sp>
        <p:nvSpPr>
          <p:cNvPr id="477" name="Right Arrow 43"/>
          <p:cNvSpPr/>
          <p:nvPr/>
        </p:nvSpPr>
        <p:spPr>
          <a:xfrm>
            <a:off x="4692243" y="4041647"/>
            <a:ext cx="100586" cy="1463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8" name="Rectangle 44"/>
          <p:cNvSpPr/>
          <p:nvPr/>
        </p:nvSpPr>
        <p:spPr>
          <a:xfrm>
            <a:off x="4801970" y="3794759"/>
            <a:ext cx="1234442" cy="64008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9" name="TextBox 45"/>
          <p:cNvSpPr txBox="1"/>
          <p:nvPr/>
        </p:nvSpPr>
        <p:spPr>
          <a:xfrm>
            <a:off x="4801970" y="3977640"/>
            <a:ext cx="12344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lvl1pPr>
          </a:lstStyle>
          <a:p>
            <a:r>
              <a:t>TSR</a:t>
            </a:r>
          </a:p>
        </p:txBody>
      </p:sp>
      <p:sp>
        <p:nvSpPr>
          <p:cNvPr id="480" name="Right Arrow 46"/>
          <p:cNvSpPr/>
          <p:nvPr/>
        </p:nvSpPr>
        <p:spPr>
          <a:xfrm>
            <a:off x="6045555" y="4041647"/>
            <a:ext cx="100586" cy="1463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1" name="Rectangle 47"/>
          <p:cNvSpPr/>
          <p:nvPr/>
        </p:nvSpPr>
        <p:spPr>
          <a:xfrm>
            <a:off x="6155282" y="3794759"/>
            <a:ext cx="1234442" cy="64008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2" name="TextBox 48"/>
          <p:cNvSpPr txBox="1"/>
          <p:nvPr/>
        </p:nvSpPr>
        <p:spPr>
          <a:xfrm>
            <a:off x="6155282" y="3977640"/>
            <a:ext cx="12344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lvl1pPr>
          </a:lstStyle>
          <a:p>
            <a:r>
              <a:t>SwRS</a:t>
            </a:r>
          </a:p>
        </p:txBody>
      </p:sp>
      <p:sp>
        <p:nvSpPr>
          <p:cNvPr id="483" name="Right Arrow 49"/>
          <p:cNvSpPr/>
          <p:nvPr/>
        </p:nvSpPr>
        <p:spPr>
          <a:xfrm>
            <a:off x="7398866" y="4041647"/>
            <a:ext cx="100586" cy="1463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4" name="Rectangle 50"/>
          <p:cNvSpPr/>
          <p:nvPr/>
        </p:nvSpPr>
        <p:spPr>
          <a:xfrm>
            <a:off x="7508595" y="3794759"/>
            <a:ext cx="1234442" cy="64008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5" name="TextBox 51"/>
          <p:cNvSpPr txBox="1"/>
          <p:nvPr/>
        </p:nvSpPr>
        <p:spPr>
          <a:xfrm>
            <a:off x="7508595" y="3977640"/>
            <a:ext cx="12344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5000"/>
              </a:lnSpc>
              <a:def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설계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·</a:t>
            </a:r>
            <a:r>
              <a:t>코드</a:t>
            </a:r>
          </a:p>
        </p:txBody>
      </p:sp>
      <p:sp>
        <p:nvSpPr>
          <p:cNvPr id="486" name="Right Arrow 52"/>
          <p:cNvSpPr/>
          <p:nvPr/>
        </p:nvSpPr>
        <p:spPr>
          <a:xfrm>
            <a:off x="8752178" y="4041647"/>
            <a:ext cx="100586" cy="1463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7" name="Rectangle 53"/>
          <p:cNvSpPr/>
          <p:nvPr/>
        </p:nvSpPr>
        <p:spPr>
          <a:xfrm>
            <a:off x="8861907" y="3794759"/>
            <a:ext cx="1234442" cy="640082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8" name="TextBox 54"/>
          <p:cNvSpPr txBox="1"/>
          <p:nvPr/>
        </p:nvSpPr>
        <p:spPr>
          <a:xfrm>
            <a:off x="8861907" y="3977640"/>
            <a:ext cx="12344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테스트</a:t>
            </a:r>
          </a:p>
        </p:txBody>
      </p:sp>
      <p:sp>
        <p:nvSpPr>
          <p:cNvPr id="489" name="Right Arrow 55"/>
          <p:cNvSpPr/>
          <p:nvPr/>
        </p:nvSpPr>
        <p:spPr>
          <a:xfrm>
            <a:off x="10105490" y="4041647"/>
            <a:ext cx="100586" cy="1463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0" name="Rectangle 56"/>
          <p:cNvSpPr/>
          <p:nvPr/>
        </p:nvSpPr>
        <p:spPr>
          <a:xfrm>
            <a:off x="10215219" y="3794759"/>
            <a:ext cx="1234442" cy="640082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1" name="TextBox 57"/>
          <p:cNvSpPr txBox="1"/>
          <p:nvPr/>
        </p:nvSpPr>
        <p:spPr>
          <a:xfrm>
            <a:off x="10215219" y="3977640"/>
            <a:ext cx="12344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lvl1pPr>
          </a:lstStyle>
          <a:p>
            <a:r>
              <a:t>Safety Case</a:t>
            </a:r>
          </a:p>
        </p:txBody>
      </p:sp>
      <p:sp>
        <p:nvSpPr>
          <p:cNvPr id="492" name="TextBox 58"/>
          <p:cNvSpPr txBox="1"/>
          <p:nvPr/>
        </p:nvSpPr>
        <p:spPr>
          <a:xfrm>
            <a:off x="658368" y="4937759"/>
            <a:ext cx="10972801" cy="24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5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요구사항 파일 구조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(StrictDoc)</a:t>
            </a:r>
          </a:p>
        </p:txBody>
      </p:sp>
      <p:sp>
        <p:nvSpPr>
          <p:cNvPr id="493" name="Rectangle 59"/>
          <p:cNvSpPr/>
          <p:nvPr/>
        </p:nvSpPr>
        <p:spPr>
          <a:xfrm>
            <a:off x="472287" y="5440679"/>
            <a:ext cx="1783079" cy="777242"/>
          </a:xfrm>
          <a:prstGeom prst="rect">
            <a:avLst/>
          </a:prstGeom>
          <a:solidFill>
            <a:srgbClr val="E8EFFD"/>
          </a:solidFill>
          <a:ln w="6350"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4" name="Rectangle 60"/>
          <p:cNvSpPr/>
          <p:nvPr/>
        </p:nvSpPr>
        <p:spPr>
          <a:xfrm>
            <a:off x="472287" y="5440679"/>
            <a:ext cx="54866" cy="77724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5" name="TextBox 61"/>
          <p:cNvSpPr txBox="1"/>
          <p:nvPr/>
        </p:nvSpPr>
        <p:spPr>
          <a:xfrm>
            <a:off x="655166" y="5550408"/>
            <a:ext cx="150876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1E2761"/>
                </a:solidFill>
              </a:defRPr>
            </a:lvl1pPr>
          </a:lstStyle>
          <a:p>
            <a:r>
              <a:t>ELI.sdoc</a:t>
            </a:r>
          </a:p>
        </p:txBody>
      </p:sp>
      <p:sp>
        <p:nvSpPr>
          <p:cNvPr id="496" name="TextBox 62"/>
          <p:cNvSpPr txBox="1"/>
          <p:nvPr/>
        </p:nvSpPr>
        <p:spPr>
          <a:xfrm>
            <a:off x="655166" y="5852159"/>
            <a:ext cx="15087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4748B"/>
                </a:solidFill>
              </a:defRPr>
            </a:lvl1pPr>
          </a:lstStyle>
          <a:p>
            <a:r>
              <a:t>Elicitation</a:t>
            </a:r>
          </a:p>
        </p:txBody>
      </p:sp>
      <p:sp>
        <p:nvSpPr>
          <p:cNvPr id="497" name="Rectangle 63"/>
          <p:cNvSpPr/>
          <p:nvPr/>
        </p:nvSpPr>
        <p:spPr>
          <a:xfrm>
            <a:off x="2365094" y="5440679"/>
            <a:ext cx="1783080" cy="777242"/>
          </a:xfrm>
          <a:prstGeom prst="rect">
            <a:avLst/>
          </a:prstGeom>
          <a:solidFill>
            <a:srgbClr val="E8EFFD"/>
          </a:solidFill>
          <a:ln w="6350"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8" name="Rectangle 64"/>
          <p:cNvSpPr/>
          <p:nvPr/>
        </p:nvSpPr>
        <p:spPr>
          <a:xfrm>
            <a:off x="2365094" y="5440679"/>
            <a:ext cx="54866" cy="77724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9" name="TextBox 65"/>
          <p:cNvSpPr txBox="1"/>
          <p:nvPr/>
        </p:nvSpPr>
        <p:spPr>
          <a:xfrm>
            <a:off x="2547975" y="5550408"/>
            <a:ext cx="150876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1E2761"/>
                </a:solidFill>
              </a:defRPr>
            </a:lvl1pPr>
          </a:lstStyle>
          <a:p>
            <a:r>
              <a:t>STK.sdoc</a:t>
            </a:r>
          </a:p>
        </p:txBody>
      </p:sp>
      <p:sp>
        <p:nvSpPr>
          <p:cNvPr id="500" name="TextBox 66"/>
          <p:cNvSpPr txBox="1"/>
          <p:nvPr/>
        </p:nvSpPr>
        <p:spPr>
          <a:xfrm>
            <a:off x="2547975" y="5852159"/>
            <a:ext cx="15087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4748B"/>
                </a:solidFill>
              </a:defRPr>
            </a:lvl1pPr>
          </a:lstStyle>
          <a:p>
            <a:r>
              <a:t>Stakeholder</a:t>
            </a:r>
          </a:p>
        </p:txBody>
      </p:sp>
      <p:sp>
        <p:nvSpPr>
          <p:cNvPr id="501" name="Rectangle 67"/>
          <p:cNvSpPr/>
          <p:nvPr/>
        </p:nvSpPr>
        <p:spPr>
          <a:xfrm>
            <a:off x="4257902" y="5440679"/>
            <a:ext cx="1783080" cy="777242"/>
          </a:xfrm>
          <a:prstGeom prst="rect">
            <a:avLst/>
          </a:prstGeom>
          <a:solidFill>
            <a:srgbClr val="E8EFFD"/>
          </a:solidFill>
          <a:ln w="6350"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2" name="Rectangle 68"/>
          <p:cNvSpPr/>
          <p:nvPr/>
        </p:nvSpPr>
        <p:spPr>
          <a:xfrm>
            <a:off x="4257902" y="5440679"/>
            <a:ext cx="54866" cy="77724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3" name="TextBox 69"/>
          <p:cNvSpPr txBox="1"/>
          <p:nvPr/>
        </p:nvSpPr>
        <p:spPr>
          <a:xfrm>
            <a:off x="4440782" y="5550408"/>
            <a:ext cx="150876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1E2761"/>
                </a:solidFill>
              </a:defRPr>
            </a:lvl1pPr>
          </a:lstStyle>
          <a:p>
            <a:r>
              <a:t>SYS.sdoc</a:t>
            </a:r>
          </a:p>
        </p:txBody>
      </p:sp>
      <p:sp>
        <p:nvSpPr>
          <p:cNvPr id="504" name="TextBox 70"/>
          <p:cNvSpPr txBox="1"/>
          <p:nvPr/>
        </p:nvSpPr>
        <p:spPr>
          <a:xfrm>
            <a:off x="4440782" y="5852159"/>
            <a:ext cx="15087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4748B"/>
                </a:solidFill>
              </a:defRPr>
            </a:lvl1pPr>
          </a:lstStyle>
          <a:p>
            <a:r>
              <a:t>System</a:t>
            </a:r>
          </a:p>
        </p:txBody>
      </p:sp>
      <p:sp>
        <p:nvSpPr>
          <p:cNvPr id="505" name="Rectangle 71"/>
          <p:cNvSpPr/>
          <p:nvPr/>
        </p:nvSpPr>
        <p:spPr>
          <a:xfrm>
            <a:off x="6150711" y="5440679"/>
            <a:ext cx="1783079" cy="777242"/>
          </a:xfrm>
          <a:prstGeom prst="rect">
            <a:avLst/>
          </a:prstGeom>
          <a:solidFill>
            <a:srgbClr val="E8EFFD"/>
          </a:solidFill>
          <a:ln w="6350"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6" name="Rectangle 72"/>
          <p:cNvSpPr/>
          <p:nvPr/>
        </p:nvSpPr>
        <p:spPr>
          <a:xfrm>
            <a:off x="6150711" y="5440679"/>
            <a:ext cx="54864" cy="77724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7" name="TextBox 73"/>
          <p:cNvSpPr txBox="1"/>
          <p:nvPr/>
        </p:nvSpPr>
        <p:spPr>
          <a:xfrm>
            <a:off x="6333590" y="5550408"/>
            <a:ext cx="150876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1E2761"/>
                </a:solidFill>
              </a:defRPr>
            </a:lvl1pPr>
          </a:lstStyle>
          <a:p>
            <a:r>
              <a:t>SWR.sdoc</a:t>
            </a:r>
          </a:p>
        </p:txBody>
      </p:sp>
      <p:sp>
        <p:nvSpPr>
          <p:cNvPr id="508" name="TextBox 74"/>
          <p:cNvSpPr txBox="1"/>
          <p:nvPr/>
        </p:nvSpPr>
        <p:spPr>
          <a:xfrm>
            <a:off x="6333590" y="5852159"/>
            <a:ext cx="15087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4748B"/>
                </a:solidFill>
              </a:defRPr>
            </a:lvl1pPr>
          </a:lstStyle>
          <a:p>
            <a:r>
              <a:t>Software</a:t>
            </a:r>
          </a:p>
        </p:txBody>
      </p:sp>
      <p:sp>
        <p:nvSpPr>
          <p:cNvPr id="509" name="Rectangle 75"/>
          <p:cNvSpPr/>
          <p:nvPr/>
        </p:nvSpPr>
        <p:spPr>
          <a:xfrm>
            <a:off x="8043519" y="5440679"/>
            <a:ext cx="1783080" cy="777242"/>
          </a:xfrm>
          <a:prstGeom prst="rect">
            <a:avLst/>
          </a:prstGeom>
          <a:solidFill>
            <a:srgbClr val="E8EFFD"/>
          </a:solidFill>
          <a:ln w="6350"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0" name="Rectangle 76"/>
          <p:cNvSpPr/>
          <p:nvPr/>
        </p:nvSpPr>
        <p:spPr>
          <a:xfrm>
            <a:off x="8043519" y="5440679"/>
            <a:ext cx="54866" cy="77724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1" name="TextBox 77"/>
          <p:cNvSpPr txBox="1"/>
          <p:nvPr/>
        </p:nvSpPr>
        <p:spPr>
          <a:xfrm>
            <a:off x="8226397" y="5550408"/>
            <a:ext cx="150876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1E2761"/>
                </a:solidFill>
              </a:defRPr>
            </a:lvl1pPr>
          </a:lstStyle>
          <a:p>
            <a:r>
              <a:t>HWR.sdoc</a:t>
            </a:r>
          </a:p>
        </p:txBody>
      </p:sp>
      <p:sp>
        <p:nvSpPr>
          <p:cNvPr id="512" name="TextBox 78"/>
          <p:cNvSpPr txBox="1"/>
          <p:nvPr/>
        </p:nvSpPr>
        <p:spPr>
          <a:xfrm>
            <a:off x="8226397" y="5852159"/>
            <a:ext cx="15087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4748B"/>
                </a:solidFill>
              </a:defRPr>
            </a:lvl1pPr>
          </a:lstStyle>
          <a:p>
            <a:r>
              <a:t>Hardware</a:t>
            </a:r>
          </a:p>
        </p:txBody>
      </p:sp>
      <p:sp>
        <p:nvSpPr>
          <p:cNvPr id="513" name="Rectangle 79"/>
          <p:cNvSpPr/>
          <p:nvPr/>
        </p:nvSpPr>
        <p:spPr>
          <a:xfrm>
            <a:off x="9936326" y="5440679"/>
            <a:ext cx="1783080" cy="777242"/>
          </a:xfrm>
          <a:prstGeom prst="rect">
            <a:avLst/>
          </a:prstGeom>
          <a:solidFill>
            <a:srgbClr val="E8EFFD"/>
          </a:solidFill>
          <a:ln w="6350">
            <a:solidFill>
              <a:srgbClr val="E2E8F0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4" name="Rectangle 80"/>
          <p:cNvSpPr/>
          <p:nvPr/>
        </p:nvSpPr>
        <p:spPr>
          <a:xfrm>
            <a:off x="9936326" y="5440679"/>
            <a:ext cx="54866" cy="77724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5" name="TextBox 81"/>
          <p:cNvSpPr txBox="1"/>
          <p:nvPr/>
        </p:nvSpPr>
        <p:spPr>
          <a:xfrm>
            <a:off x="10119207" y="5550408"/>
            <a:ext cx="150876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1E2761"/>
                </a:solidFill>
              </a:defRPr>
            </a:lvl1pPr>
          </a:lstStyle>
          <a:p>
            <a:r>
              <a:t>SAF.sdoc</a:t>
            </a:r>
          </a:p>
        </p:txBody>
      </p:sp>
      <p:sp>
        <p:nvSpPr>
          <p:cNvPr id="516" name="TextBox 82"/>
          <p:cNvSpPr txBox="1"/>
          <p:nvPr/>
        </p:nvSpPr>
        <p:spPr>
          <a:xfrm>
            <a:off x="10119207" y="5852159"/>
            <a:ext cx="15087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64748B"/>
                </a:solidFill>
              </a:defRPr>
            </a:lvl1pPr>
          </a:lstStyle>
          <a:p>
            <a:r>
              <a:t>Safety</a:t>
            </a:r>
          </a:p>
        </p:txBody>
      </p:sp>
      <p:sp>
        <p:nvSpPr>
          <p:cNvPr id="517" name="TextBox 83"/>
          <p:cNvSpPr txBox="1"/>
          <p:nvPr/>
        </p:nvSpPr>
        <p:spPr>
          <a:xfrm>
            <a:off x="457200" y="6537959"/>
            <a:ext cx="5486400" cy="147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900">
                <a:solidFill>
                  <a:srgbClr val="64748B"/>
                </a:solidFill>
              </a:defRPr>
            </a:pPr>
            <a:r>
              <a:t>SeSAC · ACC Project ·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</a:p>
        </p:txBody>
      </p:sp>
      <p:sp>
        <p:nvSpPr>
          <p:cNvPr id="518" name="TextBox 84"/>
          <p:cNvSpPr txBox="1"/>
          <p:nvPr/>
        </p:nvSpPr>
        <p:spPr>
          <a:xfrm>
            <a:off x="11338559" y="6537959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5000"/>
              </a:lnSpc>
              <a:defRPr sz="900">
                <a:solidFill>
                  <a:srgbClr val="64748B"/>
                </a:solidFill>
              </a:defRPr>
            </a:lvl1pPr>
          </a:lstStyle>
          <a:p>
            <a:r>
              <a:t>07 / 08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41B4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1" name="Rectangle 2"/>
          <p:cNvSpPr/>
          <p:nvPr/>
        </p:nvSpPr>
        <p:spPr>
          <a:xfrm>
            <a:off x="7498077" y="0"/>
            <a:ext cx="4693617" cy="685800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2" name="Rectangle 3"/>
          <p:cNvSpPr/>
          <p:nvPr/>
        </p:nvSpPr>
        <p:spPr>
          <a:xfrm>
            <a:off x="7498077" y="3200399"/>
            <a:ext cx="109730" cy="548643"/>
          </a:xfrm>
          <a:prstGeom prst="rect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3" name="TextBox 4"/>
          <p:cNvSpPr txBox="1"/>
          <p:nvPr/>
        </p:nvSpPr>
        <p:spPr>
          <a:xfrm>
            <a:off x="731518" y="1371599"/>
            <a:ext cx="548640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 b="1">
                <a:solidFill>
                  <a:srgbClr val="CADCFC"/>
                </a:solidFill>
              </a:defRPr>
            </a:lvl1pPr>
          </a:lstStyle>
          <a:p>
            <a:r>
              <a:t>SeSAC · ACC PROJECT</a:t>
            </a:r>
          </a:p>
        </p:txBody>
      </p:sp>
      <p:sp>
        <p:nvSpPr>
          <p:cNvPr id="524" name="TextBox 5"/>
          <p:cNvSpPr txBox="1"/>
          <p:nvPr/>
        </p:nvSpPr>
        <p:spPr>
          <a:xfrm>
            <a:off x="731519" y="1828799"/>
            <a:ext cx="7315201" cy="699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5400" b="1">
                <a:solidFill>
                  <a:srgbClr val="FFFFFF"/>
                </a:solidFill>
              </a:defRPr>
            </a:lvl1pPr>
          </a:lstStyle>
          <a:p>
            <a:r>
              <a:t>Thank you.</a:t>
            </a:r>
          </a:p>
        </p:txBody>
      </p:sp>
      <p:sp>
        <p:nvSpPr>
          <p:cNvPr id="525" name="Rectangle 6"/>
          <p:cNvSpPr/>
          <p:nvPr/>
        </p:nvSpPr>
        <p:spPr>
          <a:xfrm>
            <a:off x="731518" y="2971799"/>
            <a:ext cx="1371603" cy="45723"/>
          </a:xfrm>
          <a:prstGeom prst="rect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6" name="TextBox 7"/>
          <p:cNvSpPr txBox="1"/>
          <p:nvPr/>
        </p:nvSpPr>
        <p:spPr>
          <a:xfrm>
            <a:off x="731519" y="3154678"/>
            <a:ext cx="731520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2000" i="1">
                <a:solidFill>
                  <a:srgbClr val="CADCFC"/>
                </a:solidFill>
              </a:defRPr>
            </a:lvl1pPr>
          </a:lstStyle>
          <a:p>
            <a:r>
              <a:t>Questions &amp; Discussion</a:t>
            </a:r>
          </a:p>
        </p:txBody>
      </p:sp>
      <p:sp>
        <p:nvSpPr>
          <p:cNvPr id="527" name="TextBox 8"/>
          <p:cNvSpPr txBox="1"/>
          <p:nvPr/>
        </p:nvSpPr>
        <p:spPr>
          <a:xfrm>
            <a:off x="731518" y="4754879"/>
            <a:ext cx="548640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000" b="1">
                <a:solidFill>
                  <a:srgbClr val="CADCFC"/>
                </a:solidFill>
              </a:defRPr>
            </a:lvl1pPr>
          </a:lstStyle>
          <a:p>
            <a:r>
              <a:t>REFERENCES</a:t>
            </a:r>
          </a:p>
        </p:txBody>
      </p:sp>
      <p:sp>
        <p:nvSpPr>
          <p:cNvPr id="528" name="TextBox 9"/>
          <p:cNvSpPr txBox="1"/>
          <p:nvPr/>
        </p:nvSpPr>
        <p:spPr>
          <a:xfrm>
            <a:off x="731518" y="5029198"/>
            <a:ext cx="6400803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>
                <a:solidFill>
                  <a:srgbClr val="FFFFFF"/>
                </a:solidFill>
              </a:defRPr>
            </a:pPr>
            <a:r>
              <a:t>· ACC-docs · StrictDoc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요구사항 </a:t>
            </a:r>
            <a:r>
              <a:t>(.sdoc)</a:t>
            </a:r>
          </a:p>
        </p:txBody>
      </p:sp>
      <p:sp>
        <p:nvSpPr>
          <p:cNvPr id="529" name="TextBox 10"/>
          <p:cNvSpPr txBox="1"/>
          <p:nvPr/>
        </p:nvSpPr>
        <p:spPr>
          <a:xfrm>
            <a:off x="731518" y="5349240"/>
            <a:ext cx="640080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FFFFFF"/>
                </a:solidFill>
              </a:defRPr>
            </a:lvl1pPr>
          </a:lstStyle>
          <a:p>
            <a:r>
              <a:t>· ASPICE 4.0 · ISO 26262:2018</a:t>
            </a:r>
          </a:p>
        </p:txBody>
      </p:sp>
      <p:sp>
        <p:nvSpPr>
          <p:cNvPr id="530" name="TextBox 11"/>
          <p:cNvSpPr txBox="1"/>
          <p:nvPr/>
        </p:nvSpPr>
        <p:spPr>
          <a:xfrm>
            <a:off x="731518" y="5669279"/>
            <a:ext cx="640080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FFFFFF"/>
                </a:solidFill>
              </a:defRPr>
            </a:lvl1pPr>
          </a:lstStyle>
          <a:p>
            <a:r>
              <a:t>· AUTOSAR · MATLAB / Simulink MBD</a:t>
            </a:r>
          </a:p>
        </p:txBody>
      </p:sp>
      <p:sp>
        <p:nvSpPr>
          <p:cNvPr id="531" name="TextBox 12"/>
          <p:cNvSpPr txBox="1"/>
          <p:nvPr/>
        </p:nvSpPr>
        <p:spPr>
          <a:xfrm>
            <a:off x="7863840" y="1371599"/>
            <a:ext cx="41148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 b="1">
                <a:solidFill>
                  <a:srgbClr val="CADCFC"/>
                </a:solidFill>
              </a:defRPr>
            </a:lvl1pPr>
          </a:lstStyle>
          <a:p>
            <a:r>
              <a:t>KEY TAKEAWAY</a:t>
            </a:r>
          </a:p>
        </p:txBody>
      </p:sp>
      <p:sp>
        <p:nvSpPr>
          <p:cNvPr id="532" name="TextBox 13"/>
          <p:cNvSpPr txBox="1"/>
          <p:nvPr/>
        </p:nvSpPr>
        <p:spPr>
          <a:xfrm>
            <a:off x="7863840" y="1737360"/>
            <a:ext cx="4114802" cy="349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2200" b="1">
                <a:solidFill>
                  <a:srgbClr val="FFFFFF"/>
                </a:solidFill>
              </a:defRPr>
            </a:pPr>
            <a:r>
              <a:t>V-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모델 전체 체인</a:t>
            </a:r>
          </a:p>
        </p:txBody>
      </p:sp>
      <p:sp>
        <p:nvSpPr>
          <p:cNvPr id="533" name="TextBox 14"/>
          <p:cNvSpPr txBox="1"/>
          <p:nvPr/>
        </p:nvSpPr>
        <p:spPr>
          <a:xfrm>
            <a:off x="7863840" y="2148838"/>
            <a:ext cx="4114802" cy="349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요구사항 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→ </a:t>
            </a:r>
            <a:r>
              <a:t>검증</a:t>
            </a:r>
          </a:p>
        </p:txBody>
      </p:sp>
      <p:sp>
        <p:nvSpPr>
          <p:cNvPr id="534" name="TextBox 15"/>
          <p:cNvSpPr txBox="1"/>
          <p:nvPr/>
        </p:nvSpPr>
        <p:spPr>
          <a:xfrm>
            <a:off x="7863840" y="2606038"/>
            <a:ext cx="4114802" cy="349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2200" b="1">
                <a:solidFill>
                  <a:srgbClr val="CADCF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추적성 확보</a:t>
            </a:r>
          </a:p>
        </p:txBody>
      </p:sp>
      <p:sp>
        <p:nvSpPr>
          <p:cNvPr id="535" name="Oval 16"/>
          <p:cNvSpPr/>
          <p:nvPr/>
        </p:nvSpPr>
        <p:spPr>
          <a:xfrm>
            <a:off x="7863840" y="3858767"/>
            <a:ext cx="146307" cy="146307"/>
          </a:xfrm>
          <a:prstGeom prst="ellipse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6" name="TextBox 17"/>
          <p:cNvSpPr txBox="1"/>
          <p:nvPr/>
        </p:nvSpPr>
        <p:spPr>
          <a:xfrm>
            <a:off x="8138159" y="3749037"/>
            <a:ext cx="384048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>
                <a:solidFill>
                  <a:srgbClr val="FFFFFF"/>
                </a:solidFill>
              </a:defRPr>
            </a:pPr>
            <a:r>
              <a:t>AUTOSAR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기반 </a:t>
            </a:r>
            <a:r>
              <a:t>ACC SW</a:t>
            </a:r>
          </a:p>
        </p:txBody>
      </p:sp>
      <p:sp>
        <p:nvSpPr>
          <p:cNvPr id="537" name="Oval 18"/>
          <p:cNvSpPr/>
          <p:nvPr/>
        </p:nvSpPr>
        <p:spPr>
          <a:xfrm>
            <a:off x="7863840" y="4242815"/>
            <a:ext cx="146307" cy="146307"/>
          </a:xfrm>
          <a:prstGeom prst="ellipse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8" name="TextBox 19"/>
          <p:cNvSpPr txBox="1"/>
          <p:nvPr/>
        </p:nvSpPr>
        <p:spPr>
          <a:xfrm>
            <a:off x="8138159" y="4133086"/>
            <a:ext cx="38404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>
                <a:solidFill>
                  <a:srgbClr val="FFFFFF"/>
                </a:solidFill>
              </a:defRPr>
            </a:pPr>
            <a:r>
              <a:t>ASPICE + ISO 26262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준수</a:t>
            </a:r>
          </a:p>
        </p:txBody>
      </p:sp>
      <p:sp>
        <p:nvSpPr>
          <p:cNvPr id="539" name="Oval 20"/>
          <p:cNvSpPr/>
          <p:nvPr/>
        </p:nvSpPr>
        <p:spPr>
          <a:xfrm>
            <a:off x="7863840" y="4626864"/>
            <a:ext cx="146307" cy="146307"/>
          </a:xfrm>
          <a:prstGeom prst="ellipse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0" name="TextBox 21"/>
          <p:cNvSpPr txBox="1"/>
          <p:nvPr/>
        </p:nvSpPr>
        <p:spPr>
          <a:xfrm>
            <a:off x="8138159" y="4517135"/>
            <a:ext cx="384048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>
                <a:solidFill>
                  <a:srgbClr val="FFFFFF"/>
                </a:solidFill>
              </a:defRPr>
            </a:pPr>
            <a:r>
              <a:t>StrictDoc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요구사항 관리</a:t>
            </a:r>
          </a:p>
        </p:txBody>
      </p:sp>
      <p:sp>
        <p:nvSpPr>
          <p:cNvPr id="541" name="Oval 22"/>
          <p:cNvSpPr/>
          <p:nvPr/>
        </p:nvSpPr>
        <p:spPr>
          <a:xfrm>
            <a:off x="7863840" y="5010910"/>
            <a:ext cx="146307" cy="146307"/>
          </a:xfrm>
          <a:prstGeom prst="ellipse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2" name="TextBox 23"/>
          <p:cNvSpPr txBox="1"/>
          <p:nvPr/>
        </p:nvSpPr>
        <p:spPr>
          <a:xfrm>
            <a:off x="8138159" y="4901183"/>
            <a:ext cx="3840482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r>
              <a:t>운전자 오버라이드 우선</a:t>
            </a:r>
          </a:p>
        </p:txBody>
      </p:sp>
      <p:sp>
        <p:nvSpPr>
          <p:cNvPr id="543" name="Oval 24"/>
          <p:cNvSpPr/>
          <p:nvPr/>
        </p:nvSpPr>
        <p:spPr>
          <a:xfrm>
            <a:off x="7863840" y="5394959"/>
            <a:ext cx="146307" cy="146307"/>
          </a:xfrm>
          <a:prstGeom prst="ellipse">
            <a:avLst/>
          </a:prstGeom>
          <a:solidFill>
            <a:srgbClr val="F9616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4" name="TextBox 25"/>
          <p:cNvSpPr txBox="1"/>
          <p:nvPr/>
        </p:nvSpPr>
        <p:spPr>
          <a:xfrm>
            <a:off x="8138159" y="5285230"/>
            <a:ext cx="38404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sz="1300">
                <a:solidFill>
                  <a:srgbClr val="FFFFFF"/>
                </a:solidFill>
              </a:defRPr>
            </a:pPr>
            <a:r>
              <a:t>FAULT Safe · AEB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제외</a:t>
            </a:r>
          </a:p>
        </p:txBody>
      </p:sp>
      <p:sp>
        <p:nvSpPr>
          <p:cNvPr id="545" name="TextBox 26"/>
          <p:cNvSpPr txBox="1"/>
          <p:nvPr/>
        </p:nvSpPr>
        <p:spPr>
          <a:xfrm>
            <a:off x="7863840" y="6355079"/>
            <a:ext cx="41148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CADCFC"/>
                </a:solidFill>
              </a:defRPr>
            </a:lvl1pPr>
          </a:lstStyle>
          <a:p>
            <a:r>
              <a:t>2026.04 · v1.0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1537</Words>
  <Application>Microsoft Office PowerPoint</Application>
  <PresentationFormat>와이드스크린</PresentationFormat>
  <Paragraphs>376</Paragraphs>
  <Slides>12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유림 김</cp:lastModifiedBy>
  <cp:revision>1</cp:revision>
  <dcterms:modified xsi:type="dcterms:W3CDTF">2026-04-28T00:52:58Z</dcterms:modified>
</cp:coreProperties>
</file>
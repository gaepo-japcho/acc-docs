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8677B6">
              <a:alpha val="50000"/>
            </a:srgbClr>
          </a:solidFill>
          <a:ln w="12700">
            <a:solidFill>
              <a:srgbClr val="8677B6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657600"/>
            <a:ext cx="3474720" cy="3474720"/>
          </a:xfrm>
          <a:prstGeom prst="ellipse">
            <a:avLst/>
          </a:prstGeom>
          <a:solidFill>
            <a:srgbClr val="8677B6">
              <a:alpha val="65000"/>
            </a:srgbClr>
          </a:solidFill>
          <a:ln w="12700">
            <a:solidFill>
              <a:srgbClr val="8677B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33C1DA">
              <a:alpha val="40000"/>
            </a:srgbClr>
          </a:solidFill>
          <a:ln w="12700">
            <a:solidFill>
              <a:srgbClr val="33C1D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9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515600" y="5852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500055" y="2743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00055" y="274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3C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새싹 임베디드 기반 SW 프로젝트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Adaptive Cruise Control (ACC)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1/10 RC카 기반 ACC 시스템 — 중간 발표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2286000" cy="0"/>
          </a:xfrm>
          <a:prstGeom prst="line">
            <a:avLst/>
          </a:prstGeom>
          <a:noFill/>
          <a:ln w="38100">
            <a:solidFill>
              <a:srgbClr val="33C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943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ACC Team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C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 JongBeum · Kim Yurim · BAE Jungwoo · dahee · Wis3754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76895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C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2026.04 · 중간 발표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0" y="1600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965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정의 · 적용 표준 · 시스템 핵심 메트릭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331720"/>
            <a:ext cx="7589520" cy="0"/>
          </a:xfrm>
          <a:prstGeom prst="line">
            <a:avLst/>
          </a:prstGeom>
          <a:noFill/>
          <a:ln w="6350">
            <a:solidFill>
              <a:srgbClr val="D8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4864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5인 팀 · git log 기반 실제 기여 매트릭스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3200400"/>
            <a:ext cx="7589520" cy="0"/>
          </a:xfrm>
          <a:prstGeom prst="line">
            <a:avLst/>
          </a:prstGeom>
          <a:noFill/>
          <a:ln w="6350">
            <a:solidFill>
              <a:srgbClr val="D8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486400" y="3337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ASPICE V-모델 + ISO 26262 안전 체인 · 4주 일정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4069080"/>
            <a:ext cx="7589520" cy="0"/>
          </a:xfrm>
          <a:prstGeom prst="line">
            <a:avLst/>
          </a:prstGeom>
          <a:noFill/>
          <a:ln w="6350">
            <a:solidFill>
              <a:srgbClr val="D8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4160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486400" y="4206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· CAN/DBC · AUTOSAR · 노드별 구현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4937760"/>
            <a:ext cx="7589520" cy="0"/>
          </a:xfrm>
          <a:prstGeom prst="line">
            <a:avLst/>
          </a:prstGeom>
          <a:noFill/>
          <a:ln w="6350">
            <a:solidFill>
              <a:srgbClr val="D8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5029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486400" y="5074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0" y="5440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 · 어려웠던 점 · 향후 과제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" y="1920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31520" y="2468880"/>
            <a:ext cx="1371600" cy="0"/>
          </a:xfrm>
          <a:prstGeom prst="line">
            <a:avLst/>
          </a:prstGeom>
          <a:noFill/>
          <a:ln w="38100">
            <a:solidFill>
              <a:srgbClr val="8677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내용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3728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168" y="1965960"/>
            <a:ext cx="1920240" cy="457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728" y="2194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0888" y="3154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1/10 스케일 RC카 기반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 시스템 — 양산 V-모델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사이클 학습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5168" y="4709160"/>
            <a:ext cx="1920240" cy="9144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04008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EBE9F3"/>
          </a:solidFill>
          <a:ln w="12700">
            <a:solidFill>
              <a:srgbClr val="EB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95448" y="1965960"/>
            <a:ext cx="1920240" cy="4572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4008" y="2194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41168" y="3154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전방차 인식 + 종방향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속도/거리 자동 제어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5-state FSM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95448" y="4709160"/>
            <a:ext cx="1920240" cy="9144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4288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5728" y="1965960"/>
            <a:ext cx="1920240" cy="457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4288" y="2194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장비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81448" y="3154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MPC5606B · Arduino x2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5 · LiDAR · Camera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L298N · MCP2515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35728" y="4709160"/>
            <a:ext cx="1920240" cy="9144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84568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EBE9F3"/>
          </a:solidFill>
          <a:ln w="12700">
            <a:solidFill>
              <a:srgbClr val="EBE9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76008" y="1965960"/>
            <a:ext cx="1920240" cy="457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4568" y="2194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21728" y="3154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ASPICE 4.0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26262:2018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Classic 4.x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76008" y="4709160"/>
            <a:ext cx="1920240" cy="9144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24848" y="1828800"/>
            <a:ext cx="2103120" cy="3108960"/>
          </a:xfrm>
          <a:prstGeom prst="roundRect">
            <a:avLst>
              <a:gd name="adj" fmla="val 5217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16288" y="1965960"/>
            <a:ext cx="1920240" cy="4572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24848" y="2194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62008" y="3154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양산 자동차 SW 프로세스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 + 추적성 사슬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 자산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16288" y="4709160"/>
            <a:ext cx="1920240" cy="9144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86688" y="5212080"/>
            <a:ext cx="457200" cy="457200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86688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26968" y="5212080"/>
            <a:ext cx="457200" cy="457200"/>
          </a:xfrm>
          <a:prstGeom prst="ellipse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26968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867248" y="5212080"/>
            <a:ext cx="457200" cy="457200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67248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07528" y="5212080"/>
            <a:ext cx="457200" cy="457200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07528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347808" y="5212080"/>
            <a:ext cx="457200" cy="457200"/>
          </a:xfrm>
          <a:prstGeom prst="ellipse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47808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AEB · LKAS는 범위 외 — 종방향 ACC만. STK → SYS → SWR → AUTOSAR → CAN → 코드 → 테스트 추적 사슬을 끊김 없이 유지.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 — 적용 표준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ASPICE 4.0 + ISO 26262:2018 통합 적용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828800"/>
            <a:ext cx="5486400" cy="54864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Automotive SPICE 4.0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2514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"V-모델 체인 — 어떻게 만들었나"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260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SYS.1~5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2907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요구 / 아키텍처 / 통합 / 자격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4747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747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SWE.1~6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3456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요구 / 아키텍처 / 설계+구현 / 단위 / 통합 / 자격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233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HW.1~4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경량 적용 (HSI 위주)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720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SUP.1/8/9/10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40280" y="4553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· 형상 · 문제 · 변경 (전체 적용)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120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1206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MAN.3 / VAL.1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5102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관리 / 밸리데이션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9632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BE9F3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1828800"/>
            <a:ext cx="5486400" cy="54864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26262:2018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6792" y="2514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"안전 논증 — 안전이 입증됐나"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36792" y="29260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292608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54112" y="29077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관리 (경량 적용)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36792" y="34747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34747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54112" y="3456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컨셉 단계 — HARA · SafetyGoals · FSC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36792" y="40233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40233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54112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TSR + HSI (HW 설계 제외)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36792" y="45720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45720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54112" y="4553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개발 (전체 적용, ASPICE SWE와 통합)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36792" y="51206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6792" y="512064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8/9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54112" y="51023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/ ASIL Decomposition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6080760"/>
            <a:ext cx="11183112" cy="3657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운영: ASPICE와 ISO 26262가 동일 주제를 다루면 하나의 산출물로 통합 (SyRS = SYS.2 + Part 4 / SW Arch = SWE.2 + Part 6 + Part 9)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 — 핵심 메트릭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프로젝트를 한눈에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828800"/>
            <a:ext cx="91440" cy="169164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3152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규모 (명)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· SW · HW · QA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1828800"/>
            <a:ext cx="91440" cy="169164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7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3+2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356616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노드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ECU · Arduino x2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1828800"/>
            <a:ext cx="91440" cy="169164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40080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메시지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DBC v3.3 · 10/20/50ms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06840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0" y="1828800"/>
            <a:ext cx="91440" cy="169164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923544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SWC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3108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Cascaded · 14+ Runnable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657600"/>
            <a:ext cx="91440" cy="169164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794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7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73152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요구사항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SWR001 ~ SWR034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3657600"/>
            <a:ext cx="91440" cy="169164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3794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ASIL B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356616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최상위 안전 등급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6616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26262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72200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3657600"/>
            <a:ext cx="91440" cy="169164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794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en-US" sz="3800" dirty="0"/>
          </a:p>
        </p:txBody>
      </p:sp>
      <p:sp>
        <p:nvSpPr>
          <p:cNvPr id="49" name="Text 47"/>
          <p:cNvSpPr/>
          <p:nvPr/>
        </p:nvSpPr>
        <p:spPr>
          <a:xfrm>
            <a:off x="640080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commit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080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git repos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06840" y="36576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06840" y="3657600"/>
            <a:ext cx="91440" cy="169164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35440" y="3794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7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~4/30</a:t>
            </a:r>
            <a:endParaRPr lang="en-US" sz="3800" dirty="0"/>
          </a:p>
        </p:txBody>
      </p:sp>
      <p:sp>
        <p:nvSpPr>
          <p:cNvPr id="54" name="Text 52"/>
          <p:cNvSpPr/>
          <p:nvPr/>
        </p:nvSpPr>
        <p:spPr>
          <a:xfrm>
            <a:off x="923544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23544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 2026.04.30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02920" y="5852160"/>
            <a:ext cx="11183112" cy="502920"/>
          </a:xfrm>
          <a:prstGeom prst="roundRect">
            <a:avLst>
              <a:gd name="adj" fmla="val 10909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STK → SYS → SWR → AUTOSAR SWC → 코드 → 테스트 — 추적성 사슬이 끊기지 않는 양산 V-모델 한 사이클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프로젝트 팀 구성 및 역할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계획된 역할 (ASPICE + ISO 26262 독립성 원칙 I1)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402336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4050792"/>
                <a:gridCol w="36576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책임 (프로세스)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산출물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· 시스템/PM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엔지니어 / PM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SYS.1~5, MAN.3/5/6, HARA, Safety Goal, FSC, TSR, 일정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STK.sdoc, SyRS, P3-*, P4-TSR, MAN.3 계획서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· SW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 엔지니어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SWE.1~6, AUTOSAR/베어메탈 구현, 단위/통합/자격 테스트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SwRS, SW Arch, SWC .slx, MBD, 테스트 보고서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· HW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 엔지니어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HW.1~4 (경량), HSI, 보드 브링업, 시스템 통합 지원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 BOM, P4-HSI, 핀맵, 통합 시나리오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 · QA/Safety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/ 안전 엔지니어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SUP.1/8/9/10, Safety Plan, Safety Case, Confirmation Review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P2-SafetyPlan, P2-SafetyCase, QA 감사 기록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" y="5989320"/>
            <a:ext cx="11183112" cy="411480"/>
          </a:xfrm>
          <a:prstGeom prst="roundRect">
            <a:avLst>
              <a:gd name="adj" fmla="val 11111"/>
            </a:avLst>
          </a:prstGeom>
          <a:solidFill>
            <a:srgbClr val="EBE9F3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독립성 규칙: D가 A·B·C의 안전 산출물에 대해 Confirmation Review 수행 (작성자 ≠ 리뷰어 원칙, ISO 26262 Part 2 독립성 레벨 I1)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팀 구성 및 역할 — git log 기반 실제 기여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contributor · 200 commits · 5 git repositories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11183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828800"/>
            <a:ext cx="109728" cy="749808"/>
          </a:xfrm>
          <a:prstGeom prst="rect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975104"/>
            <a:ext cx="457200" cy="457200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 JongBeum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21945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· ALL-ROUND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389120" y="2103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1874520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리포 setup · ASPICE 95% · DBC v1~v3 · AUTOSAR Composition · CanComm · MotorControl · MBD 인프라 · RPi LiDAR/Camera/Fusion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670048"/>
            <a:ext cx="11183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670048"/>
            <a:ext cx="109728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281635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2715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 Yurim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71600" y="30358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035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HMI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9000" y="2715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389120" y="2944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2715768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HMI dashboard 재구성 · DBC-driven CAN refactor (cantools) · MTR_SPD_FB RX · AUTOSAR HmiManager 내부 로직 · Diagnostics SWC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3511296"/>
            <a:ext cx="11183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511296"/>
            <a:ext cx="109728" cy="7498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" y="35570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BAE-Jungwoo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371600" y="387705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38770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· STATEFLOW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29000" y="35570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389120" y="37856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74920" y="355701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AccStateMachine SWC 전담 · Stateflow FSM 5-state · MVP 정합성 스윕 v0.3 → v0.5.3 · SYS001/029/033/034 갭 반영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352544"/>
            <a:ext cx="11183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352544"/>
            <a:ext cx="109728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" y="4498848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71600" y="4398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dahee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1371600" y="471830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0" y="47183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ARDUINO · MCU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29000" y="43982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4389120" y="46268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74920" y="4398264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Arduino 모터 노드 전담 · 시스템 구조 변경 (CAN/MOTOR 기준) · sibling 분리 · AUTOSAR HmiManager v0.3 단순화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" y="5193792"/>
            <a:ext cx="11183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" y="5193792"/>
            <a:ext cx="109728" cy="749808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" y="5340096"/>
            <a:ext cx="457200" cy="457200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371600" y="5239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Wis3754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371600" y="55595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71600" y="5559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PID · 초기 CAN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29000" y="52395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4389120" y="54681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74920" y="5239512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DistanceControl SWC (MBD PID) · CANDB 초기 메시지 구조 · RPi 초기 CAN interface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2920" y="612648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 수만으로 기여를 판단할 수 없는 좋은 예: Wis3754는 4 commits이지만 DistanceControl 핵심 자산을 던져 놓은 "씨앗" 역할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팀 구성 및 역할 — 영역별 commit 매트릭스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어디에 깊이 관여했나 (5명 × 5리포 히트맵)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965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 JongBeum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· 시스템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1965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 Yurim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HMI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1965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BAE-Jungwoo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1965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dahee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Arduino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89720" y="1965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Wis3754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8972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26060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ACC-docs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29900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105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68880" y="260604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E3968">
              <a:alpha val="85000"/>
            </a:srgbClr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2606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160520" y="260604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A9D8F">
              <a:alpha val="22000"/>
            </a:srgbClr>
          </a:solidFill>
          <a:ln w="12700">
            <a:solidFill>
              <a:srgbClr val="2A9D8F">
                <a:alpha val="4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606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852160" y="260604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2606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43800" y="260604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2606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235440" y="260604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26060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3246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ACC-CANDB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36301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68880" y="324612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E3968">
              <a:alpha val="85000"/>
            </a:srgbClr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3246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160520" y="324612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3246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852160" y="324612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3246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543800" y="324612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3246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235440" y="324612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C9302C">
              <a:alpha val="27000"/>
            </a:srgbClr>
          </a:solidFill>
          <a:ln w="12700">
            <a:solidFill>
              <a:srgbClr val="C9302C">
                <a:alpha val="47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3246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02920" y="3886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ACC-autosar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427024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42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46888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E3968">
              <a:alpha val="82000"/>
            </a:srgbClr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68880" y="38862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16052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A9D8F">
              <a:alpha val="26000"/>
            </a:srgbClr>
          </a:solidFill>
          <a:ln w="12700">
            <a:solidFill>
              <a:srgbClr val="2A9D8F">
                <a:alpha val="46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60520" y="38862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85216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8677B6">
              <a:alpha val="37000"/>
            </a:srgbClr>
          </a:solidFill>
          <a:ln w="12700">
            <a:solidFill>
              <a:srgbClr val="8677B6">
                <a:alpha val="57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52160" y="38862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754380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E76F51">
              <a:alpha val="18000"/>
            </a:srgbClr>
          </a:solidFill>
          <a:ln w="12700">
            <a:solidFill>
              <a:srgbClr val="E76F51">
                <a:alpha val="38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43800" y="38862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9235440" y="388620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C9302C">
              <a:alpha val="18000"/>
            </a:srgbClr>
          </a:solidFill>
          <a:ln w="12700">
            <a:solidFill>
              <a:srgbClr val="C9302C">
                <a:alpha val="38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35440" y="38862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02920" y="4526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ACC-Arduino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2920" y="49103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10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468880" y="452628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E3968">
              <a:alpha val="27000"/>
            </a:srgbClr>
          </a:solidFill>
          <a:ln w="12700">
            <a:solidFill>
              <a:srgbClr val="2E3968">
                <a:alpha val="47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8880" y="45262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160520" y="452628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60520" y="45262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852160" y="452628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0" y="45262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543800" y="452628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E76F51">
              <a:alpha val="8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43800" y="45262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9235440" y="452628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35440" y="45262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502920" y="51663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ACC-RPI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02920" y="55504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33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468880" y="516636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E3968">
              <a:alpha val="75000"/>
            </a:srgbClr>
          </a:solidFill>
          <a:ln w="12700">
            <a:solidFill>
              <a:srgbClr val="2E3968">
                <a:alpha val="9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68880" y="5166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4160520" y="516636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2A9D8F">
              <a:alpha val="68000"/>
            </a:srgbClr>
          </a:solidFill>
          <a:ln w="12700">
            <a:solidFill>
              <a:srgbClr val="2A9D8F">
                <a:alpha val="88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60520" y="5166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5852160" y="516636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0" y="5166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7543800" y="516636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43800" y="5166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9235440" y="5166360"/>
            <a:ext cx="1600200" cy="594360"/>
          </a:xfrm>
          <a:prstGeom prst="roundRect">
            <a:avLst>
              <a:gd name="adj" fmla="val 6154"/>
            </a:avLst>
          </a:prstGeom>
          <a:solidFill>
            <a:srgbClr val="C9302C">
              <a:alpha val="22000"/>
            </a:srgbClr>
          </a:solidFill>
          <a:ln w="12700">
            <a:solidFill>
              <a:srgbClr val="C9302C">
                <a:alpha val="42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35440" y="5166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502920" y="5943600"/>
            <a:ext cx="11183112" cy="502920"/>
          </a:xfrm>
          <a:prstGeom prst="roundRect">
            <a:avLst>
              <a:gd name="adj" fmla="val 10909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 JongBeum이 양쪽 끝(요구사항 + Composition + DBC + RPi 골격)에 인프라를 깔고, 다른 4명이 그 위에서 SWC/노드 단위 ownership으로 깊게 책임진 구조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프로젝트 수행 절차 및 방법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V-모델 + 안전 논증 통합 체인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ASPICE V-모델 체인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2128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"어떻게 만들었나"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0604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06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STK (SYS.1)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089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SyRS (SYS.2)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11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 Arch (SYS.3)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14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SwRS (SWE.1)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61772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17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 (SWE.2)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20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Design+Code (SWE.3)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260604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606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VAL.1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10896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1089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 Test (SYS.5)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361188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611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Integ Test (SYS.4)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411480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114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Qual (SWE.6)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83280" y="461772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4617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Integ (SWE.5)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512064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5120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 Test (SWE.4)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17520" y="2798064"/>
            <a:ext cx="365760" cy="0"/>
          </a:xfrm>
          <a:prstGeom prst="line">
            <a:avLst/>
          </a:prstGeom>
          <a:noFill/>
          <a:ln w="6350">
            <a:solidFill>
              <a:srgbClr val="8677B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017520" y="3300984"/>
            <a:ext cx="365760" cy="0"/>
          </a:xfrm>
          <a:prstGeom prst="line">
            <a:avLst/>
          </a:prstGeom>
          <a:noFill/>
          <a:ln w="6350">
            <a:solidFill>
              <a:srgbClr val="8677B6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17520" y="3803904"/>
            <a:ext cx="365760" cy="0"/>
          </a:xfrm>
          <a:prstGeom prst="line">
            <a:avLst/>
          </a:prstGeom>
          <a:noFill/>
          <a:ln w="6350">
            <a:solidFill>
              <a:srgbClr val="8677B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017520" y="4306824"/>
            <a:ext cx="365760" cy="0"/>
          </a:xfrm>
          <a:prstGeom prst="line">
            <a:avLst/>
          </a:prstGeom>
          <a:noFill/>
          <a:ln w="6350">
            <a:solidFill>
              <a:srgbClr val="8677B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017520" y="4809744"/>
            <a:ext cx="365760" cy="0"/>
          </a:xfrm>
          <a:prstGeom prst="line">
            <a:avLst/>
          </a:prstGeom>
          <a:noFill/>
          <a:ln w="6350">
            <a:solidFill>
              <a:srgbClr val="8677B6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017520" y="5312664"/>
            <a:ext cx="365760" cy="0"/>
          </a:xfrm>
          <a:prstGeom prst="line">
            <a:avLst/>
          </a:prstGeom>
          <a:noFill/>
          <a:ln w="6350">
            <a:solidFill>
              <a:srgbClr val="8677B6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199632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BE9F3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26262 안전 논증 체인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199632" y="22128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"안전이 어떻게 입증됐나"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36792" y="26609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2660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092440" y="26060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분석 (S/E/C → ASIL)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36792" y="316382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3163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Goal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092440" y="3108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최상위 안전 목표 + Safe State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36792" y="366674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36667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FSC / FSR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092440" y="36118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Functional Safety Concept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36792" y="416966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6792" y="4169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92440" y="41148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Technical Safety Req.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336792" y="467258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36792" y="4672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SwRS (Safety)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92440" y="46177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ASIL 태깅된 SW 안전 요구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36792" y="51755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36792" y="51755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Case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092440" y="51206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안전 증거 종합 + 판정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02920" y="6080760"/>
            <a:ext cx="11183112" cy="3657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체인은 SwRS 단계에서 합쳐짐 — 이후 설계/구현/테스트는 동일 산출물로 양쪽 표준 모두 만족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수행 절차 및 방법 — 4주 마일스톤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 (컨셉) → W2 (설계) → W3 (구현+단위) → W4 (자격+시연)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2697480" cy="64008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8928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킥오프 + 컨셉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2514600"/>
            <a:ext cx="2697480" cy="36576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743200"/>
            <a:ext cx="128016" cy="128016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6700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STK 24건 도출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520440"/>
            <a:ext cx="128016" cy="128016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472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HARA · Safety Goal · FSC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97680"/>
            <a:ext cx="128016" cy="128016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245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/ 안전 계획서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5074920"/>
            <a:ext cx="128016" cy="128016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0017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MAN.3 + P2-SafetyPlan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9272" y="1828800"/>
            <a:ext cx="2697480" cy="640080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0712" y="18928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7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05072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(Sys / SW)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19272" y="2514600"/>
            <a:ext cx="2697480" cy="36576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02152" y="2743200"/>
            <a:ext cx="128016" cy="128016"/>
          </a:xfrm>
          <a:prstGeom prst="ellipse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0752" y="26700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SyRS 완성 + TSR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02152" y="3520440"/>
            <a:ext cx="128016" cy="128016"/>
          </a:xfrm>
          <a:prstGeom prst="ellipse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34472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 + HSI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02152" y="4297680"/>
            <a:ext cx="128016" cy="128016"/>
          </a:xfrm>
          <a:prstGeom prst="ellipse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0752" y="42245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SwRS + SW 아키텍처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02152" y="5074920"/>
            <a:ext cx="128016" cy="128016"/>
          </a:xfrm>
          <a:prstGeom prst="ellipse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50017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Dictionary 등록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35624" y="1828800"/>
            <a:ext cx="2697480" cy="64008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27064" y="18928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21424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+ 단위/통합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135624" y="2514600"/>
            <a:ext cx="2697480" cy="36576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8504" y="2743200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7104" y="26700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SWC .slx 작성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18504" y="3520440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34472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PID 튜닝 + Stateflow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18504" y="4297680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47104" y="42245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테스트 (MC/DC)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18504" y="5074920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47104" y="50017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노드별 SIL/HIL 통합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951976" y="1828800"/>
            <a:ext cx="2697480" cy="640080"/>
          </a:xfrm>
          <a:prstGeom prst="rect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43416" y="18928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43416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W4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637776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+ 시연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951976" y="2514600"/>
            <a:ext cx="2697480" cy="36576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34856" y="2743200"/>
            <a:ext cx="128016" cy="128016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63456" y="26700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통합/자격 테스트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134856" y="3520440"/>
            <a:ext cx="128016" cy="128016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63456" y="34472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Case 작성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134856" y="4297680"/>
            <a:ext cx="128016" cy="128016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63456" y="42245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 / 데모 영상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134856" y="5074920"/>
            <a:ext cx="128016" cy="128016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63456" y="50017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 + 향후 과제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02920" y="6263640"/>
            <a:ext cx="11183112" cy="182880"/>
          </a:xfrm>
          <a:prstGeom prst="roundRect">
            <a:avLst>
              <a:gd name="adj" fmla="val 15000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수행 절차 및 방법 — 요구사항 계층 + 추적성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STK → SYS → SWR → AUTOSAR → 코드 → 테스트 (피라미드 + 양방향 RTM)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7772400" cy="640080"/>
          </a:xfrm>
          <a:prstGeom prst="roundRect">
            <a:avLst>
              <a:gd name="adj" fmla="val 7143"/>
            </a:avLst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8653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13969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이해관계자 요구사항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182880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운전자/팀이 시스템에 무엇을 원하는가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148840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2606040"/>
            <a:ext cx="6858000" cy="640080"/>
          </a:xfrm>
          <a:prstGeom prst="roundRect">
            <a:avLst>
              <a:gd name="adj" fmla="val 7143"/>
            </a:avLst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6426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916936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Requirements (SyRS)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2606040"/>
            <a:ext cx="3867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동작/인터페이스/성능으로 번역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2926080"/>
            <a:ext cx="3867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30+건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3383280"/>
            <a:ext cx="5943600" cy="640080"/>
          </a:xfrm>
          <a:prstGeom prst="roundRect">
            <a:avLst>
              <a:gd name="adj" fmla="val 7143"/>
            </a:avLst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34198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SWR / HWR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69417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· HW Requirements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3383280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노드/모듈 단위 동작 + ASIL 태깅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3703320"/>
            <a:ext cx="4325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7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74520" y="4160520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970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57400" y="447141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SWC · Runnable · 코드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4160520"/>
            <a:ext cx="4782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SWC + 13 Runnable + Stateflow + 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4480560"/>
            <a:ext cx="4782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5/13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31720" y="493776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49743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514600" y="5248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/ 통합 / 자격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4937760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MC/DC + 폴트 주입 + 시나리오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525780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12+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98932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ID에서 출발해도 위/아래로 이동할 수 있어야 함 (RTM = Requirement Traceability Matrix)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프로젝트 수행 경과 — 시스템 아키텍처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3노드 토폴로지 · CAN 500 kbps · 8 메시지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1828800"/>
            <a:ext cx="3200400" cy="502920"/>
          </a:xfrm>
          <a:prstGeom prst="roundRect">
            <a:avLst>
              <a:gd name="adj" fmla="val 9091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RPLiDAR + RPi Camera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48472" y="1828800"/>
            <a:ext cx="3200400" cy="502920"/>
          </a:xfrm>
          <a:prstGeom prst="roundRect">
            <a:avLst>
              <a:gd name="adj" fmla="val 9091"/>
            </a:avLst>
          </a:prstGeom>
          <a:solidFill>
            <a:srgbClr val="EBE9F3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 Motor x4 (LF/RF/LR/RR) + Encoder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46888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33C1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468880"/>
            <a:ext cx="3200400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468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SENSOR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HMI GUI (PyQt5)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3493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Camera (YOLO)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38770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LiDAR Fusion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42611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CanInterface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645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python-can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98848" y="246888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2E39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98848" y="2468880"/>
            <a:ext cx="3200400" cy="502920"/>
          </a:xfrm>
          <a:prstGeom prst="rect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2468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ECU1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98848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NXP MPC5606B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AUTOSAR Classic 4.x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81728" y="3493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6 SWC + 14+ Runnable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81728" y="38770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Cascaded: DC 20ms + MC 10ms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81728" y="42611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ASIL-B 파티션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81728" y="4645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mobilgene + S32DS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48472" y="246888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8677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48472" y="2468880"/>
            <a:ext cx="3200400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468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48472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Arduino UNO x2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531352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MCP2515 (CAN)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31352" y="3493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L298N + DC Motor x4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531352" y="38770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Encoder x4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31352" y="42611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30ms Safety Timer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531352" y="4645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RX 0x210 / TX 0x310/0x320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" y="5897880"/>
            <a:ext cx="10908792" cy="54864"/>
          </a:xfrm>
          <a:prstGeom prst="rect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Bus  @  500 kbps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40280" y="5577840"/>
            <a:ext cx="0" cy="320040"/>
          </a:xfrm>
          <a:prstGeom prst="line">
            <a:avLst/>
          </a:prstGeom>
          <a:noFill/>
          <a:ln w="19050">
            <a:solidFill>
              <a:srgbClr val="2E39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76272" y="5870448"/>
            <a:ext cx="128016" cy="128016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99048" y="5577840"/>
            <a:ext cx="0" cy="320040"/>
          </a:xfrm>
          <a:prstGeom prst="line">
            <a:avLst/>
          </a:prstGeom>
          <a:noFill/>
          <a:ln w="19050">
            <a:solidFill>
              <a:srgbClr val="2E39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35040" y="5870448"/>
            <a:ext cx="128016" cy="128016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48672" y="5577840"/>
            <a:ext cx="0" cy="320040"/>
          </a:xfrm>
          <a:prstGeom prst="line">
            <a:avLst/>
          </a:prstGeom>
          <a:noFill/>
          <a:ln w="19050">
            <a:solidFill>
              <a:srgbClr val="2E39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84664" y="5870448"/>
            <a:ext cx="128016" cy="128016"/>
          </a:xfrm>
          <a:prstGeom prst="ellipse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263640"/>
            <a:ext cx="11183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9 CAN 메시지 (DBC v3.3 · Project.dbc 통합) · ECU_HB ASIL-B 10ms (timeout 30ms) · E2E P01 (0x210 MTR_CMD)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전체 시스템 아키텍처 (실제 구성)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MPC5606B 기반 ACC · 직진 전용 · AEB 미포함 · 4륜 구동 (드라이버 ×2 + 모터 ×4)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pic>
        <p:nvPicPr>
          <p:cNvPr id="16" name="Image 0" descr="/sessions/friendly-peaceful-cray/architecture_v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31" y="1783080"/>
            <a:ext cx="8034833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ACC 5-state FSM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AccStateMachine SWC · RE_FsmStep (10ms) · ASIL-B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63240"/>
            <a:ext cx="1737360" cy="1005840"/>
          </a:xfrm>
          <a:prstGeom prst="ellipse">
            <a:avLst/>
          </a:prstGeom>
          <a:solidFill>
            <a:srgbClr val="8B95A8"/>
          </a:solidFill>
          <a:ln w="25400">
            <a:solidFill>
              <a:srgbClr val="8B95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63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OFF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3063240"/>
            <a:ext cx="1737360" cy="1005840"/>
          </a:xfrm>
          <a:prstGeom prst="ellipse">
            <a:avLst/>
          </a:prstGeom>
          <a:solidFill>
            <a:srgbClr val="33C1DA"/>
          </a:solidFill>
          <a:ln w="25400">
            <a:solidFill>
              <a:srgbClr val="33C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063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STANDBY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874520"/>
            <a:ext cx="1737360" cy="100584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874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CRUISING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8932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유지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4251960"/>
            <a:ext cx="1737360" cy="1005840"/>
          </a:xfrm>
          <a:prstGeom prst="ellipse">
            <a:avLst/>
          </a:prstGeom>
          <a:solidFill>
            <a:srgbClr val="8677B6"/>
          </a:solidFill>
          <a:ln w="25400">
            <a:solidFill>
              <a:srgbClr val="86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FOLLOWING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4709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 추종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89720" y="3063240"/>
            <a:ext cx="1737360" cy="1005840"/>
          </a:xfrm>
          <a:prstGeom prst="ellipse">
            <a:avLst/>
          </a:prstGeom>
          <a:solidFill>
            <a:srgbClr val="C9302C"/>
          </a:solidFill>
          <a:ln w="25400">
            <a:solidFill>
              <a:srgbClr val="C930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3063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8972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안전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3566160"/>
            <a:ext cx="914400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3246120"/>
            <a:ext cx="1371600" cy="-64008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886200"/>
            <a:ext cx="1371600" cy="640080"/>
          </a:xfrm>
          <a:prstGeom prst="line">
            <a:avLst/>
          </a:prstGeom>
          <a:noFill/>
          <a:ln w="19050">
            <a:solidFill>
              <a:srgbClr val="8677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2834640"/>
            <a:ext cx="0" cy="1463040"/>
          </a:xfrm>
          <a:prstGeom prst="line">
            <a:avLst/>
          </a:prstGeom>
          <a:noFill/>
          <a:ln w="15240">
            <a:solidFill>
              <a:srgbClr val="E76F5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726680" y="4754880"/>
            <a:ext cx="1463040" cy="-914400"/>
          </a:xfrm>
          <a:prstGeom prst="line">
            <a:avLst/>
          </a:prstGeom>
          <a:noFill/>
          <a:ln w="12700">
            <a:solidFill>
              <a:srgbClr val="C930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6680" y="2377440"/>
            <a:ext cx="1463040" cy="914400"/>
          </a:xfrm>
          <a:prstGeom prst="line">
            <a:avLst/>
          </a:prstGeom>
          <a:noFill/>
          <a:ln w="12700">
            <a:solidFill>
              <a:srgbClr val="C930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0" y="317296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1A2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31729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BtnOnOff ∧ SD✓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37760" y="257860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57860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(Set ∨ Res) ∧ ¬Veh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37760" y="431596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86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43159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(Set ∨ Res) ∧ Veh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909560" y="267004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C930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26700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Brake/Accel/Pause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09560" y="422452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C930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9560" y="42245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Brake/Accel/Pause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26480" y="3520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6F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Veh ↔ ¬Veh (auto)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02920" y="5715000"/>
            <a:ext cx="11183112" cy="731520"/>
          </a:xfrm>
          <a:prstGeom prst="roundRect">
            <a:avLst>
              <a:gd name="adj" fmla="val 7500"/>
            </a:avLst>
          </a:prstGeom>
          <a:solidFill>
            <a:srgbClr val="FBECEB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71500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 동작 (SWR016): Motor=0 (능동 감속 없음) · HMI 경고 · DTC 기록 · 운전자가 ACC ON/OFF 버튼으로 OFF 전환해야 해제 (자동 복구 없음)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CAN 메시지 카탈로그 (DBC v3.3 — 9개)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BU: SENSOR / ECU1 / MTR · 500 kbps · Project.dbc 통합 정본 (mobilgene 머지)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4114800"/>
        </p:xfrm>
        <a:graphic>
          <a:graphicData uri="http://schemas.openxmlformats.org/drawingml/2006/table">
            <a:tbl>
              <a:tblPr/>
              <a:tblGrid>
                <a:gridCol w="777240"/>
                <a:gridCol w="1783080"/>
                <a:gridCol w="2194560"/>
                <a:gridCol w="502920"/>
                <a:gridCol w="777240"/>
                <a:gridCol w="502920"/>
                <a:gridCol w="464515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 ID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송신 → 수신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DLC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ASIL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0x110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SENSOR_FUSION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SENSOR → ECU1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전방차 감지 + 거리 (SYS015)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0x111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SENSOR_HEARTBEAT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SENSOR → ECU1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RPi heartbeat (SYS025)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0x120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VEH_CTRL 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SENSOR → ECU1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차량 직접 (브레이크 + 수동 액셀)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0x210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MTR_CMD +E2E 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ECU1 → MTR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4륜 PWM + RC + CRC8 (P01)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0x310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MTR_SPD_FB ◎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 → ECU1+SENSOR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 → MC PI(SWR034) + HMI(SYS019)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0x320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MTR_HEARTBEAT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 → ECU1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Motor heartbeat (SYS025)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0x480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ECU_HEARTBEAT 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ECU1 → ALL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ASIL-B 승격 (SAF018, 30ms timeout)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0x510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ACC_CTRL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SENSOR → ECU1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 버튼 (SET/RES/+/-/level)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0x520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ACC_STATUS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ECU1 → SENSOR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ms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HMI 표시 (state/spd/level)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" y="6080760"/>
            <a:ext cx="11183112" cy="3657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v3.3 변경: SENSOR_ACC_CMD 분리 (VEH_CTRL+ACC_CTRL) · ECU_HB ASIL-B 승격 (500ms→10ms) · MTR_SPD_FB 멀티캐스트 · MTR_CMD에 E2E P01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AUTOSAR 6 SWC Composition (v0.8)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MPC5606B · AUTOSAR Classic 4.x · v0.8 · Cascaded 제어 (DC 20ms outer + MC 10ms inner)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11183112" cy="457200"/>
          </a:xfrm>
          <a:prstGeom prst="rect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288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RX/TX (mobilgene Data Mappings 35매핑)  ·  BSW: Com → CanIf → Can Driver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5148" y="2468880"/>
            <a:ext cx="18288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E39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148" y="2468880"/>
            <a:ext cx="1828800" cy="457200"/>
          </a:xfrm>
          <a:prstGeom prst="rect">
            <a:avLst/>
          </a:prstGeom>
          <a:solidFill>
            <a:srgbClr val="2E3968"/>
          </a:solidFill>
          <a:ln w="12700">
            <a:solidFill>
              <a:srgbClr val="2E3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148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CanCommunication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5148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ASIL-B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8300" y="3291840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Runnables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402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RxSensor (20)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402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RxMotor (10)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4020" y="4069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RxAccCtrl (50)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4020" y="4343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TxMotor (10)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4020" y="4617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TxAccStatus (50)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4020" y="4892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TimeoutMonitor (10)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69668" y="2468880"/>
            <a:ext cx="18288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930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69668" y="2468880"/>
            <a:ext cx="1828800" cy="45720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69668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AccStateMachine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69668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ASIL-B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42820" y="3291840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Runnables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8854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OverrideCheck (10ms · ↑)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8854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FsmStep (10ms)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88540" y="4069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+ Mode: MS_AccMode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44188" y="2468880"/>
            <a:ext cx="18288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8677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44188" y="2468880"/>
            <a:ext cx="1828800" cy="45720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44188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DistanceControl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44188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ASIL-B mix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17340" y="3291840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Runnables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6306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TargetDistCalc (20ms)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36306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DistPid (20ms)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63060" y="4069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outer loop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63060" y="4343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거리 → 목표속도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363060" y="4617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→ Simulink MBD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18708" y="2468880"/>
            <a:ext cx="18288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18708" y="2468880"/>
            <a:ext cx="1828800" cy="45720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18708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MotorControl ★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18708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A3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ASIL-B mix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91860" y="3291840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Runnables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3758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SpeedPi (10ms)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3758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PwmShape (10ms)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37580" y="4069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inner loop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37580" y="4343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목표속도 → PWM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37580" y="4617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STANDBY 수동 PWM (SWR033)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993228" y="2468880"/>
            <a:ext cx="18288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93228" y="2468880"/>
            <a:ext cx="182880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93228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Diagnostics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993228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ASIL-B mix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66380" y="3291840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Runnables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11210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FaultDetect (10ms)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11210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HbMonitor (10ms)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112100" y="4069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HbTx (10ms 0x480)★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112100" y="4343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ECU HB 송신 인계 (v0.8)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867748" y="2468880"/>
            <a:ext cx="18288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33C1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67748" y="2468880"/>
            <a:ext cx="1828800" cy="45720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867748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HmiManager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867748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QM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940900" y="3291840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Runnables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998662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HmiStep (50ms)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98662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→ Btn pass-through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986620" y="4069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→ Edge detect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02920" y="5715000"/>
            <a:ext cx="11183112" cy="41148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5715000"/>
            <a:ext cx="11183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BSW Services:  Dem · Dcm · WdgM · NvM · Com · CanIf · Can · BswM   (mobilgene 생성)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02920" y="619963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v0.7→v0.8: MotorControl SWC 신설 (cascaded inner-loop) · Diag가 ECU HB 송신 인계 (SAF018 ASIL-B) · 13 SR Interface (8 bus + 5 intra-ECU)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OS Task 스케줄링 (Cascaded — v0.8)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10ms inner (속도 PI + 안전) · 20ms outer (거리 + 센서) · 50ms HMI · 100ms 예약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310896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  <a:gridCol w="6885432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OsTask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Runnable 실행 순서 (안전 보장)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Task_10ms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(inner+안전)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OverrideCheck → FsmStep → RxMotor (0x310) → MotorControl.SpeedPi → TimeoutMonitor → FaultDetect → Diag.HbTx (0x480) → TxMotor (0x210)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ASIL-B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Task_20ms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(outer+센서)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RxSensor (0x110/0x111/0x120) → DistanceControl.TargetDistCalc → DistPid → TxSensorHb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ASIL-B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Task_50ms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RxAccCtrl (0x510) → HmiStep → TxAccStatus (0x520)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Task_100ms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(SWR017 DTC 철회 후 향후 확장 슬롯)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" y="4937760"/>
            <a:ext cx="11183112" cy="1508760"/>
          </a:xfrm>
          <a:prstGeom prst="roundRect">
            <a:avLst>
              <a:gd name="adj" fmla="val 3636"/>
            </a:avLst>
          </a:prstGeom>
          <a:solidFill>
            <a:srgbClr val="FBECEB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Task_10ms 순서가 고정된 이유 — 가장 중요한 안전 결정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534924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OverrideCheck → FsmStep이 SpeedPi보다 "먼저" 돌아야 한다. 그래야 브레이크를 밟은 순간 같은 10ms 틱에서 STANDBY 전이가 일어나고, 같은 틱의 MotorControl.SpeedPi가 MS_AccMode=STANDBY를 읽어 motor=0을 강제한다. v0.8부터 Diag.HbTx가 매 10ms 틱에 0x480 ECU_HEARTBEAT를 송신해 SAF018 ASIL-B를 만족.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Arduino ASIL-B 안전 타이머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config.h: TIMEOUT_CMD_MS = 30 · ISO 26262 핵심 안전 메커니즘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6217920" cy="4206240"/>
          </a:xfrm>
          <a:prstGeom prst="roundRect">
            <a:avLst>
              <a:gd name="adj" fmla="val 1304"/>
            </a:avLst>
          </a:prstGeom>
          <a:solidFill>
            <a:srgbClr val="F8F9FB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9202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acc_motor_front.ino  (rear 동일 위치)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194560"/>
            <a:ext cx="5943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if ((now - g_t_last_cmd) &gt; TIMEOUT_CMD_MS)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if (g_cmd_l != 0 || g_cmd_r != 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    g_cmd_l = g_cmd_r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    motor_stop_all();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g_err_flags |= ERR_TIMEOUT;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motor_driver.cpp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void motor_stop_all()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analogWrite(L_EN, 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analogWrite(R_EN, 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digitalWrite(L_IN1, LOW);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digitalWrite(L_IN2, LOW);  // 능동 브레이크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digitalWrite(R_IN1, LOW);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digitalWrite(R_IN2, LOW);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4782312" cy="4206240"/>
          </a:xfrm>
          <a:prstGeom prst="roundRect">
            <a:avLst>
              <a:gd name="adj" fmla="val 1304"/>
            </a:avLst>
          </a:prstGeom>
          <a:solidFill>
            <a:srgbClr val="FBECEB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절대 손대면 안 되는가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2468880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3317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ECU/CAN 단절 시 Arduino가 "끊긴 줄 모르고" 마지막 명령을 무한 반복하면 위험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40880" y="3182112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04495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ms 안에 새 CMD 미수신 → 즉시 모터 출력 0 + ERR_TIMEOUT 플래그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40880" y="3895344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758184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출력 0 = EN PWM 0 + 방향핀 LOW = 능동 브레이크 (자연감속 X)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40880" y="4608576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4471416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ECU 측 0x210 주기 10ms 이므로 정상 시 3 cycle 미수신까지 허용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5321808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518464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시스템의 마지막 안전망 — 절대로 "간단히" 제거하거나 늘리면 안 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6126480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1264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v3.3: 모든 노드 공유 0x210(RX) / 0x310(TX MTR_SPD_FB) / 0x320(TX HB)  ·  E2E P01 (RC + CRC8) 적용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Raspberry Pi (HMI / CanInterface)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모듈 + 3개 스레드 · 시뮬레이션 fallback 지원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구성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377440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interfaces/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23317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DTO dataclass — 모듈 간 데이터 계약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090672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906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acc_can/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304495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CanInterface — 3 thread (TX/RX/HB)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03904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0390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acc_hmi/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75818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PyQt5 GUI — 가상 버튼 + 클러스터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517136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1713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acc_fusion/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4471416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Camera + LiDAR 융합 (개발 중)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230368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230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main.py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31720" y="518464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실행 — CanInterface + GUI 호스트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9632" y="18288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8F9FB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CanInterface 주요 API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36792" y="228600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can.start()        # 3 thread launch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               # python-can fallback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Send (TX 20ms 주기)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can.send_button_input(ButtonInput(...))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can.send_pedal_input(PedalInput(...))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can.send_acc_setting(AccSetting(...))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can.send_fusion_data(FusionData(...))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Receive (RX 폴링)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info = can.get_acc_info()        # 0x520 ACC_STATUS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veh  = can.get_vehicle_info()    # 0x310 GET_SPD_AVG 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ecu  = can.get_ecu_status()      # 0x480 ECU_HEARTBEAT (10ms ASIL-B)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can.stop()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263640"/>
            <a:ext cx="11183112" cy="182880"/>
          </a:xfrm>
          <a:prstGeom prst="roundRect">
            <a:avLst>
              <a:gd name="adj" fmla="val 15000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안전 메커니즘 매트릭스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다층 방어 (Defense in Depth) — 한 메커니즘이 실패해도 다른 메커니즘이 받쳐줌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443484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743200"/>
                <a:gridCol w="1280160"/>
                <a:gridCol w="130759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메커니즘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구현 위치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시간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ASIL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브레이크 즉시 오버라이드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AccStateMachine.RE_OverrideCheck (10ms 우선)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운전자 브레이크 (VEH_CTRL 0x120)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≤ 50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LiDAR 타임아웃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CanComm.RE_TimeoutMonitor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0x110 SENSOR_FUSION 미수신 60ms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모터 피드백 타임아웃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CanComm.RE_TimeoutMonitor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0x310 MTR_SPD_FB 미수신 30ms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Arduino 30ms 안전 타이머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Arduino .ino 메인 루프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0x210 MTR_CMD 미수신 → 모터 정지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E2E P01 (CRC8 + RC) 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MotorControl + Arduino can_handler.cpp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0x210 페이로드/순서 손상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프레임 단위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Heartbeat (10ms ASIL-B 승격) 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Diag.HbTx → 0x480 (v0.8 인계)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사망 → 30ms 타임아웃 → FAULT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Sensor/MTR Heartbeat 감시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Diag.HbMonitor (CanComm RxHb)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0x111/0x320 미수신 → ERR 플래그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~60 ms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Watchdog Timer (WdgM)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BSW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ASW 태스크 미회신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WdgM 주기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FAULT + Motor=0 (cascaded)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AccStateMachine + MotorControl.SpeedPi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MS_AccMode=FAULT → SpeedPi가 0 강제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ms 이내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NvM 설정 보존/복원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AccStateMachine ↔ NvM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재기동 후 상태 손실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이벤트 기반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" y="6355080"/>
            <a:ext cx="11183112" cy="91440"/>
          </a:xfrm>
          <a:prstGeom prst="roundRect">
            <a:avLst>
              <a:gd name="adj" fmla="val 20000"/>
            </a:avLst>
          </a:prstGeom>
          <a:solidFill>
            <a:srgbClr val="E2F7FA"/>
          </a:solidFill>
          <a:ln w="12700">
            <a:solidFill>
              <a:srgbClr val="E2F7FA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수행 경과 — 모듈별 진척도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 of 2026.04.24 — 중간 발표 시점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1118311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ACC-docs (요구/표준)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1993392"/>
            <a:ext cx="365760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993392"/>
            <a:ext cx="3291840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874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STK 24건 완성. SyRS 작성 중. ASPICE 산출물 골격 완성. ISO 26262 가이드 docx 완료.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468880"/>
            <a:ext cx="1118311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ACC-CANDB (DBC)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2633472"/>
            <a:ext cx="365760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2633472"/>
            <a:ext cx="3657600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2514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메시지 v3 확정. acc_db.dbc + E2E P01 + RC + CRC8.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108960"/>
            <a:ext cx="1118311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ACC-autosar (ECU)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31920" y="3273552"/>
            <a:ext cx="365760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0" y="3273552"/>
            <a:ext cx="2194560" cy="219456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31546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SWC 중 AccStateMachine, Diagnostics, HmiManager 완료. DistCtl/CanComm 진행 중.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749040"/>
            <a:ext cx="1118311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ACC-Arduino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31920" y="3913632"/>
            <a:ext cx="365760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3913632"/>
            <a:ext cx="2926080" cy="219456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3794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66760" y="3794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front/rear sibling 완성. 30ms 안전 타이머 검증. 엔코더 PPR 실측 보정 필요.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389120"/>
            <a:ext cx="1118311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34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ACC-RPI (HMI/CAN/Fusion)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31920" y="4553712"/>
            <a:ext cx="365760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31920" y="4553712"/>
            <a:ext cx="2560320" cy="219456"/>
          </a:xfrm>
          <a:prstGeom prst="rect">
            <a:avLst/>
          </a:prstGeom>
          <a:solidFill>
            <a:srgbClr val="3378C8"/>
          </a:solidFill>
          <a:ln w="12700">
            <a:solidFill>
              <a:srgbClr val="3378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4434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7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66760" y="4434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CanInterface + HMI GUI 동작. Fusion(YOLO+LiDAR) 모듈 스켈레톤 단계.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" y="5029200"/>
            <a:ext cx="1118311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+ 시스템 테스트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31920" y="5193792"/>
            <a:ext cx="365760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0" y="5193792"/>
            <a:ext cx="914400" cy="21945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0960" y="5074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25%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366760" y="5074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테스트 일부. SIL 시작 전. 통합 시나리오 12종 정의됨.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" y="5669280"/>
            <a:ext cx="1118311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715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Case + 자격 보고서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931920" y="5833872"/>
            <a:ext cx="365760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31920" y="5833872"/>
            <a:ext cx="1097280" cy="219456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5715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366760" y="5715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HARA + Safety Goal + FSC 초안. TSR 작성 중. 최종 Safety Case는 W4.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자체 평가 의견 — Lessons Learned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결정 · 어려웠던 점 · 의외의 깨달음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828800"/>
            <a:ext cx="361188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결정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258775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분담을 일찍 확정 — RPi가 무거운 처리 다 가져감 → ECU는 제어만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36499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246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DBC를 제일 먼저 작성 — 모든 노드의 "공용어"가 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14223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23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ASPICE V-모델 그대로 따라가니 산출물이 자연스럽게 정렬됨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91947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800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Dictionary를 별도 .sldd로 분리 — SWC 5개가 동일 타입 참조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577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Arduino 30ms 안전 타이머를 첫 단계에 만든 것 — 통합 시 안심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18288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1828800"/>
            <a:ext cx="3611880" cy="45720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34840" y="2587752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학습 곡선 — Port/IF/Runnable/RTE 개념을 한꺼번에 익혀야 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34840" y="3364992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246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MATLAB R2024b API 자료 부족 — autosar.api.create 사용법 시행착오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4142232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023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MPC5606B FPU 부재 → float를 IRV에만 허용하도록 제한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34840" y="4919472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800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5명/1개월 — Safety Case까지 양산 수준 만들기 어려움 (테일러링 해결)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34840" y="5696712"/>
            <a:ext cx="128016" cy="128016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5577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HmiManager v0.2 → v0.3 단순화 과정에서 책임 범위 합의 필요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01000" y="18288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1828800"/>
            <a:ext cx="3611880" cy="45720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의외의 깨달음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83880" y="2587752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요구가 명시적이면 "단순화"의 가이드라인이 됨 (브레이크 즉시 통과)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183880" y="3364992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3246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Mermaid + Markdown만으로도 아키텍처 의사소통이 충분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83880" y="4142232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4023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추적성 ID(SWR###)가 진짜로 "왜?"에 답하는 가장 빠른 방법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83880" y="4919472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4800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ASPICE는 "무엇을 만들지" 가르치지 않는다 — "어떻게 증명할지"만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83880" y="5696712"/>
            <a:ext cx="128016" cy="128016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0" y="5577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케이스를 요구사항과 함께 쓰는 게 결국 가장 안전한 길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7391" cy="502920"/>
          </a:xfrm>
          <a:prstGeom prst="rect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41671" y="0"/>
            <a:ext cx="1787391" cy="502920"/>
          </a:xfrm>
          <a:prstGeom prst="rect">
            <a:avLst/>
          </a:prstGeom>
          <a:solidFill>
            <a:srgbClr val="47B5DB"/>
          </a:solidFill>
          <a:ln w="12700">
            <a:solidFill>
              <a:srgbClr val="47B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83341" y="0"/>
            <a:ext cx="1787391" cy="502920"/>
          </a:xfrm>
          <a:prstGeom prst="rect">
            <a:avLst/>
          </a:prstGeom>
          <a:solidFill>
            <a:srgbClr val="5BA9DC"/>
          </a:solidFill>
          <a:ln w="12700">
            <a:solidFill>
              <a:srgbClr val="5BA9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5012" y="0"/>
            <a:ext cx="1787391" cy="502920"/>
          </a:xfrm>
          <a:prstGeom prst="rect">
            <a:avLst/>
          </a:prstGeom>
          <a:solidFill>
            <a:srgbClr val="6F9DDD"/>
          </a:solidFill>
          <a:ln w="12700">
            <a:solidFill>
              <a:srgbClr val="6F9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66683" y="0"/>
            <a:ext cx="1787391" cy="502920"/>
          </a:xfrm>
          <a:prstGeom prst="rect">
            <a:avLst/>
          </a:prstGeom>
          <a:solidFill>
            <a:srgbClr val="8391DE"/>
          </a:solidFill>
          <a:ln w="12700">
            <a:solidFill>
              <a:srgbClr val="839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8354" y="0"/>
            <a:ext cx="1787391" cy="502920"/>
          </a:xfrm>
          <a:prstGeom prst="rect">
            <a:avLst/>
          </a:prstGeom>
          <a:solidFill>
            <a:srgbClr val="8983B9"/>
          </a:solidFill>
          <a:ln w="12700">
            <a:solidFill>
              <a:srgbClr val="8983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0024" y="0"/>
            <a:ext cx="1787391" cy="502920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65815" y="7315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731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731520"/>
            <a:ext cx="73152" cy="292608"/>
          </a:xfrm>
          <a:prstGeom prst="rect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자체 평가 의견 — 결과물 평가 + 향후 과제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시점 자체 평가 + W4까지 남은 작업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27632"/>
            <a:ext cx="914400" cy="0"/>
          </a:xfrm>
          <a:prstGeom prst="line">
            <a:avLst/>
          </a:prstGeom>
          <a:noFill/>
          <a:ln w="25400">
            <a:solidFill>
              <a:srgbClr val="86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2880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E2F7F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결과물에 대한 완성도 평가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331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10점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/ 표준 산출물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2532888"/>
            <a:ext cx="12801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532888"/>
            <a:ext cx="1152144" cy="16459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1945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DBC 정본화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3035808"/>
            <a:ext cx="12801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035808"/>
            <a:ext cx="1280160" cy="16459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AUTOSAR ECU 구현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3538728"/>
            <a:ext cx="12801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538728"/>
            <a:ext cx="768096" cy="164592"/>
          </a:xfrm>
          <a:prstGeom prst="rect">
            <a:avLst/>
          </a:prstGeom>
          <a:solidFill>
            <a:srgbClr val="33C1DA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노드별 통합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4041648"/>
            <a:ext cx="12801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4041648"/>
            <a:ext cx="640080" cy="164592"/>
          </a:xfrm>
          <a:prstGeom prst="rect">
            <a:avLst/>
          </a:prstGeom>
          <a:solidFill>
            <a:srgbClr val="33C1DA"/>
          </a:solidFill>
          <a:ln/>
        </p:spPr>
      </p:sp>
      <p:sp>
        <p:nvSpPr>
          <p:cNvPr id="32" name="Text 30"/>
          <p:cNvSpPr/>
          <p:nvPr/>
        </p:nvSpPr>
        <p:spPr>
          <a:xfrm>
            <a:off x="219456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Case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26280" y="4544568"/>
            <a:ext cx="12801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4544568"/>
            <a:ext cx="384048" cy="16459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5074920"/>
            <a:ext cx="5212080" cy="0"/>
          </a:xfrm>
          <a:prstGeom prst="line">
            <a:avLst/>
          </a:prstGeom>
          <a:noFill/>
          <a:ln w="6350">
            <a:solidFill>
              <a:srgbClr val="33C1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1663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개선이 필요한 부분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4406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2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Case 본격 작성 시작 · DistanceControl PID 튜닝 자동화 · HIL 통합 시나리오 12종 자동 실행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182880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EBE9F3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W4까지 남은 작업 (Checklist)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36792" y="2377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2377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23591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DistanceControl PID 튜닝 + Test Harness 자동화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36792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66560" y="2816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CanCommunication SWC .slx 완성 + ARXML export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36792" y="32918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3291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66560" y="3273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mobilgene BSW 설정 + S32DS 빌드 + 플래싱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36792" y="37490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66560" y="37307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Arduino front/rear 실차 연결 + 30ms 실측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36792" y="42062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4206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766560" y="4187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Fusion 모듈 (YOLO + LiDAR) 1차 동작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36792" y="4663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4663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766560" y="46451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시나리오 12종 자동 실행 + 회귀 테스트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36792" y="5120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5120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766560" y="5102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Case 문서 (P2-SafetyCase.md) 작성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36792" y="55778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6792" y="5577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766560" y="5559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발표 자료 + 데모 영상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39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8677B6">
              <a:alpha val="50000"/>
            </a:srgbClr>
          </a:solidFill>
          <a:ln w="12700">
            <a:solidFill>
              <a:srgbClr val="8677B6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33C1DA">
              <a:alpha val="40000"/>
            </a:srgbClr>
          </a:solidFill>
          <a:ln w="12700">
            <a:solidFill>
              <a:srgbClr val="33C1D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00055" y="2743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0055" y="274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· ACC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of Document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C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참여하신 여러분께  진심으로 감사드립니다.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C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STK → SYS → SWR → AUTOSAR → CAN → 코드 → 테스트 — 끊기지 않는 한 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8608" y="5120640"/>
            <a:ext cx="164592" cy="164592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84368" y="5120640"/>
            <a:ext cx="164592" cy="164592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0128" y="5120640"/>
            <a:ext cx="164592" cy="164592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5888" y="5120640"/>
            <a:ext cx="164592" cy="164592"/>
          </a:xfrm>
          <a:prstGeom prst="ellipse">
            <a:avLst/>
          </a:prstGeom>
          <a:solidFill>
            <a:srgbClr val="8677B6"/>
          </a:solidFill>
          <a:ln w="12700">
            <a:solidFill>
              <a:srgbClr val="86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1648" y="5120640"/>
            <a:ext cx="164592" cy="164592"/>
          </a:xfrm>
          <a:prstGeom prst="ellipse">
            <a:avLst/>
          </a:prstGeom>
          <a:solidFill>
            <a:srgbClr val="33C1DA"/>
          </a:solidFill>
          <a:ln w="12700">
            <a:solidFill>
              <a:srgbClr val="33C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C5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SeSAC ACC Team  ·  2026.04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 중간 발표 자료</dc:title>
  <dc:subject>PptxGenJS Presentation</dc:subject>
  <dc:creator>SeSAC ACC Team</dc:creator>
  <cp:lastModifiedBy>SeSAC ACC Team</cp:lastModifiedBy>
  <cp:revision>1</cp:revision>
  <dcterms:created xsi:type="dcterms:W3CDTF">2026-04-28T08:15:10Z</dcterms:created>
  <dcterms:modified xsi:type="dcterms:W3CDTF">2026-04-28T08:15:10Z</dcterms:modified>
</cp:coreProperties>
</file>
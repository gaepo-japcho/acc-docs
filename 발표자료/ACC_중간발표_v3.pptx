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68" r:id="rId3"/>
    <p:sldId id="262" r:id="rId4"/>
    <p:sldId id="274" r:id="rId5"/>
    <p:sldId id="275" r:id="rId6"/>
    <p:sldId id="276" r:id="rId7"/>
    <p:sldId id="278" r:id="rId15"/>
    <p:sldId id="279" r:id="rId16"/>
    <p:sldId id="280" r:id="rId17"/>
    <p:sldId id="281" r:id="rId18"/>
    <p:sldId id="277" r:id="rId8"/>
    <p:sldId id="267" r:id="rId9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5" userDrawn="1">
          <p15:clr>
            <a:srgbClr val="A4A3A4"/>
          </p15:clr>
        </p15:guide>
        <p15:guide id="2" pos="5654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8" pos="370" userDrawn="1">
          <p15:clr>
            <a:srgbClr val="A4A3A4"/>
          </p15:clr>
        </p15:guide>
        <p15:guide id="9" pos="70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77B6"/>
    <a:srgbClr val="33C1DA"/>
    <a:srgbClr val="EBE9F3"/>
    <a:srgbClr val="EEFAFC"/>
    <a:srgbClr val="FFFFFF"/>
    <a:srgbClr val="E2F7FA"/>
    <a:srgbClr val="F4F5FA"/>
    <a:srgbClr val="E2DEEE"/>
    <a:srgbClr val="2E3968"/>
    <a:srgbClr val="6C73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576" y="102"/>
      </p:cViewPr>
      <p:guideLst>
        <p:guide orient="horz" pos="1525"/>
        <p:guide pos="5654"/>
        <p:guide pos="3840"/>
        <p:guide pos="370"/>
        <p:guide pos="708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2952" y="84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yundai Sans Text Pro Regular" panose="020B0504040000000000" pitchFamily="50" charset="-127"/>
                <a:ea typeface="Hyundai Sans Text Pro Regular" panose="020B050404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yundai Sans Text Pro Regular" panose="020B0504040000000000" pitchFamily="50" charset="-127"/>
                <a:ea typeface="Hyundai Sans Text Pro Regular" panose="020B0504040000000000" pitchFamily="50" charset="-127"/>
              </a:defRPr>
            </a:lvl1pPr>
          </a:lstStyle>
          <a:p>
            <a:fld id="{B35BF11E-C91E-4BEB-9999-AAA96629456D}" type="datetimeFigureOut">
              <a:rPr lang="ko-KR" altLang="en-US" smtClean="0"/>
              <a:pPr/>
              <a:t>2026-01-07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yundai Sans Text Pro Regular" panose="020B0504040000000000" pitchFamily="50" charset="-127"/>
                <a:ea typeface="Hyundai Sans Text Pro Regular" panose="020B050404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yundai Sans Text Pro Regular" panose="020B0504040000000000" pitchFamily="50" charset="-127"/>
                <a:ea typeface="Hyundai Sans Text Pro Regular" panose="020B0504040000000000" pitchFamily="50" charset="-127"/>
              </a:defRPr>
            </a:lvl1pPr>
          </a:lstStyle>
          <a:p>
            <a:fld id="{2DFE49A2-3BD9-4852-9999-C048A7EB6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8888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Hyundai Sans Text Pro Regular" panose="020B0504040000000000" pitchFamily="50" charset="-127"/>
        <a:ea typeface="Hyundai Sans Text Pro Regular" panose="020B050404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FE49A2-3BD9-4852-9999-C048A7EB625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028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52A453A-6DE8-48D6-BCCF-F37A54CFACE2}" type="datetime1">
              <a:rPr lang="ko-KR" altLang="en-US" smtClean="0"/>
              <a:pPr/>
              <a:t>2026-01-07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1F5D9D7-E3BC-46C0-BAF5-7863ED15A7D0}" type="slidenum">
              <a:rPr lang="ko-KR" altLang="en-US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4842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45C1A4-0D66-4FCF-B88D-6D564A79E226}" type="datetime1">
              <a:rPr lang="ko-KR" altLang="en-US" smtClean="0"/>
              <a:pPr/>
              <a:t>2026-01-07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1F5D9D7-E3BC-46C0-BAF5-7863ED15A7D0}" type="slidenum">
              <a:rPr lang="ko-KR" altLang="en-US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28033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F9461E6-4383-4919-A688-9C526CFA2DD1}" type="datetime1">
              <a:rPr lang="ko-KR" altLang="en-US" smtClean="0"/>
              <a:pPr/>
              <a:t>2026-01-07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81F5D9D7-E3BC-46C0-BAF5-7863ED15A7D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0051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Relationship Id="rId10" Type="http://schemas.openxmlformats.org/officeDocument/2006/relationships/image" Target="../media/image10.svg"/><Relationship Id="rId11" Type="http://schemas.openxmlformats.org/officeDocument/2006/relationships/image" Target="../media/image11.png"/><Relationship Id="rId12" Type="http://schemas.openxmlformats.org/officeDocument/2006/relationships/image" Target="../media/image12.svg"/><Relationship Id="rId13" Type="http://schemas.openxmlformats.org/officeDocument/2006/relationships/image" Target="../media/image13.png"/><Relationship Id="rId14" Type="http://schemas.openxmlformats.org/officeDocument/2006/relationships/image" Target="../media/image14.svg"/><Relationship Id="rId15" Type="http://schemas.openxmlformats.org/officeDocument/2006/relationships/image" Target="../media/image15.png"/><Relationship Id="rId16" Type="http://schemas.openxmlformats.org/officeDocument/2006/relationships/image" Target="../media/image1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19100" y="3771900"/>
            <a:ext cx="7757233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새싹 임베디드 기반 SW 프로젝트 · ACC 중간발표</a:t>
            </a:r>
            <a:r>
              <a:rPr lang="en-US" altLang="ko-KR" sz="3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3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419100" y="4648200"/>
            <a:ext cx="9182099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Adaptive Cruise Control · 개포동잡초</a:t>
            </a:r>
            <a:r>
              <a:rPr lang="en-US" altLang="ko-KR" sz="4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4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4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ko-KR" altLang="en-US" sz="4000" dirty="0">
              <a:ln>
                <a:solidFill>
                  <a:srgbClr val="2E3968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605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슬라이드 번호 개체 틀 11"/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5D9D7-E3BC-46C0-BAF5-7863ED15A7D0}" type="slidenum">
              <a:rPr kumimoji="0" lang="ko-KR" altLang="en-US" sz="1100" b="0" i="0" u="none" strike="noStrike" kern="1200" cap="none" spc="0" normalizeH="0" baseline="0" noProof="0" smtClean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100" b="0" i="0" u="none" strike="noStrike" kern="1200" cap="none" spc="0" normalizeH="0" baseline="0" noProof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CF893E-4843-3FDC-9B5B-59443BB8C5B6}"/>
              </a:ext>
            </a:extLst>
          </p:cNvPr>
          <p:cNvSpPr txBox="1"/>
          <p:nvPr/>
        </p:nvSpPr>
        <p:spPr>
          <a:xfrm>
            <a:off x="7013793" y="2514579"/>
            <a:ext cx="3673068" cy="30777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E5140-650E-71FF-9B0D-7FB7A4B15369}"/>
              </a:ext>
            </a:extLst>
          </p:cNvPr>
          <p:cNvSpPr txBox="1"/>
          <p:nvPr/>
        </p:nvSpPr>
        <p:spPr>
          <a:xfrm>
            <a:off x="6242110" y="2376079"/>
            <a:ext cx="679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677B6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3200" dirty="0">
              <a:solidFill>
                <a:srgbClr val="8677B6">
                  <a:alpha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A5EA6E-0FCC-24A0-FF1D-BF3B4E10A61C}"/>
              </a:ext>
            </a:extLst>
          </p:cNvPr>
          <p:cNvSpPr txBox="1"/>
          <p:nvPr/>
        </p:nvSpPr>
        <p:spPr>
          <a:xfrm>
            <a:off x="7013793" y="3315668"/>
            <a:ext cx="3205016" cy="30777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팀 구성 및 역할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CFC2B4-36F9-4E25-8C26-885C97DDCF25}"/>
              </a:ext>
            </a:extLst>
          </p:cNvPr>
          <p:cNvSpPr txBox="1"/>
          <p:nvPr/>
        </p:nvSpPr>
        <p:spPr>
          <a:xfrm>
            <a:off x="6242109" y="3175385"/>
            <a:ext cx="7644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677B6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3200" dirty="0">
              <a:solidFill>
                <a:srgbClr val="8677B6">
                  <a:alpha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34FC05-01F2-5A8D-523D-43BA86A45562}"/>
              </a:ext>
            </a:extLst>
          </p:cNvPr>
          <p:cNvSpPr txBox="1"/>
          <p:nvPr/>
        </p:nvSpPr>
        <p:spPr>
          <a:xfrm>
            <a:off x="7013793" y="4116757"/>
            <a:ext cx="3414011" cy="30777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절차 및 방법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64EA23-7488-525F-ED0E-E74A3593AC47}"/>
              </a:ext>
            </a:extLst>
          </p:cNvPr>
          <p:cNvSpPr txBox="1"/>
          <p:nvPr/>
        </p:nvSpPr>
        <p:spPr>
          <a:xfrm>
            <a:off x="6242109" y="3974691"/>
            <a:ext cx="7644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677B6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3200" dirty="0">
              <a:solidFill>
                <a:srgbClr val="8677B6">
                  <a:alpha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AF07D3-3CFD-70CF-F5D9-D5B8155E031B}"/>
              </a:ext>
            </a:extLst>
          </p:cNvPr>
          <p:cNvSpPr txBox="1"/>
          <p:nvPr/>
        </p:nvSpPr>
        <p:spPr>
          <a:xfrm>
            <a:off x="7013793" y="4917846"/>
            <a:ext cx="2484889" cy="30777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경과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5796D5-59D4-5AA4-2EB9-33DCC3910C4E}"/>
              </a:ext>
            </a:extLst>
          </p:cNvPr>
          <p:cNvSpPr txBox="1"/>
          <p:nvPr/>
        </p:nvSpPr>
        <p:spPr>
          <a:xfrm>
            <a:off x="6242109" y="4773997"/>
            <a:ext cx="7644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677B6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3200" dirty="0">
              <a:solidFill>
                <a:srgbClr val="8677B6">
                  <a:alpha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B734C5-9205-853E-3D97-3F36C5D24235}"/>
              </a:ext>
            </a:extLst>
          </p:cNvPr>
          <p:cNvSpPr txBox="1"/>
          <p:nvPr/>
        </p:nvSpPr>
        <p:spPr>
          <a:xfrm>
            <a:off x="7013793" y="5718935"/>
            <a:ext cx="3205016" cy="30777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자체 평가 의견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79F715-292C-D8A7-BD5E-F75BD1996ED8}"/>
              </a:ext>
            </a:extLst>
          </p:cNvPr>
          <p:cNvSpPr txBox="1"/>
          <p:nvPr/>
        </p:nvSpPr>
        <p:spPr>
          <a:xfrm>
            <a:off x="6242109" y="5573304"/>
            <a:ext cx="7644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8677B6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3200" dirty="0">
              <a:solidFill>
                <a:srgbClr val="8677B6">
                  <a:alpha val="50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287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28599" y="0"/>
            <a:ext cx="7800976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sz="2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20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</a:p>
        </p:txBody>
      </p:sp>
      <p:sp>
        <p:nvSpPr>
          <p:cNvPr id="56" name="슬라이드 번호 개체 틀 11"/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5D9D7-E3BC-46C0-BAF5-7863ED15A7D0}" type="slidenum">
              <a:rPr kumimoji="0" lang="ko-KR" altLang="en-US" sz="1100" b="0" i="0" u="none" strike="noStrike" kern="1200" cap="none" spc="0" normalizeH="0" baseline="0" noProof="0" smtClean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1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위쪽 모서리 13">
            <a:extLst>
              <a:ext uri="{FF2B5EF4-FFF2-40B4-BE49-F238E27FC236}">
                <a16:creationId xmlns:a16="http://schemas.microsoft.com/office/drawing/2014/main" id="{A1B433CC-47C4-3A31-4533-08BB16995041}"/>
              </a:ext>
            </a:extLst>
          </p:cNvPr>
          <p:cNvSpPr/>
          <p:nvPr/>
        </p:nvSpPr>
        <p:spPr>
          <a:xfrm>
            <a:off x="7339013" y="2479681"/>
            <a:ext cx="2122307" cy="3609702"/>
          </a:xfrm>
          <a:prstGeom prst="round2SameRect">
            <a:avLst/>
          </a:prstGeom>
          <a:solidFill>
            <a:srgbClr val="EEFAFC"/>
          </a:solidFill>
          <a:ln>
            <a:noFill/>
          </a:ln>
          <a:effectLst>
            <a:outerShdw blurRad="63500" sx="102000" sy="102000" algn="ctr" rotWithShape="0">
              <a:srgbClr val="E2F7FA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70DA8C-BC8E-D543-9124-12A9BAE8919D}"/>
              </a:ext>
            </a:extLst>
          </p:cNvPr>
          <p:cNvSpPr/>
          <p:nvPr/>
        </p:nvSpPr>
        <p:spPr>
          <a:xfrm>
            <a:off x="7339014" y="5946328"/>
            <a:ext cx="2122306" cy="143055"/>
          </a:xfrm>
          <a:prstGeom prst="rect">
            <a:avLst/>
          </a:prstGeom>
          <a:solidFill>
            <a:srgbClr val="33C1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8060C-0C0E-DA1B-532E-34BA2A46E08D}"/>
              </a:ext>
            </a:extLst>
          </p:cNvPr>
          <p:cNvSpPr txBox="1"/>
          <p:nvPr/>
        </p:nvSpPr>
        <p:spPr>
          <a:xfrm>
            <a:off x="7548046" y="2972282"/>
            <a:ext cx="1704241" cy="73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프로젝트</a:t>
            </a:r>
            <a:br>
              <a: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</a:br>
            <a:r>
              <a:rPr lang="ko-KR" altLang="en-US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C1D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구조</a:t>
            </a:r>
            <a:endParaRPr lang="en-US" altLang="ko-KR" sz="19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C1D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5" name="사각형: 둥근 위쪽 모서리 24">
            <a:extLst>
              <a:ext uri="{FF2B5EF4-FFF2-40B4-BE49-F238E27FC236}">
                <a16:creationId xmlns:a16="http://schemas.microsoft.com/office/drawing/2014/main" id="{6C0E6120-671F-CE30-3415-B45AD9C2EC2D}"/>
              </a:ext>
            </a:extLst>
          </p:cNvPr>
          <p:cNvSpPr/>
          <p:nvPr/>
        </p:nvSpPr>
        <p:spPr>
          <a:xfrm>
            <a:off x="491900" y="2479681"/>
            <a:ext cx="2122307" cy="3609702"/>
          </a:xfrm>
          <a:prstGeom prst="round2SameRect">
            <a:avLst/>
          </a:prstGeom>
          <a:solidFill>
            <a:srgbClr val="EBE9F3"/>
          </a:solidFill>
          <a:ln>
            <a:noFill/>
          </a:ln>
          <a:effectLst>
            <a:outerShdw blurRad="63500" sx="102000" sy="102000" algn="ctr" rotWithShape="0">
              <a:srgbClr val="8677B6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E231D7E-193E-1979-BCA6-E1EBF1F9A6DF}"/>
              </a:ext>
            </a:extLst>
          </p:cNvPr>
          <p:cNvSpPr/>
          <p:nvPr/>
        </p:nvSpPr>
        <p:spPr>
          <a:xfrm>
            <a:off x="491900" y="5946328"/>
            <a:ext cx="2122306" cy="143055"/>
          </a:xfrm>
          <a:prstGeom prst="rect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A06F27-0483-0673-CA79-C77788A74A97}"/>
              </a:ext>
            </a:extLst>
          </p:cNvPr>
          <p:cNvSpPr txBox="1"/>
          <p:nvPr/>
        </p:nvSpPr>
        <p:spPr>
          <a:xfrm>
            <a:off x="700932" y="2972282"/>
            <a:ext cx="1704241" cy="99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8677B6"/>
                </a:solidFill>
                <a:latin typeface="맑은 고딕"/>
              </a:rPr>
              <a:t>프로젝트 주제</a:t>
            </a:r>
          </a:p>
          <a:p>
            <a:pPr algn="ctr"/>
            <a:r>
              <a:rPr b="1">
                <a:solidFill>
                  <a:srgbClr val="8677B6"/>
                </a:solidFill>
                <a:latin typeface="맑은 고딕"/>
              </a:rPr>
              <a:t>및 선정 배경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67A96A-E534-D8CD-2F39-1F64B9A3BE75}"/>
              </a:ext>
            </a:extLst>
          </p:cNvPr>
          <p:cNvSpPr txBox="1"/>
          <p:nvPr/>
        </p:nvSpPr>
        <p:spPr>
          <a:xfrm>
            <a:off x="491899" y="4365267"/>
            <a:ext cx="2122307" cy="90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677B6"/>
                </a:solidFill>
                <a:latin typeface="맑은 고딕"/>
              </a:rPr>
              <a:t>AUTOSAR 기반 ACC 시스템</a:t>
            </a:r>
          </a:p>
          <a:p>
            <a:pPr algn="ctr"/>
            <a:r>
              <a:rPr sz="1200" b="1">
                <a:solidFill>
                  <a:srgbClr val="8677B6"/>
                </a:solidFill>
                <a:latin typeface="맑은 고딕"/>
              </a:rPr>
              <a:t>1/10 RC카 플랫폼 실증</a:t>
            </a:r>
          </a:p>
          <a:p>
            <a:pPr algn="ctr"/>
            <a:r>
              <a:rPr sz="1200" b="1">
                <a:solidFill>
                  <a:srgbClr val="8677B6"/>
                </a:solidFill>
                <a:latin typeface="맑은 고딕"/>
              </a:rPr>
              <a:t>(직진 전용 · AEB 미포함)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4759C7B-3ABF-7D0F-8D79-A5D6DFC4EE75}"/>
              </a:ext>
            </a:extLst>
          </p:cNvPr>
          <p:cNvCxnSpPr>
            <a:cxnSpLocks/>
          </p:cNvCxnSpPr>
          <p:nvPr/>
        </p:nvCxnSpPr>
        <p:spPr>
          <a:xfrm>
            <a:off x="1448830" y="4172369"/>
            <a:ext cx="208445" cy="0"/>
          </a:xfrm>
          <a:prstGeom prst="line">
            <a:avLst/>
          </a:prstGeom>
          <a:ln w="19050">
            <a:solidFill>
              <a:srgbClr val="8677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2F631ED0-FCAF-BED4-B594-D98E6B54C379}"/>
              </a:ext>
            </a:extLst>
          </p:cNvPr>
          <p:cNvSpPr/>
          <p:nvPr/>
        </p:nvSpPr>
        <p:spPr>
          <a:xfrm>
            <a:off x="2774271" y="2479681"/>
            <a:ext cx="2122307" cy="3609702"/>
          </a:xfrm>
          <a:prstGeom prst="round2SameRect">
            <a:avLst/>
          </a:prstGeom>
          <a:solidFill>
            <a:srgbClr val="EEFAFC"/>
          </a:solidFill>
          <a:ln>
            <a:noFill/>
          </a:ln>
          <a:effectLst>
            <a:outerShdw blurRad="63500" sx="102000" sy="102000" algn="ctr" rotWithShape="0">
              <a:srgbClr val="E2F7FA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A39333B-82AE-10FC-3A2B-C1874DB6E99D}"/>
              </a:ext>
            </a:extLst>
          </p:cNvPr>
          <p:cNvSpPr/>
          <p:nvPr/>
        </p:nvSpPr>
        <p:spPr>
          <a:xfrm>
            <a:off x="2774272" y="5946328"/>
            <a:ext cx="2122306" cy="143055"/>
          </a:xfrm>
          <a:prstGeom prst="rect">
            <a:avLst/>
          </a:prstGeom>
          <a:solidFill>
            <a:srgbClr val="33C1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43AC4C-C62E-7FBD-DEFC-9D87E7DDA69B}"/>
              </a:ext>
            </a:extLst>
          </p:cNvPr>
          <p:cNvSpPr txBox="1"/>
          <p:nvPr/>
        </p:nvSpPr>
        <p:spPr>
          <a:xfrm>
            <a:off x="2983304" y="2972282"/>
            <a:ext cx="1704241" cy="73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3C1DA"/>
                </a:solidFill>
                <a:latin typeface="맑은 고딕"/>
              </a:rPr>
              <a:t>프로젝트</a:t>
            </a:r>
          </a:p>
          <a:p>
            <a:pPr algn="ctr"/>
            <a:r>
              <a:rPr sz="1900" b="1">
                <a:solidFill>
                  <a:srgbClr val="33C1DA"/>
                </a:solidFill>
                <a:latin typeface="맑은 고딕"/>
              </a:rPr>
              <a:t>내용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986667-0F9A-63B3-85CF-539897A25D93}"/>
              </a:ext>
            </a:extLst>
          </p:cNvPr>
          <p:cNvSpPr txBox="1"/>
          <p:nvPr/>
        </p:nvSpPr>
        <p:spPr>
          <a:xfrm>
            <a:off x="2774271" y="4365267"/>
            <a:ext cx="2122307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3C1DA"/>
                </a:solidFill>
                <a:latin typeface="맑은 고딕"/>
              </a:rPr>
              <a:t>전방 차량 인식 후</a:t>
            </a:r>
          </a:p>
          <a:p>
            <a:pPr algn="ctr"/>
            <a:r>
              <a:rPr sz="1200" b="1">
                <a:solidFill>
                  <a:srgbClr val="33C1DA"/>
                </a:solidFill>
                <a:latin typeface="맑은 고딕"/>
              </a:rPr>
              <a:t>차간거리·속도 자동 제어</a:t>
            </a:r>
          </a:p>
          <a:p>
            <a:pPr algn="ctr"/>
            <a:r>
              <a:rPr sz="1200" b="1">
                <a:solidFill>
                  <a:srgbClr val="33C1DA"/>
                </a:solidFill>
                <a:latin typeface="맑은 고딕"/>
              </a:rPr>
              <a:t>FSM 5상태 (OFF/STBY/</a:t>
            </a:r>
          </a:p>
          <a:p>
            <a:pPr algn="ctr"/>
            <a:r>
              <a:rPr sz="1200" b="1">
                <a:solidFill>
                  <a:srgbClr val="33C1DA"/>
                </a:solidFill>
                <a:latin typeface="맑은 고딕"/>
              </a:rPr>
              <a:t>CRUISING/FOLLOWING/FAULT)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BF0F327-0A0F-56C8-4241-85EC7351C00D}"/>
              </a:ext>
            </a:extLst>
          </p:cNvPr>
          <p:cNvCxnSpPr>
            <a:cxnSpLocks/>
          </p:cNvCxnSpPr>
          <p:nvPr/>
        </p:nvCxnSpPr>
        <p:spPr>
          <a:xfrm>
            <a:off x="3731202" y="4172369"/>
            <a:ext cx="208445" cy="0"/>
          </a:xfrm>
          <a:prstGeom prst="line">
            <a:avLst/>
          </a:prstGeom>
          <a:ln w="19050">
            <a:solidFill>
              <a:srgbClr val="33C1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사각형: 둥근 위쪽 모서리 58">
            <a:extLst>
              <a:ext uri="{FF2B5EF4-FFF2-40B4-BE49-F238E27FC236}">
                <a16:creationId xmlns:a16="http://schemas.microsoft.com/office/drawing/2014/main" id="{D7FB3DE2-8A1B-8B23-75F0-A86748FD01C1}"/>
              </a:ext>
            </a:extLst>
          </p:cNvPr>
          <p:cNvSpPr/>
          <p:nvPr/>
        </p:nvSpPr>
        <p:spPr>
          <a:xfrm>
            <a:off x="5034846" y="2479681"/>
            <a:ext cx="2122307" cy="3609702"/>
          </a:xfrm>
          <a:prstGeom prst="round2SameRect">
            <a:avLst/>
          </a:prstGeom>
          <a:solidFill>
            <a:srgbClr val="EBE9F3"/>
          </a:solidFill>
          <a:ln>
            <a:noFill/>
          </a:ln>
          <a:effectLst>
            <a:outerShdw blurRad="63500" sx="102000" sy="102000" algn="ctr" rotWithShape="0">
              <a:srgbClr val="3378C8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5ABC79D-EEB9-0B14-9AAF-60C456614B69}"/>
              </a:ext>
            </a:extLst>
          </p:cNvPr>
          <p:cNvSpPr/>
          <p:nvPr/>
        </p:nvSpPr>
        <p:spPr>
          <a:xfrm>
            <a:off x="5030312" y="5946328"/>
            <a:ext cx="2122306" cy="143055"/>
          </a:xfrm>
          <a:prstGeom prst="rect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8A9572-A97D-63AE-0910-9BE1A65487A9}"/>
              </a:ext>
            </a:extLst>
          </p:cNvPr>
          <p:cNvSpPr txBox="1"/>
          <p:nvPr/>
        </p:nvSpPr>
        <p:spPr>
          <a:xfrm>
            <a:off x="5265675" y="2972282"/>
            <a:ext cx="1704241" cy="694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8677B6"/>
                </a:solidFill>
                <a:latin typeface="맑은 고딕"/>
              </a:rPr>
              <a:t>활용 장비</a:t>
            </a:r>
          </a:p>
          <a:p>
            <a:pPr algn="ctr"/>
            <a:r>
              <a:rPr b="1">
                <a:solidFill>
                  <a:srgbClr val="8677B6"/>
                </a:solidFill>
                <a:latin typeface="맑은 고딕"/>
              </a:rPr>
              <a:t>및 재료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00AB8F-B733-297A-67B9-91F68F535C09}"/>
              </a:ext>
            </a:extLst>
          </p:cNvPr>
          <p:cNvSpPr txBox="1"/>
          <p:nvPr/>
        </p:nvSpPr>
        <p:spPr>
          <a:xfrm>
            <a:off x="5054374" y="4365267"/>
            <a:ext cx="2122307" cy="278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677B6"/>
                </a:solidFill>
                <a:latin typeface="맑은 고딕"/>
              </a:rPr>
              <a:t>MPC5606B (Main ECU)</a:t>
            </a:r>
          </a:p>
          <a:p>
            <a:pPr algn="ctr"/>
            <a:r>
              <a:rPr sz="1200" b="1">
                <a:solidFill>
                  <a:srgbClr val="8677B6"/>
                </a:solidFill>
                <a:latin typeface="맑은 고딕"/>
              </a:rPr>
              <a:t>Arduino × 2 + MCP2515</a:t>
            </a:r>
          </a:p>
          <a:p>
            <a:pPr algn="ctr"/>
            <a:r>
              <a:rPr sz="1200" b="1">
                <a:solidFill>
                  <a:srgbClr val="8677B6"/>
                </a:solidFill>
                <a:latin typeface="맑은 고딕"/>
              </a:rPr>
              <a:t>RPi 5 + LiDAR + Camera</a:t>
            </a:r>
          </a:p>
          <a:p>
            <a:pPr algn="ctr"/>
            <a:r>
              <a:rPr sz="1200" b="1">
                <a:solidFill>
                  <a:srgbClr val="8677B6"/>
                </a:solidFill>
                <a:latin typeface="맑은 고딕"/>
              </a:rPr>
              <a:t>MATLAB R2024b · mobilgene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48554D9B-31DF-97F0-16B8-E3B92D4EDC28}"/>
              </a:ext>
            </a:extLst>
          </p:cNvPr>
          <p:cNvCxnSpPr>
            <a:cxnSpLocks/>
          </p:cNvCxnSpPr>
          <p:nvPr/>
        </p:nvCxnSpPr>
        <p:spPr>
          <a:xfrm>
            <a:off x="6011305" y="4172369"/>
            <a:ext cx="208445" cy="0"/>
          </a:xfrm>
          <a:prstGeom prst="line">
            <a:avLst/>
          </a:prstGeom>
          <a:ln w="19050">
            <a:solidFill>
              <a:srgbClr val="8677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D374CCE-A084-F334-ED37-D8AD106B253B}"/>
              </a:ext>
            </a:extLst>
          </p:cNvPr>
          <p:cNvGrpSpPr/>
          <p:nvPr/>
        </p:nvGrpSpPr>
        <p:grpSpPr>
          <a:xfrm>
            <a:off x="9621385" y="2479681"/>
            <a:ext cx="2122307" cy="3609702"/>
            <a:chOff x="541891" y="2567441"/>
            <a:chExt cx="2122307" cy="3609702"/>
          </a:xfrm>
          <a:solidFill>
            <a:srgbClr val="EBE9F3"/>
          </a:solidFill>
          <a:effectLst/>
        </p:grpSpPr>
        <p:sp>
          <p:nvSpPr>
            <p:cNvPr id="79" name="사각형: 둥근 위쪽 모서리 78">
              <a:extLst>
                <a:ext uri="{FF2B5EF4-FFF2-40B4-BE49-F238E27FC236}">
                  <a16:creationId xmlns:a16="http://schemas.microsoft.com/office/drawing/2014/main" id="{134AF56D-5ACA-122D-526E-2A3B4E0CBC5C}"/>
                </a:ext>
              </a:extLst>
            </p:cNvPr>
            <p:cNvSpPr/>
            <p:nvPr/>
          </p:nvSpPr>
          <p:spPr>
            <a:xfrm>
              <a:off x="541891" y="2567441"/>
              <a:ext cx="2122307" cy="3609702"/>
            </a:xfrm>
            <a:prstGeom prst="round2SameRect">
              <a:avLst/>
            </a:prstGeom>
            <a:grpFill/>
            <a:ln>
              <a:noFill/>
            </a:ln>
            <a:effectLst>
              <a:outerShdw blurRad="63500" sx="102000" sy="102000" algn="ctr" rotWithShape="0">
                <a:srgbClr val="3378C8">
                  <a:alpha val="1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C352176-742E-B013-44F9-BADA7266813C}"/>
                </a:ext>
              </a:extLst>
            </p:cNvPr>
            <p:cNvSpPr/>
            <p:nvPr/>
          </p:nvSpPr>
          <p:spPr>
            <a:xfrm>
              <a:off x="541891" y="6034088"/>
              <a:ext cx="2122306" cy="1430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B350970-A560-1F1B-54E0-099EB8565366}"/>
              </a:ext>
            </a:extLst>
          </p:cNvPr>
          <p:cNvSpPr txBox="1"/>
          <p:nvPr/>
        </p:nvSpPr>
        <p:spPr>
          <a:xfrm>
            <a:off x="9823161" y="2972282"/>
            <a:ext cx="1704241" cy="694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8677B6"/>
                </a:solidFill>
                <a:latin typeface="맑은 고딕"/>
              </a:rPr>
              <a:t>활용 방안</a:t>
            </a:r>
          </a:p>
          <a:p>
            <a:pPr algn="ctr"/>
            <a:r>
              <a:rPr b="1">
                <a:solidFill>
                  <a:srgbClr val="8677B6"/>
                </a:solidFill>
                <a:latin typeface="맑은 고딕"/>
              </a:rPr>
              <a:t>및 기대 효과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31C3E3-2C4F-AAF5-A871-467BC6019293}"/>
              </a:ext>
            </a:extLst>
          </p:cNvPr>
          <p:cNvSpPr txBox="1"/>
          <p:nvPr/>
        </p:nvSpPr>
        <p:spPr>
          <a:xfrm>
            <a:off x="9616850" y="4365267"/>
            <a:ext cx="2122307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677B6"/>
                </a:solidFill>
                <a:latin typeface="맑은 고딕"/>
              </a:rPr>
              <a:t>ASPICE 4.0 / ISO 26262</a:t>
            </a:r>
          </a:p>
          <a:p>
            <a:pPr algn="ctr"/>
            <a:r>
              <a:rPr sz="1200" b="1">
                <a:solidFill>
                  <a:srgbClr val="8677B6"/>
                </a:solidFill>
                <a:latin typeface="맑은 고딕"/>
              </a:rPr>
              <a:t>프로세스 학습</a:t>
            </a:r>
          </a:p>
          <a:p>
            <a:pPr algn="ctr"/>
            <a:r>
              <a:rPr sz="1200" b="1">
                <a:solidFill>
                  <a:srgbClr val="8677B6"/>
                </a:solidFill>
                <a:latin typeface="맑은 고딕"/>
              </a:rPr>
              <a:t>자동차 SW 엔지니어</a:t>
            </a:r>
          </a:p>
          <a:p>
            <a:pPr algn="ctr"/>
            <a:r>
              <a:rPr sz="1200" b="1">
                <a:solidFill>
                  <a:srgbClr val="8677B6"/>
                </a:solidFill>
                <a:latin typeface="맑은 고딕"/>
              </a:rPr>
              <a:t>진로 포트폴리오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1012B8BA-0C28-6A59-CB4F-AEFE8599DCE2}"/>
              </a:ext>
            </a:extLst>
          </p:cNvPr>
          <p:cNvCxnSpPr>
            <a:cxnSpLocks/>
          </p:cNvCxnSpPr>
          <p:nvPr/>
        </p:nvCxnSpPr>
        <p:spPr>
          <a:xfrm>
            <a:off x="10573781" y="4172369"/>
            <a:ext cx="208445" cy="0"/>
          </a:xfrm>
          <a:prstGeom prst="line">
            <a:avLst/>
          </a:prstGeom>
          <a:ln w="19050">
            <a:solidFill>
              <a:srgbClr val="8677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38906E62-46D9-1155-D577-601650A1C012}"/>
              </a:ext>
            </a:extLst>
          </p:cNvPr>
          <p:cNvGrpSpPr/>
          <p:nvPr/>
        </p:nvGrpSpPr>
        <p:grpSpPr>
          <a:xfrm>
            <a:off x="541891" y="1709047"/>
            <a:ext cx="10526159" cy="369332"/>
            <a:chOff x="541891" y="1430219"/>
            <a:chExt cx="10526159" cy="369332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A9970D5-CB8B-CE88-37FC-AED95AA765BB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아래 내용이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포함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되도록 작성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</a:p>
          </p:txBody>
        </p:sp>
        <p:sp>
          <p:nvSpPr>
            <p:cNvPr id="84" name="그래픽 43">
              <a:extLst>
                <a:ext uri="{FF2B5EF4-FFF2-40B4-BE49-F238E27FC236}">
                  <a16:creationId xmlns:a16="http://schemas.microsoft.com/office/drawing/2014/main" id="{8983F4C6-8827-674E-D9DC-235527EDF1F1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8677B6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8677B6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390D677C-5384-80F6-517E-ED83025A99DA}"/>
              </a:ext>
            </a:extLst>
          </p:cNvPr>
          <p:cNvSpPr/>
          <p:nvPr/>
        </p:nvSpPr>
        <p:spPr>
          <a:xfrm>
            <a:off x="9625920" y="5946328"/>
            <a:ext cx="2122306" cy="143055"/>
          </a:xfrm>
          <a:prstGeom prst="rect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5ECCF406-51B8-F6AF-0EDA-3DA5373A0189}"/>
              </a:ext>
            </a:extLst>
          </p:cNvPr>
          <p:cNvSpPr/>
          <p:nvPr/>
        </p:nvSpPr>
        <p:spPr>
          <a:xfrm>
            <a:off x="1394397" y="2296084"/>
            <a:ext cx="360000" cy="360000"/>
          </a:xfrm>
          <a:prstGeom prst="ellipse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" name="object 19">
            <a:extLst>
              <a:ext uri="{FF2B5EF4-FFF2-40B4-BE49-F238E27FC236}">
                <a16:creationId xmlns:a16="http://schemas.microsoft.com/office/drawing/2014/main" id="{153C8CD4-7160-334F-B867-DBD8D3EDACAF}"/>
              </a:ext>
            </a:extLst>
          </p:cNvPr>
          <p:cNvSpPr txBox="1"/>
          <p:nvPr/>
        </p:nvSpPr>
        <p:spPr>
          <a:xfrm>
            <a:off x="334963" y="1111951"/>
            <a:ext cx="1094930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altLang="ko-KR" sz="28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rgbClr val="2E396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현대하모니 B"/>
              </a:rPr>
              <a:t>| </a:t>
            </a:r>
            <a:r>
              <a:rPr lang="ko-KR" altLang="en-US" sz="280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srgbClr val="2E396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현대하모니 B"/>
              </a:rPr>
              <a:t>주요 내용</a:t>
            </a:r>
            <a:endParaRPr sz="2800" dirty="0">
              <a:ln>
                <a:solidFill>
                  <a:srgbClr val="2E3968">
                    <a:alpha val="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현대하모니 B"/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F50FF3D3-CAB5-EC89-3C10-0527C46C085D}"/>
              </a:ext>
            </a:extLst>
          </p:cNvPr>
          <p:cNvSpPr/>
          <p:nvPr/>
        </p:nvSpPr>
        <p:spPr>
          <a:xfrm>
            <a:off x="5909957" y="2296084"/>
            <a:ext cx="360000" cy="360000"/>
          </a:xfrm>
          <a:prstGeom prst="ellipse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75533D9C-DD84-3A62-1F74-B1219FDD6D6B}"/>
              </a:ext>
            </a:extLst>
          </p:cNvPr>
          <p:cNvSpPr/>
          <p:nvPr/>
        </p:nvSpPr>
        <p:spPr>
          <a:xfrm>
            <a:off x="10502538" y="2296084"/>
            <a:ext cx="360000" cy="360000"/>
          </a:xfrm>
          <a:prstGeom prst="ellipse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8C849A8B-6F94-B169-E099-0D50D69423A7}"/>
              </a:ext>
            </a:extLst>
          </p:cNvPr>
          <p:cNvSpPr/>
          <p:nvPr/>
        </p:nvSpPr>
        <p:spPr>
          <a:xfrm>
            <a:off x="3652177" y="2303601"/>
            <a:ext cx="360000" cy="360000"/>
          </a:xfrm>
          <a:prstGeom prst="ellipse">
            <a:avLst/>
          </a:prstGeom>
          <a:solidFill>
            <a:srgbClr val="33C1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29E9F91C-5FE2-167F-2493-0F16A3C69389}"/>
              </a:ext>
            </a:extLst>
          </p:cNvPr>
          <p:cNvSpPr/>
          <p:nvPr/>
        </p:nvSpPr>
        <p:spPr>
          <a:xfrm>
            <a:off x="8220166" y="2303601"/>
            <a:ext cx="360000" cy="360000"/>
          </a:xfrm>
          <a:prstGeom prst="ellipse">
            <a:avLst/>
          </a:prstGeom>
          <a:solidFill>
            <a:srgbClr val="33C1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1990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BF367-F6A0-C616-21E7-3843F5786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D1A1491-AD16-7D9C-DEFB-9C41D828C3F1}"/>
              </a:ext>
            </a:extLst>
          </p:cNvPr>
          <p:cNvSpPr/>
          <p:nvPr/>
        </p:nvSpPr>
        <p:spPr>
          <a:xfrm>
            <a:off x="228599" y="0"/>
            <a:ext cx="7800976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팀 구성 및 역할</a:t>
            </a:r>
          </a:p>
        </p:txBody>
      </p:sp>
      <p:sp>
        <p:nvSpPr>
          <p:cNvPr id="56" name="슬라이드 번호 개체 틀 11">
            <a:extLst>
              <a:ext uri="{FF2B5EF4-FFF2-40B4-BE49-F238E27FC236}">
                <a16:creationId xmlns:a16="http://schemas.microsoft.com/office/drawing/2014/main" id="{05460B2A-BCB1-8D4D-9461-F7447F8E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5D9D7-E3BC-46C0-BAF5-7863ED15A7D0}" type="slidenum">
              <a:rPr kumimoji="0" lang="ko-KR" altLang="en-US" sz="1100" b="0" i="0" u="none" strike="noStrike" kern="1200" cap="none" spc="0" normalizeH="0" baseline="0" noProof="0" smtClean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1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F157674B-C7E5-3E9D-D8DD-5C2F53DEDE2B}"/>
              </a:ext>
            </a:extLst>
          </p:cNvPr>
          <p:cNvGrpSpPr/>
          <p:nvPr/>
        </p:nvGrpSpPr>
        <p:grpSpPr>
          <a:xfrm>
            <a:off x="541891" y="1185172"/>
            <a:ext cx="10526159" cy="646331"/>
            <a:chOff x="541891" y="1430219"/>
            <a:chExt cx="10526159" cy="646331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FE9B1D-3C07-AC3C-4C51-3B9E035CDF75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해당 프로젝트를 진행하면서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훈련생 별로 주도적으로 참여한 부분을 중심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으로 작성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solidFill>
                      <a:srgbClr val="5B9BD5">
                        <a:shade val="15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</a:p>
          </p:txBody>
        </p:sp>
        <p:sp>
          <p:nvSpPr>
            <p:cNvPr id="84" name="그래픽 43">
              <a:extLst>
                <a:ext uri="{FF2B5EF4-FFF2-40B4-BE49-F238E27FC236}">
                  <a16:creationId xmlns:a16="http://schemas.microsoft.com/office/drawing/2014/main" id="{BA0B3BA7-386A-139C-ED8B-D0A690FD9976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8677B6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8677B6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08099DE-8B9F-B5CE-EDB7-578B5C0C0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843866"/>
              </p:ext>
            </p:extLst>
          </p:nvPr>
        </p:nvGraphicFramePr>
        <p:xfrm>
          <a:off x="524528" y="2541182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학습자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r>
                        <a:rPr sz="1600" b="1">
                          <a:latin typeface="맑은 고딕"/>
                        </a:rPr>
                        <a:t>김유림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맑은 고딕"/>
                        </a:rPr>
                        <a:t>PM · 시스템 엔지니어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일정 관리 · 요구사항 정의 · HARA · PID MBD 보조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r>
                        <a:rPr sz="1600" b="1">
                          <a:latin typeface="맑은 고딕"/>
                        </a:rPr>
                        <a:t>엄지혜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맑은 고딕"/>
                        </a:rPr>
                        <a:t>SW 엔지니어 (메인 ECU)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AUTOSAR SWC 구현 (mobilgene) · CAN DB 설계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r>
                        <a:rPr sz="1600" b="1">
                          <a:latin typeface="맑은 고딕"/>
                        </a:rPr>
                        <a:t>박종범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맑은 고딕"/>
                        </a:rPr>
                        <a:t>SW 엔지니어 (HMI · HW)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RPi 카메라+LiDAR Fusion · GUI HMI · Confirmation Review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r>
                        <a:rPr sz="1600" b="1">
                          <a:latin typeface="맑은 고딕"/>
                        </a:rPr>
                        <a:t>유다희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맑은 고딕"/>
                        </a:rPr>
                        <a:t>HW 엔지니어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차체 제작 · Simulink MBD PID 설계 · Arduino 모터 펌웨어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r>
                        <a:rPr sz="1600" b="1">
                          <a:latin typeface="맑은 고딕"/>
                        </a:rPr>
                        <a:t>배정우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맑은 고딕"/>
                        </a:rPr>
                        <a:t>안전·품질 · SW 엔지니어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AUTOSAR SWC · CAN DB · ASIL B 검증 · Safety Case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sp>
        <p:nvSpPr>
          <p:cNvPr id="89" name="TextBox 88">
            <a:extLst>
              <a:ext uri="{FF2B5EF4-FFF2-40B4-BE49-F238E27FC236}">
                <a16:creationId xmlns:a16="http://schemas.microsoft.com/office/drawing/2014/main" id="{890588BE-F76B-7D3F-407B-14892817C2E1}"/>
              </a:ext>
            </a:extLst>
          </p:cNvPr>
          <p:cNvSpPr txBox="1"/>
          <p:nvPr/>
        </p:nvSpPr>
        <p:spPr>
          <a:xfrm>
            <a:off x="467002" y="1728348"/>
            <a:ext cx="9886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5명 팀 · 독립성 원칙: 안전·품질 엔지니어가 다른 팀원의 안전 산출물에 대해 Confirmation Review 수행 (ISO 26262 Part 2)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316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131BF-F446-3CA4-0ACC-FCD97D282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C160582-0E3E-B3E0-F6FD-CEBD392A23F7}"/>
              </a:ext>
            </a:extLst>
          </p:cNvPr>
          <p:cNvSpPr/>
          <p:nvPr/>
        </p:nvSpPr>
        <p:spPr>
          <a:xfrm>
            <a:off x="228599" y="0"/>
            <a:ext cx="7800976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절차 및 방법</a:t>
            </a:r>
          </a:p>
        </p:txBody>
      </p:sp>
      <p:sp>
        <p:nvSpPr>
          <p:cNvPr id="56" name="슬라이드 번호 개체 틀 11">
            <a:extLst>
              <a:ext uri="{FF2B5EF4-FFF2-40B4-BE49-F238E27FC236}">
                <a16:creationId xmlns:a16="http://schemas.microsoft.com/office/drawing/2014/main" id="{2B9FDAD0-A3AD-93A6-36B3-706A17775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5D9D7-E3BC-46C0-BAF5-7863ED15A7D0}" type="slidenum">
              <a:rPr kumimoji="0" lang="ko-KR" altLang="en-US" sz="1100" b="0" i="0" u="none" strike="noStrike" kern="1200" cap="none" spc="0" normalizeH="0" baseline="0" noProof="0" smtClean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1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975709B-8384-4418-58E9-D73798C63343}"/>
              </a:ext>
            </a:extLst>
          </p:cNvPr>
          <p:cNvGrpSpPr/>
          <p:nvPr/>
        </p:nvGrpSpPr>
        <p:grpSpPr>
          <a:xfrm>
            <a:off x="541891" y="1185172"/>
            <a:ext cx="10526159" cy="369332"/>
            <a:chOff x="541891" y="1430219"/>
            <a:chExt cx="10526159" cy="369332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04A10D6-553D-93A5-E015-B643593C1E16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프로젝트의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사전 기획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및 완료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과정으로 나누어 작성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solidFill>
                      <a:srgbClr val="5B9BD5">
                        <a:shade val="15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84" name="그래픽 43">
              <a:extLst>
                <a:ext uri="{FF2B5EF4-FFF2-40B4-BE49-F238E27FC236}">
                  <a16:creationId xmlns:a16="http://schemas.microsoft.com/office/drawing/2014/main" id="{CC6D5EA5-7E7B-EA38-A5B4-F9C591584B31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8677B6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8677B6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CE6D8CB-5944-3CA1-8870-72BF77259A52}"/>
              </a:ext>
            </a:extLst>
          </p:cNvPr>
          <p:cNvSpPr txBox="1"/>
          <p:nvPr/>
        </p:nvSpPr>
        <p:spPr>
          <a:xfrm>
            <a:off x="467002" y="1728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ASPICE 4.0 V-모델에 따른 6단계 수행 — 요구사항부터 자격 검증까지 추적성 확보 · 2026.03.10 ~ 2026.04.30 (총 7주)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BEA5072-4304-293E-6B41-C800F4AD3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188102"/>
              </p:ext>
            </p:extLst>
          </p:nvPr>
        </p:nvGraphicFramePr>
        <p:xfrm>
          <a:off x="524528" y="2679700"/>
          <a:ext cx="11218265" cy="355600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요구사항 도출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03.10 ~ 03.16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STK 24개 · SYS 36개 · SWR 30+ 도출 (StrictDoc)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이해관계자 인터뷰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시스템 설계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03.17 ~ 03.30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시스템 아키텍처 · CAN DB · HARA · Safety Goal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ISO 26262 적용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SW 설계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03.31 ~ 04.13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SWR 도출 · 8 SWC 정의 · cascaded 제어 구조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AUTOSAR Classic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구현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04.14 ~ 04.27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MATLAB MBD · mobilgene · Arduino 펌웨어 · RPi GUI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팀별 중간보고 (오늘)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통합·검증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04.28 ~ 04.30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RPi-ECU-Arduino 통합 · ASIL-B 시나리오 검증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최적화 · 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맑은 고딕"/>
                        </a:rPr>
                        <a:t>03.10 ~ 04.30 (총 7주)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384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B9D7A-7040-E639-64DF-368BD175F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04347D1-24B1-FAFE-E749-1CBC301C5887}"/>
              </a:ext>
            </a:extLst>
          </p:cNvPr>
          <p:cNvSpPr/>
          <p:nvPr/>
        </p:nvSpPr>
        <p:spPr>
          <a:xfrm>
            <a:off x="228599" y="0"/>
            <a:ext cx="7800976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경과</a:t>
            </a:r>
          </a:p>
        </p:txBody>
      </p:sp>
      <p:sp>
        <p:nvSpPr>
          <p:cNvPr id="56" name="슬라이드 번호 개체 틀 11">
            <a:extLst>
              <a:ext uri="{FF2B5EF4-FFF2-40B4-BE49-F238E27FC236}">
                <a16:creationId xmlns:a16="http://schemas.microsoft.com/office/drawing/2014/main" id="{601ABA90-DF77-4638-35F6-5F8D8784B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5D9D7-E3BC-46C0-BAF5-7863ED15A7D0}" type="slidenum">
              <a:rPr kumimoji="0" lang="ko-KR" altLang="en-US" sz="1100" b="0" i="0" u="none" strike="noStrike" kern="1200" cap="none" spc="0" normalizeH="0" baseline="0" noProof="0" smtClean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1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B731FE2-E2A3-5F93-DCBA-27909BFD06E5}"/>
              </a:ext>
            </a:extLst>
          </p:cNvPr>
          <p:cNvGrpSpPr/>
          <p:nvPr/>
        </p:nvGrpSpPr>
        <p:grpSpPr>
          <a:xfrm>
            <a:off x="541891" y="1185172"/>
            <a:ext cx="10526159" cy="369332"/>
            <a:chOff x="541891" y="1430219"/>
            <a:chExt cx="10526159" cy="369332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E74A5D7-DA73-AD64-17AA-980D3EDCC78F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결과물이 도출된 과정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세부적으로 작성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solidFill>
                      <a:srgbClr val="5B9BD5">
                        <a:shade val="15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84" name="그래픽 43">
              <a:extLst>
                <a:ext uri="{FF2B5EF4-FFF2-40B4-BE49-F238E27FC236}">
                  <a16:creationId xmlns:a16="http://schemas.microsoft.com/office/drawing/2014/main" id="{C703B9BF-5ED2-C200-71CF-BC23D94FD199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8677B6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8677B6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B42485-27ED-5416-78C0-F8A53321FF99}"/>
              </a:ext>
            </a:extLst>
          </p:cNvPr>
          <p:cNvSpPr txBox="1"/>
          <p:nvPr/>
        </p:nvSpPr>
        <p:spPr>
          <a:xfrm>
            <a:off x="467002" y="1728348"/>
            <a:ext cx="988662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수행 경과 요약 — 요구사항 정의 100% · 시스템/SW 설계 완료 · Arduino 펌웨어 완성 · ECU AUTOSAR 구현 진행 중 (다음 장에 상세)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kumimoji="0" lang="ko-KR" altLang="en-US" sz="1400" b="0" i="0" u="none" strike="noStrike" kern="1200" cap="none" spc="0" normalizeH="0" baseline="0" noProof="0" dirty="0">
              <a:ln>
                <a:solidFill>
                  <a:srgbClr val="5B9BD5">
                    <a:shade val="15000"/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</a:p>
        </p:txBody>
      </p:sp>
      <p:sp>
        <p:nvSpPr>
          <p:cNvPr id="2" name="왼쪽 중괄호 1">
            <a:extLst>
              <a:ext uri="{FF2B5EF4-FFF2-40B4-BE49-F238E27FC236}">
                <a16:creationId xmlns:a16="http://schemas.microsoft.com/office/drawing/2014/main" id="{F7414D39-8DB8-DBE0-E786-E33616CB8B32}"/>
              </a:ext>
            </a:extLst>
          </p:cNvPr>
          <p:cNvSpPr/>
          <p:nvPr/>
        </p:nvSpPr>
        <p:spPr>
          <a:xfrm>
            <a:off x="2235565" y="311619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F64031-C232-7FF0-FACF-3B5C7EC0222F}"/>
              </a:ext>
            </a:extLst>
          </p:cNvPr>
          <p:cNvSpPr txBox="1"/>
          <p:nvPr/>
        </p:nvSpPr>
        <p:spPr>
          <a:xfrm>
            <a:off x="513707" y="2983696"/>
            <a:ext cx="1738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프로젝트</a:t>
            </a: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수행 경과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1B8F503-42FE-E705-2F0D-F6ECC9CC6B24}"/>
              </a:ext>
            </a:extLst>
          </p:cNvPr>
          <p:cNvSpPr/>
          <p:nvPr/>
        </p:nvSpPr>
        <p:spPr>
          <a:xfrm>
            <a:off x="2830989" y="3756250"/>
            <a:ext cx="8902656" cy="673099"/>
          </a:xfrm>
          <a:prstGeom prst="roundRect">
            <a:avLst/>
          </a:prstGeom>
          <a:solidFill>
            <a:srgbClr val="F4F5FA">
              <a:alpha val="85000"/>
            </a:srgbClr>
          </a:solidFill>
          <a:ln>
            <a:noFill/>
          </a:ln>
          <a:effectLst>
            <a:outerShdw blurRad="76200" algn="ctr" rotWithShape="0">
              <a:srgbClr val="E2DEEE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07603D1-D36B-5A25-8AA6-7F752BE1692B}"/>
              </a:ext>
            </a:extLst>
          </p:cNvPr>
          <p:cNvGrpSpPr/>
          <p:nvPr/>
        </p:nvGrpSpPr>
        <p:grpSpPr>
          <a:xfrm>
            <a:off x="2638615" y="3907787"/>
            <a:ext cx="408282" cy="351966"/>
            <a:chOff x="450324" y="2128945"/>
            <a:chExt cx="889526" cy="766832"/>
          </a:xfrm>
        </p:grpSpPr>
        <p:sp>
          <p:nvSpPr>
            <p:cNvPr id="17" name="육각형 16">
              <a:extLst>
                <a:ext uri="{FF2B5EF4-FFF2-40B4-BE49-F238E27FC236}">
                  <a16:creationId xmlns:a16="http://schemas.microsoft.com/office/drawing/2014/main" id="{A7D29DF8-6C11-CA1F-E422-CA69F4C0BD1A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C5325DC3-25A8-BBC6-BA0F-3B51EF200FB1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>
                <a:gd name="connsiteX0" fmla="*/ 0 w 751712"/>
                <a:gd name="connsiteY0" fmla="*/ 497894 h 766419"/>
                <a:gd name="connsiteX1" fmla="*/ 107134 w 751712"/>
                <a:gd name="connsiteY1" fmla="*/ 3253 h 766419"/>
                <a:gd name="connsiteX2" fmla="*/ 119855 w 751712"/>
                <a:gd name="connsiteY2" fmla="*/ 0 h 766419"/>
                <a:gd name="connsiteX3" fmla="*/ 751712 w 751712"/>
                <a:gd name="connsiteY3" fmla="*/ 649798 h 766419"/>
                <a:gd name="connsiteX4" fmla="*/ 749455 w 751712"/>
                <a:gd name="connsiteY4" fmla="*/ 660217 h 766419"/>
                <a:gd name="connsiteX5" fmla="*/ 334147 w 751712"/>
                <a:gd name="connsiteY5" fmla="*/ 766419 h 766419"/>
                <a:gd name="connsiteX6" fmla="*/ 0 w 751712"/>
                <a:gd name="connsiteY6" fmla="*/ 497894 h 76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1712" h="766419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69000">
                  <a:schemeClr val="bg1">
                    <a:alpha val="20000"/>
                  </a:schemeClr>
                </a:gs>
                <a:gs pos="0">
                  <a:srgbClr val="2069C2">
                    <a:alpha val="14000"/>
                  </a:srgbClr>
                </a:gs>
              </a:gsLst>
              <a:lin ang="15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AA98BCE-F7CD-418C-668E-72934D5B66D9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latinLnBrk="0"/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anose="02000703000000020004" pitchFamily="2" charset="-127"/>
                </a:rPr>
                <a:t>2</a:t>
              </a:r>
              <a:endPara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196AF6-B128-1791-065E-653BA598F566}"/>
              </a:ext>
            </a:extLst>
          </p:cNvPr>
          <p:cNvSpPr txBox="1"/>
          <p:nvPr/>
        </p:nvSpPr>
        <p:spPr>
          <a:xfrm>
            <a:off x="3249707" y="3934756"/>
            <a:ext cx="86000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아키텍처 — 3노드 CAN 구조 (RPi · MPC5606B · Arduino × 2) · 9개 CAN 메시지 · cascaded 제어 (Distance 20ms + Motor 10ms)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C38A19F-ABFB-7BDA-7AD5-F81217E98ECF}"/>
              </a:ext>
            </a:extLst>
          </p:cNvPr>
          <p:cNvSpPr/>
          <p:nvPr/>
        </p:nvSpPr>
        <p:spPr>
          <a:xfrm>
            <a:off x="2830989" y="4693172"/>
            <a:ext cx="8902656" cy="673099"/>
          </a:xfrm>
          <a:prstGeom prst="roundRect">
            <a:avLst/>
          </a:prstGeom>
          <a:solidFill>
            <a:srgbClr val="F4F5FA">
              <a:alpha val="85000"/>
            </a:srgbClr>
          </a:solidFill>
          <a:ln>
            <a:noFill/>
          </a:ln>
          <a:effectLst>
            <a:outerShdw blurRad="76200" algn="ctr" rotWithShape="0">
              <a:srgbClr val="E2DEEE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393FBF2-3E2E-4466-B3FF-B8843FC69ADE}"/>
              </a:ext>
            </a:extLst>
          </p:cNvPr>
          <p:cNvGrpSpPr/>
          <p:nvPr/>
        </p:nvGrpSpPr>
        <p:grpSpPr>
          <a:xfrm>
            <a:off x="2638615" y="4844370"/>
            <a:ext cx="408282" cy="351966"/>
            <a:chOff x="450324" y="2128945"/>
            <a:chExt cx="889526" cy="766832"/>
          </a:xfrm>
        </p:grpSpPr>
        <p:sp>
          <p:nvSpPr>
            <p:cNvPr id="45" name="육각형 44">
              <a:extLst>
                <a:ext uri="{FF2B5EF4-FFF2-40B4-BE49-F238E27FC236}">
                  <a16:creationId xmlns:a16="http://schemas.microsoft.com/office/drawing/2014/main" id="{BF4B039C-54F3-06BC-AB50-B6F9495D9582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A852682F-A077-4269-BED0-2CB3F72E8FDA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>
                <a:gd name="connsiteX0" fmla="*/ 0 w 751712"/>
                <a:gd name="connsiteY0" fmla="*/ 497894 h 766419"/>
                <a:gd name="connsiteX1" fmla="*/ 107134 w 751712"/>
                <a:gd name="connsiteY1" fmla="*/ 3253 h 766419"/>
                <a:gd name="connsiteX2" fmla="*/ 119855 w 751712"/>
                <a:gd name="connsiteY2" fmla="*/ 0 h 766419"/>
                <a:gd name="connsiteX3" fmla="*/ 751712 w 751712"/>
                <a:gd name="connsiteY3" fmla="*/ 649798 h 766419"/>
                <a:gd name="connsiteX4" fmla="*/ 749455 w 751712"/>
                <a:gd name="connsiteY4" fmla="*/ 660217 h 766419"/>
                <a:gd name="connsiteX5" fmla="*/ 334147 w 751712"/>
                <a:gd name="connsiteY5" fmla="*/ 766419 h 766419"/>
                <a:gd name="connsiteX6" fmla="*/ 0 w 751712"/>
                <a:gd name="connsiteY6" fmla="*/ 497894 h 76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1712" h="766419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69000">
                  <a:schemeClr val="bg1">
                    <a:alpha val="20000"/>
                  </a:schemeClr>
                </a:gs>
                <a:gs pos="0">
                  <a:srgbClr val="2069C2">
                    <a:alpha val="14000"/>
                  </a:srgbClr>
                </a:gs>
              </a:gsLst>
              <a:lin ang="15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79FC21D-7C48-3FEC-6D42-AE01B04BA029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latinLnBrk="0"/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anose="02000703000000020004" pitchFamily="2" charset="-127"/>
                </a:rPr>
                <a:t>3</a:t>
              </a:r>
              <a:endPara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645855D-AAC6-594F-BACC-9B6B5DDA8B13}"/>
              </a:ext>
            </a:extLst>
          </p:cNvPr>
          <p:cNvSpPr txBox="1"/>
          <p:nvPr/>
        </p:nvSpPr>
        <p:spPr>
          <a:xfrm>
            <a:off x="3249708" y="4804706"/>
            <a:ext cx="8176640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피드백 반영 — Arduino 핀 충돌(MCP2515 vs Motor Shield R3) 해결 위해 게이트웨이/모터 보드 분리 (HWR002) · MTR_CMD에 AUTOSAR E2E P01 추가 (SAF010)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2E7FBBC-23F4-B24D-ACB9-1B0AAB685436}"/>
              </a:ext>
            </a:extLst>
          </p:cNvPr>
          <p:cNvSpPr/>
          <p:nvPr/>
        </p:nvSpPr>
        <p:spPr>
          <a:xfrm>
            <a:off x="2830989" y="2819328"/>
            <a:ext cx="8902656" cy="673099"/>
          </a:xfrm>
          <a:prstGeom prst="roundRect">
            <a:avLst/>
          </a:prstGeom>
          <a:solidFill>
            <a:srgbClr val="F4F5FA">
              <a:alpha val="85000"/>
            </a:srgbClr>
          </a:solidFill>
          <a:ln>
            <a:noFill/>
          </a:ln>
          <a:effectLst>
            <a:outerShdw blurRad="76200" algn="ctr" rotWithShape="0">
              <a:srgbClr val="E2DEEE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B333D9-7E6C-D53F-6CBF-939BDED75B9F}"/>
              </a:ext>
            </a:extLst>
          </p:cNvPr>
          <p:cNvSpPr txBox="1"/>
          <p:nvPr/>
        </p:nvSpPr>
        <p:spPr>
          <a:xfrm>
            <a:off x="3249708" y="2882889"/>
            <a:ext cx="83425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정의 (100% 완료) — STK 24 · SYS 36 · SWR 30+ · HWR 12 · SAF 18 · Safety Goal 3 · FSR 8 · TSR 6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4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D9FB3D-41D8-431E-49BD-8BE0FC96085C}"/>
              </a:ext>
            </a:extLst>
          </p:cNvPr>
          <p:cNvSpPr txBox="1"/>
          <p:nvPr/>
        </p:nvSpPr>
        <p:spPr>
          <a:xfrm>
            <a:off x="3844898" y="3081102"/>
            <a:ext cx="329510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ASIL-B 17개 항목 포함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6FA9A6A3-6B13-1D00-CD78-FC40B13ED808}"/>
              </a:ext>
            </a:extLst>
          </p:cNvPr>
          <p:cNvGrpSpPr/>
          <p:nvPr/>
        </p:nvGrpSpPr>
        <p:grpSpPr>
          <a:xfrm>
            <a:off x="2638615" y="2971204"/>
            <a:ext cx="408282" cy="351966"/>
            <a:chOff x="450324" y="2128945"/>
            <a:chExt cx="889526" cy="766832"/>
          </a:xfrm>
        </p:grpSpPr>
        <p:sp>
          <p:nvSpPr>
            <p:cNvPr id="61" name="육각형 60">
              <a:extLst>
                <a:ext uri="{FF2B5EF4-FFF2-40B4-BE49-F238E27FC236}">
                  <a16:creationId xmlns:a16="http://schemas.microsoft.com/office/drawing/2014/main" id="{0EB775A5-A89F-D9F9-A370-86E26DAC6635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6B971947-34AE-0950-17EC-84CF69A446BD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>
                <a:gd name="connsiteX0" fmla="*/ 0 w 751712"/>
                <a:gd name="connsiteY0" fmla="*/ 497894 h 766419"/>
                <a:gd name="connsiteX1" fmla="*/ 107134 w 751712"/>
                <a:gd name="connsiteY1" fmla="*/ 3253 h 766419"/>
                <a:gd name="connsiteX2" fmla="*/ 119855 w 751712"/>
                <a:gd name="connsiteY2" fmla="*/ 0 h 766419"/>
                <a:gd name="connsiteX3" fmla="*/ 751712 w 751712"/>
                <a:gd name="connsiteY3" fmla="*/ 649798 h 766419"/>
                <a:gd name="connsiteX4" fmla="*/ 749455 w 751712"/>
                <a:gd name="connsiteY4" fmla="*/ 660217 h 766419"/>
                <a:gd name="connsiteX5" fmla="*/ 334147 w 751712"/>
                <a:gd name="connsiteY5" fmla="*/ 766419 h 766419"/>
                <a:gd name="connsiteX6" fmla="*/ 0 w 751712"/>
                <a:gd name="connsiteY6" fmla="*/ 497894 h 76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1712" h="766419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69000">
                  <a:schemeClr val="bg1">
                    <a:alpha val="20000"/>
                  </a:schemeClr>
                </a:gs>
                <a:gs pos="0">
                  <a:srgbClr val="2069C2">
                    <a:alpha val="14000"/>
                  </a:srgbClr>
                </a:gs>
              </a:gsLst>
              <a:lin ang="15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A2485A0-89B4-FE70-1973-FB27AB98541B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latinLnBrk="0"/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anose="02000703000000020004" pitchFamily="2" charset="-127"/>
                </a:rPr>
                <a:t>1</a:t>
              </a:r>
              <a:endPara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EF091C63-04D9-398B-BD3A-CFAD4B9DE8A3}"/>
              </a:ext>
            </a:extLst>
          </p:cNvPr>
          <p:cNvSpPr/>
          <p:nvPr/>
        </p:nvSpPr>
        <p:spPr>
          <a:xfrm>
            <a:off x="3342956" y="3189880"/>
            <a:ext cx="501942" cy="198999"/>
          </a:xfrm>
          <a:prstGeom prst="roundRect">
            <a:avLst/>
          </a:prstGeom>
          <a:solidFill>
            <a:srgbClr val="FFD8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endParaRPr lang="ko-KR" altLang="en-US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28369CAD-E9C5-FE05-A3D6-F317B9F26E33}"/>
              </a:ext>
            </a:extLst>
          </p:cNvPr>
          <p:cNvSpPr/>
          <p:nvPr/>
        </p:nvSpPr>
        <p:spPr>
          <a:xfrm>
            <a:off x="2830989" y="5630094"/>
            <a:ext cx="8902656" cy="673099"/>
          </a:xfrm>
          <a:prstGeom prst="roundRect">
            <a:avLst/>
          </a:prstGeom>
          <a:solidFill>
            <a:srgbClr val="F4F5FA">
              <a:alpha val="85000"/>
            </a:srgbClr>
          </a:solidFill>
          <a:ln>
            <a:noFill/>
          </a:ln>
          <a:effectLst>
            <a:outerShdw blurRad="76200" algn="ctr" rotWithShape="0">
              <a:srgbClr val="E2DEEE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7D25EEB1-DCB9-C3E4-20ED-BE0EA0958F91}"/>
              </a:ext>
            </a:extLst>
          </p:cNvPr>
          <p:cNvGrpSpPr/>
          <p:nvPr/>
        </p:nvGrpSpPr>
        <p:grpSpPr>
          <a:xfrm>
            <a:off x="2638615" y="5780953"/>
            <a:ext cx="408282" cy="351966"/>
            <a:chOff x="450324" y="2128945"/>
            <a:chExt cx="889526" cy="766832"/>
          </a:xfrm>
        </p:grpSpPr>
        <p:sp>
          <p:nvSpPr>
            <p:cNvPr id="78" name="육각형 77">
              <a:extLst>
                <a:ext uri="{FF2B5EF4-FFF2-40B4-BE49-F238E27FC236}">
                  <a16:creationId xmlns:a16="http://schemas.microsoft.com/office/drawing/2014/main" id="{6BDB8247-5C8F-8E14-21B8-866A39BEEA27}"/>
                </a:ext>
              </a:extLst>
            </p:cNvPr>
            <p:cNvSpPr/>
            <p:nvPr/>
          </p:nvSpPr>
          <p:spPr>
            <a:xfrm>
              <a:off x="450324" y="2128945"/>
              <a:ext cx="889526" cy="766832"/>
            </a:xfrm>
            <a:prstGeom prst="hexagon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자유형: 도형 79">
              <a:extLst>
                <a:ext uri="{FF2B5EF4-FFF2-40B4-BE49-F238E27FC236}">
                  <a16:creationId xmlns:a16="http://schemas.microsoft.com/office/drawing/2014/main" id="{ABFD2A02-0BA4-E85C-CE1D-96A0ABBC6B6E}"/>
                </a:ext>
              </a:extLst>
            </p:cNvPr>
            <p:cNvSpPr/>
            <p:nvPr/>
          </p:nvSpPr>
          <p:spPr>
            <a:xfrm rot="4666750">
              <a:off x="505813" y="2117833"/>
              <a:ext cx="667576" cy="698546"/>
            </a:xfrm>
            <a:custGeom>
              <a:avLst/>
              <a:gdLst>
                <a:gd name="connsiteX0" fmla="*/ 0 w 751712"/>
                <a:gd name="connsiteY0" fmla="*/ 497894 h 766419"/>
                <a:gd name="connsiteX1" fmla="*/ 107134 w 751712"/>
                <a:gd name="connsiteY1" fmla="*/ 3253 h 766419"/>
                <a:gd name="connsiteX2" fmla="*/ 119855 w 751712"/>
                <a:gd name="connsiteY2" fmla="*/ 0 h 766419"/>
                <a:gd name="connsiteX3" fmla="*/ 751712 w 751712"/>
                <a:gd name="connsiteY3" fmla="*/ 649798 h 766419"/>
                <a:gd name="connsiteX4" fmla="*/ 749455 w 751712"/>
                <a:gd name="connsiteY4" fmla="*/ 660217 h 766419"/>
                <a:gd name="connsiteX5" fmla="*/ 334147 w 751712"/>
                <a:gd name="connsiteY5" fmla="*/ 766419 h 766419"/>
                <a:gd name="connsiteX6" fmla="*/ 0 w 751712"/>
                <a:gd name="connsiteY6" fmla="*/ 497894 h 76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1712" h="766419">
                  <a:moveTo>
                    <a:pt x="0" y="497894"/>
                  </a:moveTo>
                  <a:lnTo>
                    <a:pt x="107134" y="3253"/>
                  </a:lnTo>
                  <a:lnTo>
                    <a:pt x="119855" y="0"/>
                  </a:lnTo>
                  <a:lnTo>
                    <a:pt x="751712" y="649798"/>
                  </a:lnTo>
                  <a:lnTo>
                    <a:pt x="749455" y="660217"/>
                  </a:lnTo>
                  <a:lnTo>
                    <a:pt x="334147" y="766419"/>
                  </a:lnTo>
                  <a:lnTo>
                    <a:pt x="0" y="497894"/>
                  </a:lnTo>
                  <a:close/>
                </a:path>
              </a:pathLst>
            </a:custGeom>
            <a:gradFill>
              <a:gsLst>
                <a:gs pos="69000">
                  <a:schemeClr val="bg1">
                    <a:alpha val="20000"/>
                  </a:schemeClr>
                </a:gs>
                <a:gs pos="0">
                  <a:srgbClr val="2069C2">
                    <a:alpha val="14000"/>
                  </a:srgbClr>
                </a:gs>
              </a:gsLst>
              <a:lin ang="15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546A440-4D17-2A1E-67FF-F072CDA74A33}"/>
                </a:ext>
              </a:extLst>
            </p:cNvPr>
            <p:cNvSpPr txBox="1"/>
            <p:nvPr/>
          </p:nvSpPr>
          <p:spPr>
            <a:xfrm>
              <a:off x="616568" y="2271884"/>
              <a:ext cx="557043" cy="536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latinLnBrk="0"/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Pretendard SemiBold" panose="02000703000000020004" pitchFamily="2" charset="-127"/>
                </a:rPr>
                <a:t>4</a:t>
              </a:r>
              <a:endPara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3659FE2-976E-C536-38E0-9AA882B92F84}"/>
              </a:ext>
            </a:extLst>
          </p:cNvPr>
          <p:cNvSpPr txBox="1"/>
          <p:nvPr/>
        </p:nvSpPr>
        <p:spPr>
          <a:xfrm>
            <a:off x="3275252" y="5803047"/>
            <a:ext cx="69560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산출물 — acc_db.dbc 9개 메시지 확정 · Arduino 게이트웨이+모터 노드 펌웨어 · RPi HMI 822줄 (Sim mode 동작) · ARXML 부분 생성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784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1A1A3-DB1C-868A-3C78-CDA11E60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233B521-EEB8-7C6B-E63D-63318347E0C0}"/>
              </a:ext>
            </a:extLst>
          </p:cNvPr>
          <p:cNvSpPr/>
          <p:nvPr/>
        </p:nvSpPr>
        <p:spPr>
          <a:xfrm>
            <a:off x="228599" y="0"/>
            <a:ext cx="7800976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자체 평가 의견</a:t>
            </a:r>
          </a:p>
        </p:txBody>
      </p:sp>
      <p:sp>
        <p:nvSpPr>
          <p:cNvPr id="56" name="슬라이드 번호 개체 틀 11">
            <a:extLst>
              <a:ext uri="{FF2B5EF4-FFF2-40B4-BE49-F238E27FC236}">
                <a16:creationId xmlns:a16="http://schemas.microsoft.com/office/drawing/2014/main" id="{5EB9386C-C48D-2D41-F427-526971101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000" y="647382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F5D9D7-E3BC-46C0-BAF5-7863ED15A7D0}" type="slidenum">
              <a:rPr kumimoji="0" lang="ko-KR" altLang="en-US" sz="1100" b="0" i="0" u="none" strike="noStrike" kern="1200" cap="none" spc="0" normalizeH="0" baseline="0" noProof="0" smtClean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1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0491127A-39BF-639F-F5B7-EEE8873ED22F}"/>
              </a:ext>
            </a:extLst>
          </p:cNvPr>
          <p:cNvGrpSpPr/>
          <p:nvPr/>
        </p:nvGrpSpPr>
        <p:grpSpPr>
          <a:xfrm>
            <a:off x="541891" y="1185172"/>
            <a:ext cx="10526159" cy="923330"/>
            <a:chOff x="541891" y="1430219"/>
            <a:chExt cx="10526159" cy="923330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BEED090-7CD2-9A90-C9BD-0D390F716ED5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결과물에 대한 프로젝트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 의도와의 부합 정도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완성도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훈련생의 자체적인 평가 의견과 느낀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solidFill>
                      <a:srgbClr val="5B9BD5">
                        <a:shade val="15000"/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sp>
          <p:nvSpPr>
            <p:cNvPr id="84" name="그래픽 43">
              <a:extLst>
                <a:ext uri="{FF2B5EF4-FFF2-40B4-BE49-F238E27FC236}">
                  <a16:creationId xmlns:a16="http://schemas.microsoft.com/office/drawing/2014/main" id="{7B8DA979-3666-ED14-438D-659017597C67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8677B6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8677B6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2F587D8-AD3E-5680-266C-CB5DBA9A03C5}"/>
              </a:ext>
            </a:extLst>
          </p:cNvPr>
          <p:cNvSpPr txBox="1"/>
          <p:nvPr/>
        </p:nvSpPr>
        <p:spPr>
          <a:xfrm>
            <a:off x="467002" y="1852173"/>
            <a:ext cx="988662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중간발표 시점 자체 평가 — 사전 기획 대비 실행, 기술 도전과 학습 성과를 종합 정리 (2026.04.24 기준 · 데드라인 04.30)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kumimoji="0" lang="ko-KR" altLang="en-US" sz="1400" b="0" i="0" u="none" strike="noStrike" kern="1200" cap="none" spc="0" normalizeH="0" baseline="0" noProof="0" dirty="0">
              <a:ln>
                <a:solidFill>
                  <a:srgbClr val="5B9BD5">
                    <a:shade val="15000"/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kumimoji="0" lang="en-US" altLang="ko-KR" sz="1400" b="0" i="0" u="none" strike="noStrike" kern="1200" cap="none" spc="0" normalizeH="0" baseline="0" noProof="0" dirty="0">
                <a:ln>
                  <a:solidFill>
                    <a:srgbClr val="5B9BD5">
                      <a:shade val="15000"/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CF1B7D3-5591-7153-61A9-8312F462C8A9}"/>
              </a:ext>
            </a:extLst>
          </p:cNvPr>
          <p:cNvSpPr/>
          <p:nvPr/>
        </p:nvSpPr>
        <p:spPr>
          <a:xfrm>
            <a:off x="541891" y="2941510"/>
            <a:ext cx="5363941" cy="1509840"/>
          </a:xfrm>
          <a:prstGeom prst="roundRect">
            <a:avLst>
              <a:gd name="adj" fmla="val 6897"/>
            </a:avLst>
          </a:prstGeom>
          <a:solidFill>
            <a:srgbClr val="EBE9F3"/>
          </a:solidFill>
          <a:ln>
            <a:noFill/>
          </a:ln>
          <a:effectLst>
            <a:outerShdw blurRad="63500" algn="ctr" rotWithShape="0">
              <a:srgbClr val="8677B6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196244-B82A-61BC-F55E-F5AD74297190}"/>
              </a:ext>
            </a:extLst>
          </p:cNvPr>
          <p:cNvSpPr/>
          <p:nvPr/>
        </p:nvSpPr>
        <p:spPr>
          <a:xfrm rot="5400000">
            <a:off x="3183368" y="762036"/>
            <a:ext cx="80985" cy="4439942"/>
          </a:xfrm>
          <a:prstGeom prst="rect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178D1-4C93-456A-5725-140101307C77}"/>
              </a:ext>
            </a:extLst>
          </p:cNvPr>
          <p:cNvSpPr txBox="1"/>
          <p:nvPr/>
        </p:nvSpPr>
        <p:spPr>
          <a:xfrm>
            <a:off x="758026" y="3366305"/>
            <a:ext cx="5051965" cy="74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latin typeface="맑은 고딕"/>
              </a:rPr>
              <a:t>현재 완성도: 35%</a:t>
            </a:r>
          </a:p>
          <a:p>
            <a:pPr algn="ctr"/>
            <a:r>
              <a:rPr>
                <a:latin typeface="맑은 고딕"/>
              </a:rPr>
              <a:t>요구사항·아키텍처 100% / Arduino 펌웨어 100%</a:t>
            </a:r>
          </a:p>
          <a:p>
            <a:pPr algn="ctr"/>
            <a:r>
              <a:rPr>
                <a:latin typeface="맑은 고딕"/>
              </a:rPr>
              <a:t>RPi HMI 80% / ECU AUTOSAR 0/8 SWC</a:t>
            </a:r>
          </a:p>
          <a:p>
            <a:pPr algn="ctr"/>
            <a:r>
              <a:rPr>
                <a:latin typeface="맑은 고딕"/>
              </a:rPr>
              <a:t>(중간 단계 기준 적정 진행)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CAD8C25-C52E-566D-B6CC-CC80F00CCA41}"/>
              </a:ext>
            </a:extLst>
          </p:cNvPr>
          <p:cNvSpPr/>
          <p:nvPr/>
        </p:nvSpPr>
        <p:spPr>
          <a:xfrm>
            <a:off x="541891" y="4643310"/>
            <a:ext cx="5363941" cy="1509840"/>
          </a:xfrm>
          <a:prstGeom prst="roundRect">
            <a:avLst>
              <a:gd name="adj" fmla="val 6897"/>
            </a:avLst>
          </a:prstGeom>
          <a:solidFill>
            <a:srgbClr val="EEFAFC"/>
          </a:solidFill>
          <a:ln>
            <a:noFill/>
          </a:ln>
          <a:effectLst>
            <a:outerShdw blurRad="63500" algn="ctr" rotWithShape="0">
              <a:srgbClr val="33C1DA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26CFF4-D4C6-D5EF-671C-EC1921B985CB}"/>
              </a:ext>
            </a:extLst>
          </p:cNvPr>
          <p:cNvSpPr/>
          <p:nvPr/>
        </p:nvSpPr>
        <p:spPr>
          <a:xfrm rot="5400000">
            <a:off x="3183368" y="2463832"/>
            <a:ext cx="80985" cy="4439942"/>
          </a:xfrm>
          <a:prstGeom prst="rect">
            <a:avLst/>
          </a:prstGeom>
          <a:solidFill>
            <a:srgbClr val="33C1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D2E58E-328C-7709-48BA-5B982B04DD13}"/>
              </a:ext>
            </a:extLst>
          </p:cNvPr>
          <p:cNvSpPr txBox="1"/>
          <p:nvPr/>
        </p:nvSpPr>
        <p:spPr>
          <a:xfrm>
            <a:off x="912406" y="5099438"/>
            <a:ext cx="4622911" cy="74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latin typeface="맑은 고딕"/>
              </a:rPr>
              <a:t>추후 개선점 — 남은 6일 우선순위:</a:t>
            </a:r>
          </a:p>
          <a:p>
            <a:pPr algn="ctr"/>
            <a:r>
              <a:rPr>
                <a:latin typeface="맑은 고딕"/>
              </a:rPr>
              <a:t>① AccStateMachine + MotorControl SWC 우선 구현</a:t>
            </a:r>
          </a:p>
          <a:p>
            <a:pPr algn="ctr"/>
            <a:r>
              <a:rPr>
                <a:latin typeface="맑은 고딕"/>
              </a:rPr>
              <a:t>② R2024b → R2024a 폴백 검토</a:t>
            </a:r>
          </a:p>
          <a:p>
            <a:pPr algn="ctr"/>
            <a:r>
              <a:rPr>
                <a:latin typeface="맑은 고딕"/>
              </a:rPr>
              <a:t>③ 시뮬레이션 기반 데모로 ASIL-B 검증 대체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C141D75-96FC-4ED6-84C6-EC122EC971F3}"/>
              </a:ext>
            </a:extLst>
          </p:cNvPr>
          <p:cNvSpPr/>
          <p:nvPr/>
        </p:nvSpPr>
        <p:spPr>
          <a:xfrm>
            <a:off x="6396215" y="4643310"/>
            <a:ext cx="5363941" cy="1509840"/>
          </a:xfrm>
          <a:prstGeom prst="roundRect">
            <a:avLst>
              <a:gd name="adj" fmla="val 6897"/>
            </a:avLst>
          </a:prstGeom>
          <a:solidFill>
            <a:srgbClr val="EBE9F3"/>
          </a:solidFill>
          <a:ln>
            <a:noFill/>
          </a:ln>
          <a:effectLst>
            <a:outerShdw blurRad="63500" algn="ctr" rotWithShape="0">
              <a:srgbClr val="8677B6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F414F5-16D7-BE70-05F1-756FC55E5F8D}"/>
              </a:ext>
            </a:extLst>
          </p:cNvPr>
          <p:cNvSpPr/>
          <p:nvPr/>
        </p:nvSpPr>
        <p:spPr>
          <a:xfrm rot="5400000">
            <a:off x="9037692" y="2463832"/>
            <a:ext cx="80985" cy="4439942"/>
          </a:xfrm>
          <a:prstGeom prst="rect">
            <a:avLst/>
          </a:prstGeom>
          <a:solidFill>
            <a:srgbClr val="867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9BE732-ADE3-0611-174C-49CB8A8285D9}"/>
              </a:ext>
            </a:extLst>
          </p:cNvPr>
          <p:cNvSpPr txBox="1"/>
          <p:nvPr/>
        </p:nvSpPr>
        <p:spPr>
          <a:xfrm>
            <a:off x="6747148" y="5099438"/>
            <a:ext cx="4622911" cy="74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latin typeface="맑은 고딕"/>
              </a:rPr>
              <a:t>느낀 점 — 자동차 SW 개발의 추적성/안전성 중요성 체감</a:t>
            </a:r>
          </a:p>
          <a:p>
            <a:pPr algn="ctr"/>
            <a:r>
              <a:rPr>
                <a:latin typeface="맑은 고딕"/>
              </a:rPr>
              <a:t>성과 — AUTOSAR · ASPICE · ISO 26262 실무 프로세스 학습</a:t>
            </a:r>
          </a:p>
          <a:p>
            <a:pPr algn="ctr"/>
            <a:r>
              <a:rPr>
                <a:latin typeface="맑은 고딕"/>
              </a:rPr>
              <a:t>(자동차 SW 엔지니어 진로 연계)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C25F1A9-2331-946F-ECBF-656A0135E3C3}"/>
              </a:ext>
            </a:extLst>
          </p:cNvPr>
          <p:cNvSpPr/>
          <p:nvPr/>
        </p:nvSpPr>
        <p:spPr>
          <a:xfrm>
            <a:off x="6396215" y="2941510"/>
            <a:ext cx="5363941" cy="1509840"/>
          </a:xfrm>
          <a:prstGeom prst="roundRect">
            <a:avLst>
              <a:gd name="adj" fmla="val 6897"/>
            </a:avLst>
          </a:prstGeom>
          <a:solidFill>
            <a:srgbClr val="EEFAFC"/>
          </a:solidFill>
          <a:ln>
            <a:noFill/>
          </a:ln>
          <a:effectLst>
            <a:outerShdw blurRad="63500" algn="ctr" rotWithShape="0">
              <a:srgbClr val="33C1DA">
                <a:alpha val="5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DACB172-C9AE-59E3-F57A-244C0D8913A2}"/>
              </a:ext>
            </a:extLst>
          </p:cNvPr>
          <p:cNvSpPr/>
          <p:nvPr/>
        </p:nvSpPr>
        <p:spPr>
          <a:xfrm rot="5400000">
            <a:off x="9037692" y="762036"/>
            <a:ext cx="80985" cy="4439942"/>
          </a:xfrm>
          <a:prstGeom prst="rect">
            <a:avLst/>
          </a:prstGeom>
          <a:solidFill>
            <a:srgbClr val="33C1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44276F-F9C6-CD01-18C9-AC1D9428EB7D}"/>
              </a:ext>
            </a:extLst>
          </p:cNvPr>
          <p:cNvSpPr txBox="1"/>
          <p:nvPr/>
        </p:nvSpPr>
        <p:spPr>
          <a:xfrm>
            <a:off x="6636060" y="3366305"/>
            <a:ext cx="4995645" cy="371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latin typeface="맑은 고딕"/>
              </a:rPr>
              <a:t>잘한 점 — ASPICE V-모델 + ISO 26262 안전 체인 정밀 적용</a:t>
            </a:r>
          </a:p>
          <a:p>
            <a:pPr algn="ctr"/>
            <a:r>
              <a:rPr>
                <a:latin typeface="맑은 고딕"/>
              </a:rPr>
              <a:t>아쉬운 점 — R2024b API 호환 디버깅으로 SWC 구현 지연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EBC238-CB7F-1C43-9C51-4F8DB745F711}"/>
              </a:ext>
            </a:extLst>
          </p:cNvPr>
          <p:cNvSpPr txBox="1"/>
          <p:nvPr/>
        </p:nvSpPr>
        <p:spPr>
          <a:xfrm>
            <a:off x="7774256" y="3847313"/>
            <a:ext cx="31822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100+개 정밀 정의 · CAN DB 9개 메시지 · 3-노드 통합 인터페이스 확정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B0A405D-EB0D-3E71-FFAB-60F04CE134D0}"/>
              </a:ext>
            </a:extLst>
          </p:cNvPr>
          <p:cNvSpPr/>
          <p:nvPr/>
        </p:nvSpPr>
        <p:spPr>
          <a:xfrm>
            <a:off x="7543801" y="3864104"/>
            <a:ext cx="230456" cy="199001"/>
          </a:xfrm>
          <a:prstGeom prst="ellipse">
            <a:avLst/>
          </a:prstGeom>
          <a:solidFill>
            <a:srgbClr val="33C1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</a:p>
        </p:txBody>
      </p:sp>
    </p:spTree>
    <p:extLst>
      <p:ext uri="{BB962C8B-B14F-4D97-AF65-F5344CB8AC3E}">
        <p14:creationId xmlns:p14="http://schemas.microsoft.com/office/powerpoint/2010/main" val="3731554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1758951" y="4789517"/>
            <a:ext cx="8601074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End of Document</a:t>
            </a:r>
            <a:endParaRPr kumimoji="0" lang="ko-KR" altLang="en-US" sz="36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758951" y="2696978"/>
            <a:ext cx="8601074" cy="65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참여하신 여러분께 </a:t>
            </a:r>
            <a:endParaRPr kumimoji="0" lang="en-US" altLang="ko-KR" sz="36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진심으로 감사드립니다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solidFill>
                    <a:srgbClr val="2E3968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3600" b="0" i="0" u="none" strike="noStrike" kern="1200" cap="none" spc="0" normalizeH="0" baseline="0" noProof="0" dirty="0">
              <a:ln>
                <a:solidFill>
                  <a:srgbClr val="2E3968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58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4-1. 시스템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gradFill flip="none" rotWithShape="1">
            <a:gsLst>
              <a:gs pos="0">
                <a:srgbClr val="36C5D9"/>
              </a:gs>
              <a:gs pos="100000">
                <a:srgbClr val="9684D4"/>
              </a:gs>
            </a:gsLst>
            <a:lin ang="0" scaled="0"/>
          </a:gradFill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4572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 Black"/>
              </a:rPr>
              <a:t>HYUNDAI NGV</a:t>
            </a:r>
          </a:p>
        </p:txBody>
      </p:sp>
      <p:pic>
        <p:nvPicPr>
          <p:cNvPr id="6" name="Picture 5" descr="architecture_v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115214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4-2. CAN 통신 (9 메시지)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gradFill flip="none" rotWithShape="1">
            <a:gsLst>
              <a:gs pos="0">
                <a:srgbClr val="36C5D9"/>
              </a:gs>
              <a:gs pos="100000">
                <a:srgbClr val="9684D4"/>
              </a:gs>
            </a:gsLst>
            <a:lin ang="0" scaled="0"/>
          </a:gradFill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4572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 Black"/>
              </a:rPr>
              <a:t>HYUNDAI NGV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 i="0">
                <a:solidFill>
                  <a:srgbClr val="7A83A8"/>
                </a:solidFill>
                <a:latin typeface="맑은 고딕"/>
              </a:rPr>
              <a:t>500 kbps · 3 노드 (SENSOR · ECU · MTR) · MTR_CMD에 AUTOSAR E2E P01 적용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338560" cy="384048"/>
          </a:xfrm>
          <a:prstGeom prst="rect">
            <a:avLst/>
          </a:prstGeom>
          <a:solidFill>
            <a:srgbClr val="2C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0584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맑은 고딕"/>
              </a:rPr>
              <a:t>CAN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91640"/>
            <a:ext cx="192024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맑은 고딕"/>
              </a:rPr>
              <a:t>메시지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91640"/>
            <a:ext cx="18288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맑은 고딕"/>
              </a:rPr>
              <a:t>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691640"/>
            <a:ext cx="118872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맑은 고딕"/>
              </a:rPr>
              <a:t>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12801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맑은 고딕"/>
              </a:rPr>
              <a:t>DLC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691640"/>
            <a:ext cx="41148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맑은 고딕"/>
              </a:rPr>
              <a:t>핵심 시그널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75688"/>
            <a:ext cx="11338560" cy="329184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75688"/>
            <a:ext cx="10058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Consolas"/>
              </a:rPr>
              <a:t>0x110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075688"/>
            <a:ext cx="19202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SENSOR_FUSION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075688"/>
            <a:ext cx="1828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RPi → ECU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075688"/>
            <a:ext cx="118872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20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75688"/>
            <a:ext cx="12801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3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075688"/>
            <a:ext cx="4114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VEH_DET · VEH_DIST (mm)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04872"/>
            <a:ext cx="113385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404872"/>
            <a:ext cx="10058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Consolas"/>
              </a:rPr>
              <a:t>0x111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2404872"/>
            <a:ext cx="19202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SENSOR_HEARTBEAT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404872"/>
            <a:ext cx="1828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RPi → ECU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404872"/>
            <a:ext cx="118872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20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404872"/>
            <a:ext cx="12801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2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404872"/>
            <a:ext cx="4114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HB_SENSOR · ERR_SENSOR (60ms TO)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734056"/>
            <a:ext cx="11338560" cy="329184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734056"/>
            <a:ext cx="10058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Consolas"/>
              </a:rPr>
              <a:t>0x120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2734056"/>
            <a:ext cx="19202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VEH_CTRL 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2734056"/>
            <a:ext cx="1828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RPi → ECU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734056"/>
            <a:ext cx="118872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20 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734056"/>
            <a:ext cx="12801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2 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2734056"/>
            <a:ext cx="4114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BTN_BRAKE · SET_ACCEL_PWM (ASIL-B)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063240"/>
            <a:ext cx="113385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063240"/>
            <a:ext cx="10058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Consolas"/>
              </a:rPr>
              <a:t>0x210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3063240"/>
            <a:ext cx="19202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MTR_CMD ★ E2E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063240"/>
            <a:ext cx="1828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ECU → MTR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3063240"/>
            <a:ext cx="118872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10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063240"/>
            <a:ext cx="12801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6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063240"/>
            <a:ext cx="4114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PWM 4ch + RC 4bit + CRC-8 (E2E P01)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392424"/>
            <a:ext cx="11338560" cy="329184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392424"/>
            <a:ext cx="10058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Consolas"/>
              </a:rPr>
              <a:t>0x300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3392424"/>
            <a:ext cx="19202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MTR_SPD_FB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3392424"/>
            <a:ext cx="1828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MTR → ECU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3392424"/>
            <a:ext cx="118872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10 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3392424"/>
            <a:ext cx="12801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8 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3392424"/>
            <a:ext cx="4114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GET_SPD_AVG · 4륜 개별 속도 (예약)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721607"/>
            <a:ext cx="113385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721607"/>
            <a:ext cx="10058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Consolas"/>
              </a:rPr>
              <a:t>0x310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54480" y="3721607"/>
            <a:ext cx="19202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MTR_HEARTBEAT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3721607"/>
            <a:ext cx="1828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MTR → ECU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0" y="3721607"/>
            <a:ext cx="118872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10 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3721607"/>
            <a:ext cx="12801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2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3721607"/>
            <a:ext cx="4114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HB_MTR · ERR_MTR (30ms TO)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050792"/>
            <a:ext cx="11338560" cy="329184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050792"/>
            <a:ext cx="10058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Consolas"/>
              </a:rPr>
              <a:t>0x410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4480" y="4050792"/>
            <a:ext cx="19202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ECU_HEARTBEAT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74720" y="4050792"/>
            <a:ext cx="1828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ECU → *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0" y="4050792"/>
            <a:ext cx="118872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10 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4050792"/>
            <a:ext cx="12801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2 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0" y="4050792"/>
            <a:ext cx="4114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HB_ECU · ERR_ECU (ASIL-B, 30ms TO)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379976"/>
            <a:ext cx="1133856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4379976"/>
            <a:ext cx="10058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Consolas"/>
              </a:rPr>
              <a:t>0x510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54480" y="4379976"/>
            <a:ext cx="19202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ACC_CTRL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74720" y="4379976"/>
            <a:ext cx="1828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RPi → ECU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03520" y="4379976"/>
            <a:ext cx="118872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50 ms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4379976"/>
            <a:ext cx="12801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4 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0" y="4379976"/>
            <a:ext cx="4114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ACC ON/OFF · SET · RES · 속도± · 거리1/2/3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709160"/>
            <a:ext cx="11338560" cy="329184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4709160"/>
            <a:ext cx="10058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Consolas"/>
              </a:rPr>
              <a:t>0x520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54480" y="4709160"/>
            <a:ext cx="192024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ACC_STATUS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4720" y="4709160"/>
            <a:ext cx="1828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ECU → RPi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03520" y="4709160"/>
            <a:ext cx="118872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50 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2240" y="4709160"/>
            <a:ext cx="12801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4 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0" y="4709160"/>
            <a:ext cx="411480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GET_ACC_STATE · GET_ACC_SPD · GET_ACC_LVL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349240"/>
            <a:ext cx="5577840" cy="1097280"/>
          </a:xfrm>
          <a:prstGeom prst="rect">
            <a:avLst/>
          </a:prstGeom>
          <a:solidFill>
            <a:srgbClr val="F7F9FF"/>
          </a:solidFill>
          <a:ln>
            <a:solidFill>
              <a:srgbClr val="36C5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544068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36C5D9"/>
                </a:solidFill>
                <a:latin typeface="맑은 고딕"/>
              </a:rPr>
              <a:t>● MCP2515 × 2 (RPi · Arduino 게이트웨이)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5715000"/>
            <a:ext cx="52120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외부 CAN 컨트롤러 (DIP-18) · MCU와 SPI로 연결 · 내장 트랜시버 포함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5349240"/>
            <a:ext cx="5577840" cy="1097280"/>
          </a:xfrm>
          <a:prstGeom prst="rect">
            <a:avLst/>
          </a:prstGeom>
          <a:solidFill>
            <a:srgbClr val="F7F9FF"/>
          </a:solidFill>
          <a:ln>
            <a:solidFill>
              <a:srgbClr val="968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00800" y="544068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9684D4"/>
                </a:solidFill>
                <a:latin typeface="맑은 고딕"/>
              </a:rPr>
              <a:t>● TJA1042 × 1 (MPC5606B EVB 내장)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5715000"/>
            <a:ext cx="52120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FlexCAN 페리페럴 + 외부 트랜시버만 · ★ MTR_CMD에 AUTOSAR E2E P01 (RC + CRC-8)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4-3. 메인 ECU — AUTOSAR SWC 진행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gradFill flip="none" rotWithShape="1">
            <a:gsLst>
              <a:gs pos="0">
                <a:srgbClr val="36C5D9"/>
              </a:gs>
              <a:gs pos="100000">
                <a:srgbClr val="9684D4"/>
              </a:gs>
            </a:gsLst>
            <a:lin ang="0" scaled="0"/>
          </a:gradFill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4572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 Black"/>
              </a:rPr>
              <a:t>HYUNDAI NGV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 i="0">
                <a:solidFill>
                  <a:srgbClr val="7A83A8"/>
                </a:solidFill>
                <a:latin typeface="맑은 고딕"/>
              </a:rPr>
              <a:t>Simulink MBD · MATLAB R2024b + AUTOSAR Blockset · Target: NXP MPC5606B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338560" cy="64008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91440" cy="6400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 i="0">
                <a:solidFill>
                  <a:srgbClr val="F96167"/>
                </a:solidFill>
                <a:latin typeface="맑은 고딕"/>
              </a:rPr>
              <a:t>Step 1 · Data Dictionary (ACC_Types.sldd)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21408"/>
            <a:ext cx="7772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build_acc_dictionary.m · 15 ImplDataType · 5 Enum · 4 Linear-Scaled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2200" b="1" i="0">
                <a:solidFill>
                  <a:srgbClr val="2ECC71"/>
                </a:solidFill>
                <a:latin typeface="맑은 고딕"/>
              </a:rPr>
              <a:t>✓ 완료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2743200" cy="1188720"/>
          </a:xfrm>
          <a:prstGeom prst="rect">
            <a:avLst/>
          </a:prstGeom>
          <a:solidFill>
            <a:srgbClr val="2C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862072"/>
            <a:ext cx="2414016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맑은 고딕"/>
              </a:rPr>
              <a:t>AccStateMachine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246120"/>
            <a:ext cx="2414016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맑은 고딕"/>
              </a:rPr>
              <a:t>FSM 5상태 · 10ms · ASIL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4140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2697480"/>
            <a:ext cx="2743200" cy="1188720"/>
          </a:xfrm>
          <a:prstGeom prst="rect">
            <a:avLst/>
          </a:prstGeom>
          <a:solidFill>
            <a:srgbClr val="2C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0128" y="2697480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862072"/>
            <a:ext cx="2414016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맑은 고딕"/>
              </a:rPr>
              <a:t>SensorProcessing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246120"/>
            <a:ext cx="2414016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맑은 고딕"/>
              </a:rPr>
              <a:t>센서 데이터 수신 처리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566160"/>
            <a:ext cx="24140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2697480"/>
            <a:ext cx="2743200" cy="1188720"/>
          </a:xfrm>
          <a:prstGeom prst="rect">
            <a:avLst/>
          </a:prstGeom>
          <a:solidFill>
            <a:srgbClr val="2C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2697480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862072"/>
            <a:ext cx="2414016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맑은 고딕"/>
              </a:rPr>
              <a:t>DistanceControl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246120"/>
            <a:ext cx="2414016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맑은 고딕"/>
              </a:rPr>
              <a:t>outer 거리 PID · 20ms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566160"/>
            <a:ext cx="24140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15984" y="2697480"/>
            <a:ext cx="2743200" cy="1188720"/>
          </a:xfrm>
          <a:prstGeom prst="rect">
            <a:avLst/>
          </a:prstGeom>
          <a:solidFill>
            <a:srgbClr val="2C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15984" y="2697480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862072"/>
            <a:ext cx="2414016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맑은 고딕"/>
              </a:rPr>
              <a:t>MotorControl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3246120"/>
            <a:ext cx="2414016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맑은 고딕"/>
              </a:rPr>
              <a:t>inner 속도 PI · 10ms · ASIL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3566160"/>
            <a:ext cx="24140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995928"/>
            <a:ext cx="2743200" cy="1188720"/>
          </a:xfrm>
          <a:prstGeom prst="rect">
            <a:avLst/>
          </a:prstGeom>
          <a:solidFill>
            <a:srgbClr val="2C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995928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160520"/>
            <a:ext cx="2414016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맑은 고딕"/>
              </a:rPr>
              <a:t>CanCommunication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4544568"/>
            <a:ext cx="2414016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맑은 고딕"/>
              </a:rPr>
              <a:t>Rx/Tx · 10/20/50ms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4864608"/>
            <a:ext cx="24140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10128" y="3995928"/>
            <a:ext cx="2743200" cy="1188720"/>
          </a:xfrm>
          <a:prstGeom prst="rect">
            <a:avLst/>
          </a:prstGeom>
          <a:solidFill>
            <a:srgbClr val="2C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10128" y="3995928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4160520"/>
            <a:ext cx="2414016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맑은 고딕"/>
              </a:rPr>
              <a:t>Diagnostics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4544568"/>
            <a:ext cx="2414016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맑은 고딕"/>
              </a:rPr>
              <a:t>FAULT 진단 · 10ms · ASIL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864608"/>
            <a:ext cx="24140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 i="0">
                <a:solidFill>
                  <a:srgbClr val="2ECC71"/>
                </a:solidFill>
                <a:latin typeface="맑은 고딕"/>
              </a:rPr>
              <a:t>설계 완료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63056" y="3995928"/>
            <a:ext cx="2743200" cy="1188720"/>
          </a:xfrm>
          <a:prstGeom prst="rect">
            <a:avLst/>
          </a:prstGeom>
          <a:solidFill>
            <a:srgbClr val="2C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63056" y="3995928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7648" y="4160520"/>
            <a:ext cx="2414016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맑은 고딕"/>
              </a:rPr>
              <a:t>HmiManager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4544568"/>
            <a:ext cx="2414016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맑은 고딕"/>
              </a:rPr>
              <a:t>HMI 표시 데이터 (50ms)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4864608"/>
            <a:ext cx="24140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15984" y="3995928"/>
            <a:ext cx="2743200" cy="1188720"/>
          </a:xfrm>
          <a:prstGeom prst="rect">
            <a:avLst/>
          </a:prstGeom>
          <a:solidFill>
            <a:srgbClr val="2C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15984" y="3995928"/>
            <a:ext cx="274320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0576" y="4160520"/>
            <a:ext cx="2414016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맑은 고딕"/>
              </a:rPr>
              <a:t>DriverInput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0576" y="4544568"/>
            <a:ext cx="2414016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0">
                <a:solidFill>
                  <a:srgbClr val="CADCFC"/>
                </a:solidFill>
                <a:latin typeface="맑은 고딕"/>
              </a:rPr>
              <a:t>GUI → CAN (50ms)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0576" y="4864608"/>
            <a:ext cx="24140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 i="0">
                <a:solidFill>
                  <a:srgbClr val="F5A830"/>
                </a:solidFill>
                <a:latin typeface="맑은 고딕"/>
              </a:rPr>
              <a:t>미착수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440680"/>
            <a:ext cx="11338560" cy="502920"/>
          </a:xfrm>
          <a:prstGeom prst="rect">
            <a:avLst/>
          </a:prstGeom>
          <a:solidFill>
            <a:srgbClr val="2C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5440680"/>
            <a:ext cx="91440" cy="5029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440680"/>
            <a:ext cx="6400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맑은 고딕"/>
              </a:rPr>
              <a:t>진행률  0 / 8 SWC 구현 (Data Dictionary만 완료)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5440680"/>
            <a:ext cx="4572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F5A830"/>
                </a:solidFill>
                <a:latin typeface="맑은 고딕"/>
              </a:rPr>
              <a:t>⚠ R2024b AR-tree API 디버깅 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 i="0">
                <a:solidFill>
                  <a:srgbClr val="7A83A8"/>
                </a:solidFill>
                <a:latin typeface="맑은 고딕"/>
              </a:rPr>
              <a:t>Cascaded 제어 — DistanceControl(20ms outer 거리 PID) → MotorControl(10ms inner 속도 PI + PWM 클램핑) — 책임 분리, ASIL-B 적용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4-4. Arduino · Raspberry Pi 진행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gradFill flip="none" rotWithShape="1">
            <a:gsLst>
              <a:gs pos="0">
                <a:srgbClr val="36C5D9"/>
              </a:gs>
              <a:gs pos="100000">
                <a:srgbClr val="9684D4"/>
              </a:gs>
            </a:gsLst>
            <a:lin ang="0" scaled="0"/>
          </a:gradFill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4572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Arial Black"/>
              </a:rPr>
              <a:t>HYUNDAI NGV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760720" cy="512064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91440" cy="5120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맑은 고딕"/>
              </a:rPr>
              <a:t>ARDUINO · 2-노드 (HWR002)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000" b="1" i="0">
                <a:solidFill>
                  <a:srgbClr val="2C3870"/>
                </a:solidFill>
                <a:latin typeface="맑은 고딕"/>
              </a:rPr>
              <a:t>CAN 게이트웨이 + 모터 노드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36C5D9"/>
                </a:solidFill>
                <a:latin typeface="맑은 고딕"/>
              </a:rPr>
              <a:t>Node 1 — acc_can_node/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365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i="0">
                <a:solidFill>
                  <a:srgbClr val="2ECC71"/>
                </a:solidFill>
                <a:latin typeface="맑은 고딕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0604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acc_can_node.ino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07208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1A1F36"/>
                </a:solidFill>
                <a:latin typeface="맑은 고딕"/>
              </a:rPr>
              <a:t>main loop · 30ms timeout · ASIL-B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365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i="0">
                <a:solidFill>
                  <a:srgbClr val="2ECC71"/>
                </a:solidFill>
                <a:latin typeface="맑은 고딕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1752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can_handler.cpp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18688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1A1F36"/>
                </a:solidFill>
                <a:latin typeface="맑은 고딕"/>
              </a:rPr>
              <a:t>MCP2515 ISR · 0x210 Rx / 0x300 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365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i="0">
                <a:solidFill>
                  <a:srgbClr val="2ECC71"/>
                </a:solidFill>
                <a:latin typeface="맑은 고딕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2900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i2c_handler.cpp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30168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1A1F36"/>
                </a:solidFill>
                <a:latin typeface="맑은 고딕"/>
              </a:rPr>
              <a:t>I2C Master · 모터 명령 중계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36C5D9"/>
                </a:solidFill>
                <a:latin typeface="맑은 고딕"/>
              </a:rPr>
              <a:t>Node 2 — acc_motor_node/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365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i="0">
                <a:solidFill>
                  <a:srgbClr val="2ECC71"/>
                </a:solidFill>
                <a:latin typeface="맑은 고딕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34340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acc_motor_node.ino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544568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1A1F36"/>
                </a:solidFill>
                <a:latin typeface="맑은 고딕"/>
              </a:rPr>
              <a:t>main loop · I2C 명령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365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i="0">
                <a:solidFill>
                  <a:srgbClr val="2ECC71"/>
                </a:solidFill>
                <a:latin typeface="맑은 고딕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75488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motor_driver.cpp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956048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1A1F36"/>
                </a:solidFill>
                <a:latin typeface="맑은 고딕"/>
              </a:rPr>
              <a:t>Motor Shield R3 · PWM/DIR · saturation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66360"/>
            <a:ext cx="365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i="0">
                <a:solidFill>
                  <a:srgbClr val="2ECC71"/>
                </a:solidFill>
                <a:latin typeface="맑은 고딕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16636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encoder.cpp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367528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1A1F36"/>
                </a:solidFill>
                <a:latin typeface="맑은 고딕"/>
              </a:rPr>
              <a:t>INT 펄스 카운트 → cm/s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577840"/>
            <a:ext cx="3657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i="0">
                <a:solidFill>
                  <a:srgbClr val="2ECC71"/>
                </a:solidFill>
                <a:latin typeface="맑은 고딕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57784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2C3870"/>
                </a:solidFill>
                <a:latin typeface="Consolas"/>
              </a:rPr>
              <a:t>i2c_handler.cpp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779008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1A1F36"/>
                </a:solidFill>
                <a:latin typeface="맑은 고딕"/>
              </a:rPr>
              <a:t>I2C Slave · cmd 수신 · spd 응답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280160"/>
            <a:ext cx="5394960" cy="5120640"/>
          </a:xfrm>
          <a:prstGeom prst="rect">
            <a:avLst/>
          </a:prstGeom>
          <a:solidFill>
            <a:srgbClr val="2C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1371600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F96167"/>
                </a:solidFill>
                <a:latin typeface="맑은 고딕"/>
              </a:rPr>
              <a:t>RASPBERRY PI 5 · HOST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691640"/>
            <a:ext cx="4937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맑은 고딕"/>
              </a:rPr>
              <a:t>HMI · Camera + LiDAR Fusion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2377440"/>
            <a:ext cx="4937760" cy="118872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29400" y="2377440"/>
            <a:ext cx="4937760" cy="73152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2542032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2C3870"/>
                </a:solidFill>
                <a:latin typeface="Consolas"/>
              </a:rPr>
              <a:t>acc_hmi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283464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2ECC71"/>
                </a:solidFill>
                <a:latin typeface="맑은 고딕"/>
              </a:rPr>
              <a:t>GUI 822줄 · Sim mode 동작 확인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15468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PyQt5 터치 UI · 상태/속도/거리 표시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3703320"/>
            <a:ext cx="4937760" cy="118872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29400" y="3703320"/>
            <a:ext cx="493776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3867912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2C3870"/>
                </a:solidFill>
                <a:latin typeface="Consolas"/>
              </a:rPr>
              <a:t>acc_can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416052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F5A830"/>
                </a:solidFill>
                <a:latin typeface="맑은 고딕"/>
              </a:rPr>
              <a:t>CAN Bridge — 스켈레톤 단계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448056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MCP2515 (SPI) · 0x110/0x111/0x120/0x510 Tx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29400" y="5029200"/>
            <a:ext cx="4937760" cy="1188720"/>
          </a:xfrm>
          <a:prstGeom prst="rect">
            <a:avLst/>
          </a:prstGeom>
          <a:solidFill>
            <a:srgbClr val="F7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29400" y="5029200"/>
            <a:ext cx="4937760" cy="73152"/>
          </a:xfrm>
          <a:prstGeom prst="rect">
            <a:avLst/>
          </a:prstGeom>
          <a:solidFill>
            <a:srgbClr val="F5A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80" y="5193792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1" i="0">
                <a:solidFill>
                  <a:srgbClr val="2C3870"/>
                </a:solidFill>
                <a:latin typeface="Consolas"/>
              </a:rPr>
              <a:t>acc_fusion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548640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F5A830"/>
                </a:solidFill>
                <a:latin typeface="맑은 고딕"/>
              </a:rPr>
              <a:t>Camera/LiDAR/YOLO demo 동작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580644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0">
                <a:solidFill>
                  <a:srgbClr val="1A1F36"/>
                </a:solidFill>
                <a:latin typeface="맑은 고딕"/>
              </a:rPr>
              <a:t>통합 Fusion · 시간 동기화 미완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2991</TotalTime>
  <Words>640</Words>
  <Application>Microsoft Office PowerPoint</Application>
  <PresentationFormat>와이드스크린</PresentationFormat>
  <Paragraphs>122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Arial</vt:lpstr>
      <vt:lpstr>맑은 고딕</vt:lpstr>
      <vt:lpstr>Hyundai Sans Text Pro Regular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어정인/매니저/기술교육팀 SW기술파트</dc:creator>
  <cp:lastModifiedBy>최영균/책임매니저/기술교육사업기획팀 신사업기획파트</cp:lastModifiedBy>
  <cp:revision>181</cp:revision>
  <cp:lastPrinted>2024-11-07T11:06:51Z</cp:lastPrinted>
  <dcterms:created xsi:type="dcterms:W3CDTF">2024-09-30T11:38:08Z</dcterms:created>
  <dcterms:modified xsi:type="dcterms:W3CDTF">2026-01-07T05:53:30Z</dcterms:modified>
</cp:coreProperties>
</file>
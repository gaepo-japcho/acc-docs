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400">
                <a:solidFill>
                  <a:srgbClr val="CADCFC"/>
                </a:solidFill>
                <a:latin typeface="맑은 고딕"/>
              </a:rPr>
              <a:t>SeSAC · AUTOSAR ACC PROJECT · 중간발표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맑은 고딕"/>
              </a:rPr>
              <a:t>Adaptive Cruise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CADCFC"/>
                </a:solidFill>
                <a:latin typeface="맑은 고딕"/>
              </a:rPr>
              <a:t>시스템 개발 · 중간 진행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7315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맑은 고딕"/>
              </a:rPr>
              <a:t>AUTOSAR · Automotive SPICE 4.0 · ISO 26262 기반 SW 개발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60520"/>
            <a:ext cx="2743200" cy="36576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ACC on 1/10 RC-Car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43484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7091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개포동잡초 · 5명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46304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REPORT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783080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2026. 04. 24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51460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DEADLINE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834640"/>
            <a:ext cx="3017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2026. 04. 30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52044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840480"/>
            <a:ext cx="3017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맑은 고딕"/>
              </a:rPr>
              <a:t>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66344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ADCFC"/>
                </a:solidFill>
                <a:latin typeface="맑은 고딕"/>
              </a:rPr>
              <a:t>요구사항·아키텍처 단계 완료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ADCFC"/>
                </a:solidFill>
                <a:latin typeface="맑은 고딕"/>
              </a:rPr>
              <a:t>구현·통합·검증 진행 예정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spc="300">
                <a:solidFill>
                  <a:srgbClr val="7A83A8"/>
                </a:solidFill>
                <a:latin typeface="맑은 고딕"/>
              </a:rPr>
              <a:t>SeSAC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맑은 고딕"/>
              </a:rPr>
              <a:t>발표 순서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7A83A8"/>
                </a:solidFill>
                <a:latin typeface="맑은 고딕"/>
              </a:rPr>
              <a:t>프로젝트 개요부터 모듈별 진행 현황, 남은 과제까지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67128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32888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목적 · 팀 · 플랫폼 · 표준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81528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81528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9816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65576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3-노드 CAN 분산 구조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14216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14216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32504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개발 프로세스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98264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ASPICE V-모델 · ISO 26262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946904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46904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965192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요구사항 현황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30952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STK · SYS · SWR 트레이서빌리티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148840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148840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167128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ECU (AUTOSAR) 진행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532888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5개 SWC 중 2개 slbuild 통과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081528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081528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099816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Arduino 모터 노드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465576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전/후륜 펌웨어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014216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014216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032504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Raspberry Pi HMI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398264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GUI · 센서 융합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946904"/>
            <a:ext cx="59436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946904"/>
            <a:ext cx="594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965192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맑은 고딕"/>
              </a:rPr>
              <a:t>남은 과제 &amp; 일정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5330952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7A83A8"/>
                </a:solidFill>
                <a:latin typeface="맑은 고딕"/>
              </a:rPr>
              <a:t>~ 2026. 04.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01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1/10 스케일 RC카 기반 Adaptive Cruise Control — 요구사항부터 검증까지 V-모델 전체 체인 적용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760720" cy="411480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73152" cy="4114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400">
                <a:solidFill>
                  <a:srgbClr val="F96167"/>
                </a:solidFill>
                <a:latin typeface="맑은 고딕"/>
              </a:rPr>
              <a:t>WHAT WE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5394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맑은 고딕"/>
              </a:rPr>
              <a:t>AUTOSAR 기반 ACC SW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539496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36"/>
                </a:solidFill>
                <a:latin typeface="맑은 고딕"/>
              </a:rPr>
              <a:t>전방 차량을 인식하고 차간거리·속도를 자동 제어하는 ADAS 기능을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36"/>
                </a:solidFill>
                <a:latin typeface="맑은 고딕"/>
              </a:rPr>
              <a:t>1/10 RC카 플랫폼에서 실증.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36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36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36"/>
                </a:solidFill>
                <a:latin typeface="맑은 고딕"/>
              </a:rPr>
              <a:t>Automotive SPICE 4.0 프로세스를 V-모델 전체 체인에 적용하여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36"/>
                </a:solidFill>
                <a:latin typeface="맑은 고딕"/>
              </a:rPr>
              <a:t>요구사항 ↔ 설계 ↔ 구현 ↔ 테스트 간 추적성(traceability) 확보.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36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36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36"/>
                </a:solidFill>
                <a:latin typeface="맑은 고딕"/>
              </a:rPr>
              <a:t>ISO 26262:2018 기반 HARA → Safety Goal → FSC → TSR 체계로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F36"/>
                </a:solidFill>
                <a:latin typeface="맑은 고딕"/>
              </a:rPr>
              <a:t>안전 요구사항을 상세설계까지 파생.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011680"/>
            <a:ext cx="2697480" cy="1965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기간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697480"/>
            <a:ext cx="2240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~ 2026.04.30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337560"/>
            <a:ext cx="22402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개발 완료 목표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011680"/>
            <a:ext cx="2697480" cy="1965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28600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팀 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697480"/>
            <a:ext cx="2240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5 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337560"/>
            <a:ext cx="22402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PM · SW · HW · QA/Safety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160520"/>
            <a:ext cx="2697480" cy="1965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43484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HW 플랫폼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846320"/>
            <a:ext cx="2240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MPC5606B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86400"/>
            <a:ext cx="22402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Arduino · RPi 5 · LiDAR · CAN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4160520"/>
            <a:ext cx="2697480" cy="1965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443484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적용 표준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846320"/>
            <a:ext cx="2240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ASPICE 4.0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22402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ISO 26262:2018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04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02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RPi(센서/HMI) · MPC5606B(제어) · Arduino × 2(CAN 게이트웨이 + 모터 노드) — 직진 전용 · AEB 미포함</a:t>
            </a:r>
          </a:p>
        </p:txBody>
      </p:sp>
      <p:pic>
        <p:nvPicPr>
          <p:cNvPr id="9" name="Picture 8" descr="architecture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203" y="1874519"/>
            <a:ext cx="8263288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05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03  DEVELOPMENT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개발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Automotive SPICE 4.0 V-모델 + ISO 26262:2018 안전 체인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669280" cy="411480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F96167"/>
                </a:solidFill>
                <a:latin typeface="맑은 고딕"/>
              </a:rPr>
              <a:t>ASPICE 4.0 · V-MODEL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606040"/>
            <a:ext cx="2286000" cy="3474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82296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STK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06040"/>
            <a:ext cx="13716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Stakeholder 요구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17520"/>
            <a:ext cx="2286000" cy="3474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17520"/>
            <a:ext cx="82296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017520"/>
            <a:ext cx="13716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System 요구 · 아키텍처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29000"/>
            <a:ext cx="2286000" cy="3474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29000"/>
            <a:ext cx="82296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SWR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429000"/>
            <a:ext cx="13716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SW 요구 · 아키텍처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606040"/>
            <a:ext cx="2468880" cy="3474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606040"/>
            <a:ext cx="10058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VAL.1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606040"/>
            <a:ext cx="13716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017520"/>
            <a:ext cx="2468880" cy="3474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3017520"/>
            <a:ext cx="10058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SYS.4-5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017520"/>
            <a:ext cx="13716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시스템/SW 통합·자격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429000"/>
            <a:ext cx="2468880" cy="3474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429000"/>
            <a:ext cx="10058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SWE.4-6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429000"/>
            <a:ext cx="13716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단위·통합·자격 테스트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931920"/>
            <a:ext cx="5166360" cy="3657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931920"/>
            <a:ext cx="51663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구현 · Coding · Simulink MBD · AUTOSAR Blockset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434840"/>
            <a:ext cx="516636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 spc="300">
                <a:solidFill>
                  <a:srgbClr val="F96167"/>
                </a:solidFill>
                <a:latin typeface="맑은 고딕"/>
              </a:rPr>
              <a:t>Traceability Chain</a:t>
            </a:r>
          </a:p>
          <a:p>
            <a:pPr algn="l">
              <a:lnSpc>
                <a:spcPct val="125000"/>
              </a:lnSpc>
            </a:pPr>
            <a:r>
              <a:rPr sz="1000" b="1" i="0" spc="300">
                <a:solidFill>
                  <a:srgbClr val="F9616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STK → SYS → SWR → Design → Code → Test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요구사항 ID가 코드 주석·테스트·문서에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일관 명시되어 ASPICE 감사에 대응.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14884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F96167"/>
                </a:solidFill>
                <a:latin typeface="맑은 고딕"/>
              </a:rPr>
              <a:t>ISO 26262:2018 · SAFETY CHAIN</a:t>
            </a:r>
          </a:p>
        </p:txBody>
      </p:sp>
      <p:sp>
        <p:nvSpPr>
          <p:cNvPr id="34" name="Oval 33"/>
          <p:cNvSpPr/>
          <p:nvPr/>
        </p:nvSpPr>
        <p:spPr>
          <a:xfrm>
            <a:off x="6675120" y="2651760"/>
            <a:ext cx="274320" cy="27432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651760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60604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HARA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260604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Hazard Analysis &amp; Risk Assessment</a:t>
            </a:r>
          </a:p>
        </p:txBody>
      </p:sp>
      <p:sp>
        <p:nvSpPr>
          <p:cNvPr id="38" name="Oval 37"/>
          <p:cNvSpPr/>
          <p:nvPr/>
        </p:nvSpPr>
        <p:spPr>
          <a:xfrm>
            <a:off x="6675120" y="3154680"/>
            <a:ext cx="274320" cy="27432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154680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10896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Safety Goal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310896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최상위 안전 목표 정의</a:t>
            </a:r>
          </a:p>
        </p:txBody>
      </p:sp>
      <p:sp>
        <p:nvSpPr>
          <p:cNvPr id="42" name="Oval 41"/>
          <p:cNvSpPr/>
          <p:nvPr/>
        </p:nvSpPr>
        <p:spPr>
          <a:xfrm>
            <a:off x="6675120" y="3657600"/>
            <a:ext cx="274320" cy="27432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657600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361188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FSC / FSR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61188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Functional Safety Concept</a:t>
            </a:r>
          </a:p>
        </p:txBody>
      </p:sp>
      <p:sp>
        <p:nvSpPr>
          <p:cNvPr id="46" name="Oval 45"/>
          <p:cNvSpPr/>
          <p:nvPr/>
        </p:nvSpPr>
        <p:spPr>
          <a:xfrm>
            <a:off x="6675120" y="4160520"/>
            <a:ext cx="274320" cy="27432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4160520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411480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TSR / TSC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11480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Technical Safety Req.</a:t>
            </a:r>
          </a:p>
        </p:txBody>
      </p:sp>
      <p:sp>
        <p:nvSpPr>
          <p:cNvPr id="50" name="Oval 49"/>
          <p:cNvSpPr/>
          <p:nvPr/>
        </p:nvSpPr>
        <p:spPr>
          <a:xfrm>
            <a:off x="6675120" y="4663440"/>
            <a:ext cx="274320" cy="27432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663440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461772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SwRS 안전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461772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SW 안전 요구사항</a:t>
            </a:r>
          </a:p>
        </p:txBody>
      </p:sp>
      <p:sp>
        <p:nvSpPr>
          <p:cNvPr id="54" name="Oval 53"/>
          <p:cNvSpPr/>
          <p:nvPr/>
        </p:nvSpPr>
        <p:spPr>
          <a:xfrm>
            <a:off x="6675120" y="5166360"/>
            <a:ext cx="274320" cy="27432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5166360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512064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구현·검증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512064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맑은 고딕"/>
              </a:rPr>
              <a:t>Safety Case 작성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5623560"/>
            <a:ext cx="475488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5623560"/>
            <a:ext cx="47548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 spc="200">
                <a:solidFill>
                  <a:srgbClr val="FFFFFF"/>
                </a:solidFill>
                <a:latin typeface="맑은 고딕"/>
              </a:rPr>
              <a:t>ASIL B  ·  의도치 않은 가속 / 브레이크 미작동 (H-01, H-02)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06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04 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요구사항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StrictDoc (.sdoc) 기반 — STK → SYS → SWR 계층적 도출 &amp; 트레이서빌리티 확보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19456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 spc="300">
                <a:solidFill>
                  <a:srgbClr val="F96167"/>
                </a:solidFill>
                <a:latin typeface="맑은 고딕"/>
              </a:rPr>
              <a:t>STK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1828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맑은 고딕"/>
              </a:rPr>
              <a:t>Stakeholder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맑은 고딕"/>
              </a:rPr>
              <a:t>완료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34056" y="2011680"/>
            <a:ext cx="219456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6936" y="212140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 spc="300">
                <a:solidFill>
                  <a:srgbClr val="F96167"/>
                </a:solidFill>
                <a:latin typeface="맑은 고딕"/>
              </a:rPr>
              <a:t>SYS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2423160"/>
            <a:ext cx="1828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6" y="28346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맑은 고딕"/>
              </a:rPr>
              <a:t>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936" y="306324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맑은 고딕"/>
              </a:rPr>
              <a:t>완료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0912" y="2011680"/>
            <a:ext cx="219456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212140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 spc="300">
                <a:solidFill>
                  <a:srgbClr val="F96167"/>
                </a:solidFill>
                <a:latin typeface="맑은 고딕"/>
              </a:rPr>
              <a:t>SWR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423160"/>
            <a:ext cx="1828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30+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8346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맑은 고딕"/>
              </a:rPr>
              <a:t>SW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06324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맑은 고딕"/>
              </a:rPr>
              <a:t>완료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87768" y="2011680"/>
            <a:ext cx="219456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212140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 spc="300">
                <a:solidFill>
                  <a:srgbClr val="F96167"/>
                </a:solidFill>
                <a:latin typeface="맑은 고딕"/>
              </a:rPr>
              <a:t>HWR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423160"/>
            <a:ext cx="1828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28346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맑은 고딕"/>
              </a:rPr>
              <a:t>HW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06324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맑은 고딕"/>
              </a:rPr>
              <a:t>완료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64624" y="2011680"/>
            <a:ext cx="219456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212140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 spc="300">
                <a:solidFill>
                  <a:srgbClr val="F96167"/>
                </a:solidFill>
                <a:latin typeface="맑은 고딕"/>
              </a:rPr>
              <a:t>SAF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2423160"/>
            <a:ext cx="1828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4" y="28346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맑은 고딕"/>
              </a:rPr>
              <a:t>Safety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06324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맑은 고딕"/>
              </a:rPr>
              <a:t>완료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핵심 SWR 샘플 (SWC 매핑 · ASIL · 상태)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31920"/>
            <a:ext cx="11292840" cy="36576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931920"/>
            <a:ext cx="1005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3931920"/>
            <a:ext cx="42062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설명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393192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SWC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9319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ASIL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39319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상태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97680"/>
            <a:ext cx="11292840" cy="329184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297680"/>
            <a:ext cx="10058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SWR001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4297680"/>
            <a:ext cx="4206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ACC 5-상태 FSM (OFF/STBY/CRUISING/FOLLOWING/FAULT)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4297680"/>
            <a:ext cx="23774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AccStateMachine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297680"/>
            <a:ext cx="18288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맑은 고딕"/>
              </a:rPr>
              <a:t>ASIL 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4297680"/>
            <a:ext cx="18288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626864"/>
            <a:ext cx="11292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626864"/>
            <a:ext cx="10058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SWR002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4626864"/>
            <a:ext cx="4206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브레이크 입력 ≤ 50ms STANDBY (지속 제동)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4626864"/>
            <a:ext cx="23774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AccStateMachine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4626864"/>
            <a:ext cx="18288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맑은 고딕"/>
              </a:rPr>
              <a:t>ASIL 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4626864"/>
            <a:ext cx="18288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956048"/>
            <a:ext cx="11292840" cy="329184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956048"/>
            <a:ext cx="10058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SWR009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54480" y="4956048"/>
            <a:ext cx="4206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거리 PID outer-loop (20ms)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0" y="4956048"/>
            <a:ext cx="23774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DistanceControl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956048"/>
            <a:ext cx="18288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7A83A8"/>
                </a:solidFill>
                <a:latin typeface="맑은 고딕"/>
              </a:rPr>
              <a:t>QM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4956048"/>
            <a:ext cx="18288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285232"/>
            <a:ext cx="11292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285232"/>
            <a:ext cx="10058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SWR034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54480" y="5285232"/>
            <a:ext cx="4206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속도 PI inner-loop + PWM 클램핑 (10ms)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60720" y="5285232"/>
            <a:ext cx="23774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MotorControl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5285232"/>
            <a:ext cx="18288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맑은 고딕"/>
              </a:rPr>
              <a:t>ASIL 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66960" y="5285232"/>
            <a:ext cx="18288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614416"/>
            <a:ext cx="11292840" cy="329184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614416"/>
            <a:ext cx="10058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SWR015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54480" y="5614416"/>
            <a:ext cx="4206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CAN 타임아웃 감시 → FAULT (능동감속 X)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60720" y="5614416"/>
            <a:ext cx="23774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Diagnostics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5614416"/>
            <a:ext cx="18288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맑은 고딕"/>
              </a:rPr>
              <a:t>ASIL 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6960" y="5614416"/>
            <a:ext cx="18288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맑은 고딕"/>
              </a:rPr>
              <a:t>설계 완료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943599"/>
            <a:ext cx="11292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943599"/>
            <a:ext cx="10058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SWR020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54480" y="5943599"/>
            <a:ext cx="4206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HMI 가상 GUI 버튼 → CAN (DriverInput)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60720" y="5943599"/>
            <a:ext cx="23774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DriverInput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38160" y="5943599"/>
            <a:ext cx="18288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7A83A8"/>
                </a:solidFill>
                <a:latin typeface="맑은 고딕"/>
              </a:rPr>
              <a:t>QM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66960" y="5943599"/>
            <a:ext cx="18288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07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05  MAIN ECU · AUTOSAR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맑은 고딕"/>
              </a:rPr>
              <a:t>메인 ECU — AUTOSAR SWC 진행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Simulink Model-Based Design · MATLAB R2024b + AUTOSAR Blockset · Target: NXP MPC5606B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92840" cy="82296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73152" cy="8229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7315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F96167"/>
                </a:solidFill>
                <a:latin typeface="맑은 고딕"/>
              </a:rPr>
              <a:t>Step 1 · DATA DICTIONARY (ACC_Types.sldd)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9152"/>
            <a:ext cx="8229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onsolas"/>
              </a:rPr>
              <a:t>build_acc_dictionary.m · 15 ImplDataType · 5 Enum · 4 Linear-Scaled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2743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2600" b="1" i="0">
                <a:solidFill>
                  <a:srgbClr val="2ECC71"/>
                </a:solidFill>
                <a:latin typeface="맑은 고딕"/>
              </a:rPr>
              <a:t>✓ 완료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82112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AccState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200400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5-state FSM · 10ms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657600"/>
            <a:ext cx="1051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977640"/>
            <a:ext cx="1051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맑은 고딕"/>
              </a:rPr>
              <a:t>팀원 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3017520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0128" y="3017520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182112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Sensor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3200400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센서 데이터 수신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3657600"/>
            <a:ext cx="1051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3977640"/>
            <a:ext cx="1051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맑은 고딕"/>
              </a:rPr>
              <a:t>팀원 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3017520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3017520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3182112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Distance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3200400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거리 PID · 20ms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657600"/>
            <a:ext cx="1051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36" y="3977640"/>
            <a:ext cx="1051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맑은 고딕"/>
              </a:rPr>
              <a:t>팀원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15984" y="3017520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15984" y="3017520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8864" y="3182112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Motor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0464" y="3200400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속도 PI · 10ms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70464" y="3657600"/>
            <a:ext cx="1051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70464" y="3977640"/>
            <a:ext cx="1051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맑은 고딕"/>
              </a:rPr>
              <a:t>팀원 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453128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453128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617720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CanComm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4636008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Rx/Tx · 10/20/50ms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5093208"/>
            <a:ext cx="1051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413248"/>
            <a:ext cx="1051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맑은 고딕"/>
              </a:rPr>
              <a:t>팀원 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453128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10128" y="4453128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93008" y="4617720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Diagnostics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64608" y="4636008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FAULT 진단 · 10ms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64608" y="5093208"/>
            <a:ext cx="1051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설계 완료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64608" y="5413248"/>
            <a:ext cx="1051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맑은 고딕"/>
              </a:rPr>
              <a:t>팀원 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63056" y="4453128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4453128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45936" y="4617720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HmiManager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17536" y="4636008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HMI 표시 데이터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17536" y="5093208"/>
            <a:ext cx="1051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17536" y="5413248"/>
            <a:ext cx="1051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맑은 고딕"/>
              </a:rPr>
              <a:t>팀원 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15984" y="4453128"/>
            <a:ext cx="274320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15984" y="4453128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98864" y="4617720"/>
            <a:ext cx="1417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DriverInput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70464" y="4636008"/>
            <a:ext cx="1051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ADCFC"/>
                </a:solidFill>
                <a:latin typeface="맑은 고딕"/>
              </a:rPr>
              <a:t>GUI → CAN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70464" y="5093208"/>
            <a:ext cx="1051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70464" y="5413248"/>
            <a:ext cx="1051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맑은 고딕"/>
              </a:rPr>
              <a:t>팀원 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852160"/>
            <a:ext cx="11292840" cy="50292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5852160"/>
            <a:ext cx="9144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852160"/>
            <a:ext cx="64008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진행률  0 / 8 SWC (Data Dictionary만 완료)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0" y="5852160"/>
            <a:ext cx="4572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 i="0">
                <a:solidFill>
                  <a:srgbClr val="F5A830"/>
                </a:solidFill>
                <a:latin typeface="맑은 고딕"/>
              </a:rPr>
              <a:t>⚠ R2024b AR-tree API 디버깅 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08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06  ARDUINO MOTOR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맑은 고딕"/>
              </a:rPr>
              <a:t>Arduino 모터 시스템 — 2-노드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7A83A8"/>
                </a:solidFill>
                <a:latin typeface="맑은 고딕"/>
              </a:rPr>
              <a:t>HWR002: MCP2515-SPI(D11/12/13) + Motor Shield R3(PWM/DIR) 핀 충돌 → 보드 분리 · 게이트웨이 ↔ 모터노드는 I2C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760720" cy="411480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73152" cy="4114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5303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F96167"/>
                </a:solidFill>
                <a:latin typeface="맑은 고딕"/>
              </a:rPr>
              <a:t>NODE 1 · CAN 게이트웨이 (acc_can_node/)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5303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맑은 고딕"/>
              </a:rPr>
              <a:t>Arduino Uno + MCP2515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F36"/>
                </a:solidFill>
                <a:latin typeface="맑은 고딕"/>
              </a:rPr>
              <a:t>MPC5606B ↔ CAN 송수신 · 모터 노드 ↔ I2C 중계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4728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4728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83280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onsolas"/>
              </a:rPr>
              <a:t>acc_can_node.ino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39312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main loop · 30ms timeout · ASIL-B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99592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9592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31920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onsolas"/>
              </a:rPr>
              <a:t>can_handler.cpp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87952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MCP2515 ISR · 0x210 Rx / 0x300 Tx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54456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4456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480560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onsolas"/>
              </a:rPr>
              <a:t>i2c_handler.cpp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736592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I2C Master · 모터 명령/피드백 중계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09320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9320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029200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onsolas"/>
              </a:rPr>
              <a:t>config.h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285232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핀 맵 · CAN ID 정의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011680"/>
            <a:ext cx="5349240" cy="411480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121408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F96167"/>
                </a:solidFill>
                <a:latin typeface="맑은 고딕"/>
              </a:rPr>
              <a:t>NODE 2 · 모터 노드 (acc_motor_node/)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42316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Arduino Uno + Motor Shield R3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88036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맑은 고딕"/>
              </a:rPr>
              <a:t>I2C Slave · 대표 바퀴 1개 PWM/엔코더 (스케일카 시연)</a:t>
            </a:r>
          </a:p>
        </p:txBody>
      </p:sp>
      <p:sp>
        <p:nvSpPr>
          <p:cNvPr id="34" name="Oval 33"/>
          <p:cNvSpPr/>
          <p:nvPr/>
        </p:nvSpPr>
        <p:spPr>
          <a:xfrm>
            <a:off x="6675120" y="344728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44728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383280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onsolas"/>
              </a:rPr>
              <a:t>acc_motor_node.ino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639312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맑은 고딕"/>
              </a:rPr>
              <a:t>main loop · I2C 명령 처리</a:t>
            </a:r>
          </a:p>
        </p:txBody>
      </p:sp>
      <p:sp>
        <p:nvSpPr>
          <p:cNvPr id="38" name="Oval 37"/>
          <p:cNvSpPr/>
          <p:nvPr/>
        </p:nvSpPr>
        <p:spPr>
          <a:xfrm>
            <a:off x="6675120" y="399592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99592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931920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onsolas"/>
              </a:rPr>
              <a:t>motor_driver.cpp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187952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맑은 고딕"/>
              </a:rPr>
              <a:t>PWM 생성 · 방향 제어 · saturation</a:t>
            </a:r>
          </a:p>
        </p:txBody>
      </p:sp>
      <p:sp>
        <p:nvSpPr>
          <p:cNvPr id="42" name="Oval 41"/>
          <p:cNvSpPr/>
          <p:nvPr/>
        </p:nvSpPr>
        <p:spPr>
          <a:xfrm>
            <a:off x="6675120" y="454456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54456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4480560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onsolas"/>
              </a:rPr>
              <a:t>encoder.cpp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736592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맑은 고딕"/>
              </a:rPr>
              <a:t>INT 기반 펄스 카운트 → 속도 cm/s</a:t>
            </a:r>
          </a:p>
        </p:txBody>
      </p:sp>
      <p:sp>
        <p:nvSpPr>
          <p:cNvPr id="46" name="Oval 45"/>
          <p:cNvSpPr/>
          <p:nvPr/>
        </p:nvSpPr>
        <p:spPr>
          <a:xfrm>
            <a:off x="6675120" y="509320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5093208"/>
            <a:ext cx="274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5029200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onsolas"/>
              </a:rPr>
              <a:t>i2c_handler.cpp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5285232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맑은 고딕"/>
              </a:rPr>
              <a:t>I2C Slave · cmd 수신 · spd 응답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09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07  RASPBERRY PI 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맑은 고딕"/>
              </a:rPr>
              <a:t>Raspberry Pi — HMI · 센서 융합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Python 3.14 + uv · PyQt5 GUI · OpenCV + Ultralytics YOLO · python-can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749039" cy="42062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3749039" cy="73152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320039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200">
                <a:solidFill>
                  <a:srgbClr val="F96167"/>
                </a:solidFill>
                <a:latin typeface="Consolas"/>
              </a:rPr>
              <a:t>acc_hmi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320039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맑은 고딕"/>
              </a:rPr>
              <a:t>HMI 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3200399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36"/>
                </a:solidFill>
                <a:latin typeface="맑은 고딕"/>
              </a:rPr>
              <a:t>PyQt5 기반 터치 UI · 상태·속도·거리 레벨 표시 · ACC ON/OFF/SET/RES 버튼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3200399" cy="18288"/>
          </a:xfrm>
          <a:prstGeom prst="rect">
            <a:avLst/>
          </a:prstGeom>
          <a:solidFill>
            <a:srgbClr val="7A8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3200399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main.py 구현 완료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acc_state.py (시뮬 FSM)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GUI 레이아웃 고정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3749039" cy="45720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760720"/>
            <a:ext cx="374903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Simulation mode 동작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7" y="2011680"/>
            <a:ext cx="3749039" cy="42062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7" y="2011680"/>
            <a:ext cx="3749039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7" y="2194560"/>
            <a:ext cx="320039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200">
                <a:solidFill>
                  <a:srgbClr val="F96167"/>
                </a:solidFill>
                <a:latin typeface="Consolas"/>
              </a:rPr>
              <a:t>acc_can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7" y="2514600"/>
            <a:ext cx="320039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맑은 고딕"/>
              </a:rPr>
              <a:t>CAN 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7" y="3063240"/>
            <a:ext cx="3200399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36"/>
                </a:solidFill>
                <a:latin typeface="맑은 고딕"/>
              </a:rPr>
              <a:t>MCP2515 (SPI) · 0x110·0x111·0x120·0x510 Tx / 0x300·0x520·0x410 Rx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0287" y="4206240"/>
            <a:ext cx="3200399" cy="18288"/>
          </a:xfrm>
          <a:prstGeom prst="rect">
            <a:avLst/>
          </a:prstGeom>
          <a:solidFill>
            <a:srgbClr val="7A8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7" y="4343400"/>
            <a:ext cx="3200399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python-can 설정 완료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DBC 바인딩 검토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프레임 파서 작성 예정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7" y="5760720"/>
            <a:ext cx="3749039" cy="457200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7" y="5760720"/>
            <a:ext cx="374903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스켈레톤 단계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4" y="2011680"/>
            <a:ext cx="3749039" cy="42062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74734" y="2011680"/>
            <a:ext cx="3749039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4" y="2194560"/>
            <a:ext cx="320039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200">
                <a:solidFill>
                  <a:srgbClr val="F96167"/>
                </a:solidFill>
                <a:latin typeface="Consolas"/>
              </a:rPr>
              <a:t>acc_fusion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4" y="2514600"/>
            <a:ext cx="320039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맑은 고딕"/>
              </a:rPr>
              <a:t>Sensor Fusion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4" y="3063240"/>
            <a:ext cx="3200399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36"/>
                </a:solidFill>
                <a:latin typeface="맑은 고딕"/>
              </a:rPr>
              <a:t>RPi Camera + RPLiDAR · 차량 탐지(YOLO) + 거리 측정 → 0x110 SENSOR_FUSION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49054" y="4206240"/>
            <a:ext cx="3200399" cy="18288"/>
          </a:xfrm>
          <a:prstGeom prst="rect">
            <a:avLst/>
          </a:prstGeom>
          <a:solidFill>
            <a:srgbClr val="7A8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49054" y="4343400"/>
            <a:ext cx="3200399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YOLO 모델 선정 완료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LiDAR 드라이버 테스트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F36"/>
                </a:solidFill>
                <a:latin typeface="맑은 고딕"/>
              </a:rPr>
              <a:t>▸ 시간 동기화 설계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74734" y="5760720"/>
            <a:ext cx="3749039" cy="457200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4" y="5760720"/>
            <a:ext cx="374903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스켈레톤 단계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10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08  CAN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CAN 메시지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7A83A8"/>
                </a:solidFill>
                <a:latin typeface="맑은 고딕"/>
              </a:rPr>
              <a:t>acc_db.dbc · 9 메시지 · 3 노드 (SENSOR · ECU · MTR) · 500 kbps · MTR_CMD에 AUTOSAR E2E P01 적용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47120" cy="41148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103120"/>
            <a:ext cx="11887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CAN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103120"/>
            <a:ext cx="24688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103120"/>
            <a:ext cx="20116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방향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103120"/>
            <a:ext cx="10972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주기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2103120"/>
            <a:ext cx="44805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맑은 고딕"/>
              </a:rPr>
              <a:t>핵심 시그널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1247120" cy="36576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51460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0x110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51460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SENSOR_FUSION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51460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RPi → ECU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51460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20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51460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VEH_DET · VEH_DIST (mm, 0–12000)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88036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0x111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88036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SENSOR_HEARTBEAT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288036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RPi → ECU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88036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20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28803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HB_SENSOR · ERR_SENSOR (60ms timeout)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24612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0x120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24612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VEH_CTRL 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324612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RPi → ECU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24612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20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324612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BTN_BRAKE · SET_ACCEL_PWM (ASIL-B 안전 경로)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61188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0x210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361188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MTR_CMD ★ E2E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361188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ECU → MTR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61188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10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361188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PWM 4ch + Rolling Counter + CRC-8 (E2E P01)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977640"/>
            <a:ext cx="11247120" cy="36576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397764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0x300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97764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MTR_SPD_FB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397764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MTR → ECU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397764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10 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397764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GET_SPD_AVG · 4륜 개별 속도 (예약)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34340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0x310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434340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MTR_HEARTBEAT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24528" y="434340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MTR → ECU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434340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10 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3488" y="434340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HB_MTR · ERR_MTR (30ms timeout)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470916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0x410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55648" y="470916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ECU_HEARTBEAT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24528" y="470916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ECU → 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470916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10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33488" y="47091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HB_ECU · ERR_ECU (ASIL-B, 30ms timeout)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507492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0x510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55648" y="507492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ACC_CTRL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24528" y="507492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RPi → ECU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6208" y="507492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50 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33488" y="507492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ACC ON/OFF · SET · RES · 속도± · 거리1/2/3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6928" y="544068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nsolas"/>
              </a:rPr>
              <a:t>0x520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55648" y="544068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ACC_STATUS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24528" y="544068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ECU → RPi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36208" y="544068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50 ms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33488" y="544068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맑은 고딕"/>
              </a:rPr>
              <a:t>GET_ACC_STATE · GET_ACC_SPD · GET_ACC_LVL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5971032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STATUS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0" y="6016752"/>
            <a:ext cx="91440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★ = ASIL-B 안전 경로 · MTR_CMD는 E2E (RC + CRC-8) · Heartbeat 3종 (각 30~60ms 타임아웃)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11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09  KEY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주요 성과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중간발표 시점까지 달성한 핵심 산출물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5486400" cy="201168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91440" cy="2011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237744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맑은 고딕"/>
              </a:rPr>
              <a:t>100</a:t>
            </a:r>
            <a:r>
              <a:rPr sz="2200" b="1">
                <a:solidFill>
                  <a:srgbClr val="CADCFC"/>
                </a:solidFill>
                <a:latin typeface="맑은 고딕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28600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300">
                <a:solidFill>
                  <a:srgbClr val="F96167"/>
                </a:solidFill>
                <a:latin typeface="맑은 고딕"/>
              </a:rPr>
              <a:t>요구사항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743200"/>
            <a:ext cx="2514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STK 24 · SYS 36 · SWR 30+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HWR 12 · SAF 18 (Safety Goal 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965960"/>
            <a:ext cx="5486400" cy="2011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965960"/>
            <a:ext cx="91440" cy="2011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423160"/>
            <a:ext cx="237744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맑은 고딕"/>
              </a:rPr>
              <a:t>9</a:t>
            </a:r>
            <a:r>
              <a:rPr sz="2200" b="1">
                <a:solidFill>
                  <a:srgbClr val="CADCFC"/>
                </a:solidFill>
                <a:latin typeface="맑은 고딕"/>
              </a:rPr>
              <a:t>/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28600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300">
                <a:solidFill>
                  <a:srgbClr val="F96167"/>
                </a:solidFill>
                <a:latin typeface="맑은 고딕"/>
              </a:rPr>
              <a:t>CAN 메시지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743200"/>
            <a:ext cx="2514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acc_db.dbc 확정 · E2E P01 적용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3-노드 ASIL-B 인터페이스 확정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5486400" cy="201168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91440" cy="2011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237744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맑은 고딕"/>
              </a:rPr>
              <a:t>100</a:t>
            </a:r>
            <a:r>
              <a:rPr sz="2200" b="1">
                <a:solidFill>
                  <a:srgbClr val="CADCFC"/>
                </a:solidFill>
                <a:latin typeface="맑은 고딕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52628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300">
                <a:solidFill>
                  <a:srgbClr val="F96167"/>
                </a:solidFill>
                <a:latin typeface="맑은 고딕"/>
              </a:rPr>
              <a:t>Arduino 펌웨어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983480"/>
            <a:ext cx="2514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게이트웨이 + 모터노드 골격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822줄 RPi HMI (Sim mode 동작)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206240"/>
            <a:ext cx="5486400" cy="2011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206240"/>
            <a:ext cx="91440" cy="2011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663440"/>
            <a:ext cx="237744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맑은 고딕"/>
              </a:rPr>
              <a:t>35</a:t>
            </a:r>
            <a:r>
              <a:rPr sz="2200" b="1">
                <a:solidFill>
                  <a:srgbClr val="CADCFC"/>
                </a:solidFill>
                <a:latin typeface="맑은 고딕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52628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spc="300">
                <a:solidFill>
                  <a:srgbClr val="F96167"/>
                </a:solidFill>
                <a:latin typeface="맑은 고딕"/>
              </a:rPr>
              <a:t>전체 진행률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983480"/>
            <a:ext cx="2514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요구사항·아키텍처·문서 완료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ADCFC"/>
                </a:solidFill>
                <a:latin typeface="맑은 고딕"/>
              </a:rPr>
              <a:t>ECU 구현·통합·검증 미착수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12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10  REMAINING WORK &amp;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맑은 고딕"/>
              </a:rPr>
              <a:t>남은 과제 &amp; 기술적 리스크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4월 30일 데드라인까지 해결해야 하는 주요 이슈와 대응 방안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669280" cy="411480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73152" cy="411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REMAINING WORK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679192"/>
            <a:ext cx="228600" cy="228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60604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AccStateMachine SWC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8036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Stateflow 5-상태 FSM 구현 (ASIL-B)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246120"/>
            <a:ext cx="228600" cy="228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172968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DistanceControl SWC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447288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outer-loop 거리 PID (20ms)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813048"/>
            <a:ext cx="228600" cy="228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739896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MotorControl SWC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14216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inner-loop 속도 PI + PWM 클램핑 (10ms, ASIL-B)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379976"/>
            <a:ext cx="228600" cy="228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306824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CanComm + Diag SWC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81144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multi-rate export-functions · FAULT 진단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946904"/>
            <a:ext cx="228600" cy="228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873752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Composition + ARXML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148072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8 SWC 통합 + mobilgene BSW · MPC5606B 빌드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5513832"/>
            <a:ext cx="228600" cy="228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544068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실차 통합 +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71500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RPi ↔ ECU ↔ Arduino 시나리오 테스트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011680"/>
            <a:ext cx="5349240" cy="411480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14884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 spc="300">
                <a:solidFill>
                  <a:srgbClr val="F96167"/>
                </a:solidFill>
                <a:latin typeface="맑은 고딕"/>
              </a:rPr>
              <a:t>TECHNICAL RISKS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2697480"/>
            <a:ext cx="502920" cy="2743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697480"/>
            <a:ext cx="502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65176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AUTOSAR SWC 0/8 구현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999232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맑은 고딕"/>
              </a:rPr>
              <a:t>8개 SWC 모델 모두 미작성 · 6일 안에 구현+통합+검증 매우 어려움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3538728"/>
            <a:ext cx="502920" cy="2743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3538728"/>
            <a:ext cx="502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493008"/>
            <a:ext cx="43891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R2024b AR-tree API 호환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840480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맑은 고딕"/>
              </a:rPr>
              <a:t>addPackageableElement 거부 · test_*.m 디버깅 중 · ARXML export 막힘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4379976"/>
            <a:ext cx="502920" cy="2743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379976"/>
            <a:ext cx="502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334256"/>
            <a:ext cx="43891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MPC5606B 실기 빌드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681728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맑은 고딕"/>
              </a:rPr>
              <a:t>현재 x86-64 코드 생성만 · mobilgene BSW + S32DS 플래싱 미완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5221224"/>
            <a:ext cx="502920" cy="274320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5221224"/>
            <a:ext cx="502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5175504"/>
            <a:ext cx="43891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실차 통합/검증 시간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5522976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맑은 고딕"/>
              </a:rPr>
              <a:t>RPi-ECU-Arduino 3노드 통합 + ASIL-B 시나리오 검증 시간 부족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 spc="150">
                <a:solidFill>
                  <a:srgbClr val="7A83A8"/>
                </a:solidFill>
                <a:latin typeface="맑은 고딕"/>
              </a:rPr>
              <a:t>SeSAC · ACC Project · 중간발표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 spc="150">
                <a:solidFill>
                  <a:srgbClr val="7A83A8"/>
                </a:solidFill>
                <a:latin typeface="맑은 고딕"/>
              </a:rPr>
              <a:t>13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 spc="300">
                <a:solidFill>
                  <a:srgbClr val="1E2761"/>
                </a:solidFill>
                <a:latin typeface="맑은 고딕"/>
              </a:rPr>
              <a:t>11 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맑은 고딕"/>
              </a:rPr>
              <a:t>향후 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7A83A8"/>
                </a:solidFill>
                <a:latin typeface="맑은 고딕"/>
              </a:rPr>
              <a:t>2026.04.24  (오늘 · 중간발표)  →  2026.04.30  (최종 제출 · 6일 남음)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419856"/>
            <a:ext cx="10332720" cy="54864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419856"/>
            <a:ext cx="1549908" cy="5486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291840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onsolas"/>
              </a:rPr>
              <a:t>04.24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 spc="300">
                <a:solidFill>
                  <a:srgbClr val="F96167"/>
                </a:solidFill>
                <a:latin typeface="맑은 고딕"/>
              </a:rPr>
              <a:t>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82880" y="3840480"/>
            <a:ext cx="21945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중간발표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(오늘)</a:t>
            </a:r>
          </a:p>
        </p:txBody>
      </p:sp>
      <p:sp>
        <p:nvSpPr>
          <p:cNvPr id="15" name="Oval 14"/>
          <p:cNvSpPr/>
          <p:nvPr/>
        </p:nvSpPr>
        <p:spPr>
          <a:xfrm>
            <a:off x="2816352" y="329184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66544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onsolas"/>
              </a:rPr>
              <a:t>04.25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544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 spc="300">
                <a:solidFill>
                  <a:srgbClr val="7A83A8"/>
                </a:solidFill>
                <a:latin typeface="맑은 고딕"/>
              </a:rPr>
              <a:t>예정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3664" y="3840480"/>
            <a:ext cx="21945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AccFSM + Motor/Distance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SWC 구현</a:t>
            </a:r>
          </a:p>
        </p:txBody>
      </p:sp>
      <p:sp>
        <p:nvSpPr>
          <p:cNvPr id="19" name="Oval 18"/>
          <p:cNvSpPr/>
          <p:nvPr/>
        </p:nvSpPr>
        <p:spPr>
          <a:xfrm>
            <a:off x="5399532" y="329184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9724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onsolas"/>
              </a:rPr>
              <a:t>04.27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9724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 spc="300">
                <a:solidFill>
                  <a:srgbClr val="7A83A8"/>
                </a:solidFill>
                <a:latin typeface="맑은 고딕"/>
              </a:rPr>
              <a:t>예정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6844" y="3840480"/>
            <a:ext cx="21945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CanComm + Diag SWC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+ Composition</a:t>
            </a:r>
          </a:p>
        </p:txBody>
      </p:sp>
      <p:sp>
        <p:nvSpPr>
          <p:cNvPr id="23" name="Oval 22"/>
          <p:cNvSpPr/>
          <p:nvPr/>
        </p:nvSpPr>
        <p:spPr>
          <a:xfrm>
            <a:off x="7982712" y="329184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onsolas"/>
              </a:rPr>
              <a:t>04.29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 spc="300">
                <a:solidFill>
                  <a:srgbClr val="7A83A8"/>
                </a:solidFill>
                <a:latin typeface="맑은 고딕"/>
              </a:rPr>
              <a:t>예정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0024" y="3840480"/>
            <a:ext cx="21945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ARXML Export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+ 실차 통합</a:t>
            </a:r>
          </a:p>
        </p:txBody>
      </p:sp>
      <p:sp>
        <p:nvSpPr>
          <p:cNvPr id="27" name="Oval 26"/>
          <p:cNvSpPr/>
          <p:nvPr/>
        </p:nvSpPr>
        <p:spPr>
          <a:xfrm>
            <a:off x="11082528" y="3291840"/>
            <a:ext cx="329184" cy="32918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onsolas"/>
              </a:rPr>
              <a:t>04.30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 spc="300">
                <a:solidFill>
                  <a:srgbClr val="F96167"/>
                </a:solidFill>
                <a:latin typeface="맑은 고딕"/>
              </a:rPr>
              <a:t>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840480"/>
            <a:ext cx="21945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최종 검증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F36"/>
                </a:solidFill>
                <a:latin typeface="맑은 고딕"/>
              </a:rPr>
              <a:t>+ 제출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20640"/>
            <a:ext cx="2194560" cy="10058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120640"/>
            <a:ext cx="54864" cy="10058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21208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맑은 고딕"/>
              </a:rPr>
              <a:t>김유림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779008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일정 관리 · PID MBD 보조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34056" y="5120640"/>
            <a:ext cx="2194560" cy="10058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34056" y="5120640"/>
            <a:ext cx="54864" cy="10058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16936" y="521208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맑은 고딕"/>
              </a:rPr>
              <a:t>엄지혜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16936" y="553212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SW-ECU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16936" y="5779008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AUTOSAR SWC · 단위 테스트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10912" y="5120640"/>
            <a:ext cx="2194560" cy="10058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10912" y="5120640"/>
            <a:ext cx="54864" cy="10058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93792" y="521208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맑은 고딕"/>
              </a:rPr>
              <a:t>박종범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93792" y="553212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HMI/HW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93792" y="5779008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RPi HMI · Confirmation Review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87768" y="5120640"/>
            <a:ext cx="2194560" cy="10058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87768" y="5120640"/>
            <a:ext cx="54864" cy="10058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70648" y="521208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맑은 고딕"/>
              </a:rPr>
              <a:t>유다희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70648" y="553212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HW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70648" y="5779008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Arduino · Simulink PID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64624" y="5120640"/>
            <a:ext cx="2194560" cy="10058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64624" y="5120640"/>
            <a:ext cx="54864" cy="10058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47504" y="521208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맑은 고딕"/>
              </a:rPr>
              <a:t>배정우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47504" y="553212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맑은 고딕"/>
              </a:rPr>
              <a:t>Safety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47504" y="5779008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맑은 고딕"/>
              </a:rPr>
              <a:t>ASIL-B 검증 · Safety Case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7772400" cy="2011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맑은 고딕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7772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맑은 고딕"/>
              </a:rPr>
              <a:t>질문과 피드백을 기다립니다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389120"/>
            <a:ext cx="2286000" cy="36576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 spc="300">
                <a:solidFill>
                  <a:srgbClr val="CADCFC"/>
                </a:solidFill>
                <a:latin typeface="맑은 고딕"/>
              </a:rPr>
              <a:t>SeSAC · AUTOSAR ACC PROJECT · 개포동잡초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맑은 고딕"/>
              </a:rPr>
              <a:t>김유림 · 엄지혜 · 박종범 · 유다희 · 배정우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82880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48840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2026. 04. 24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97180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맑은 고딕"/>
              </a:rPr>
              <a:t>DAYS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291840"/>
            <a:ext cx="30175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52628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맑은 고딕"/>
              </a:rPr>
              <a:t>Until 2026. 04.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09360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맑은 고딕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
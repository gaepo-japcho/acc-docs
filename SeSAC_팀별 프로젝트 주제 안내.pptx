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5" userDrawn="1">
          <p15:clr>
            <a:srgbClr val="A4A3A4"/>
          </p15:clr>
        </p15:guide>
        <p15:guide id="2" pos="5654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370" userDrawn="1">
          <p15:clr>
            <a:srgbClr val="A4A3A4"/>
          </p15:clr>
        </p15:guide>
        <p15:guide id="9" pos="74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77B6"/>
    <a:srgbClr val="33C1DA"/>
    <a:srgbClr val="EBE9F3"/>
    <a:srgbClr val="EEFAFC"/>
    <a:srgbClr val="FFFFFF"/>
    <a:srgbClr val="E2F7FA"/>
    <a:srgbClr val="F4F5FA"/>
    <a:srgbClr val="E2DEEE"/>
    <a:srgbClr val="2E3968"/>
    <a:srgbClr val="6C7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4" y="3270"/>
      </p:cViewPr>
      <p:guideLst>
        <p:guide orient="horz" pos="1525"/>
        <p:guide pos="5654"/>
        <p:guide pos="3840"/>
        <p:guide pos="370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952" y="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fld id="{B35BF11E-C91E-4BEB-9999-AAA96629456D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fld id="{2DFE49A2-3BD9-4852-9999-C048A7EB6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8888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52A453A-6DE8-48D6-BCCF-F37A54CFACE2}" type="datetime1">
              <a:rPr lang="ko-KR" altLang="en-US" smtClean="0"/>
              <a:pPr/>
              <a:t>2026-03-03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84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45C1A4-0D66-4FCF-B88D-6D564A79E226}" type="datetime1">
              <a:rPr lang="ko-KR" altLang="en-US" smtClean="0"/>
              <a:pPr/>
              <a:t>2026-03-03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80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F9461E6-4383-4919-A688-9C526CFA2DD1}" type="datetime1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05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19100" y="3771900"/>
            <a:ext cx="7757233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새싹 </a:t>
            </a:r>
            <a:r>
              <a:rPr lang="en-US" altLang="ko-KR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AUTOSAR </a:t>
            </a:r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 </a:t>
            </a:r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19100" y="4648200"/>
            <a:ext cx="9182099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주제 </a:t>
            </a:r>
          </a:p>
        </p:txBody>
      </p:sp>
    </p:spTree>
    <p:extLst>
      <p:ext uri="{BB962C8B-B14F-4D97-AF65-F5344CB8AC3E}">
        <p14:creationId xmlns:p14="http://schemas.microsoft.com/office/powerpoint/2010/main" val="365605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주제 및 세부 수행 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ECA09E1-FF8F-23E6-59B6-FFBF03DDE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649907"/>
              </p:ext>
            </p:extLst>
          </p:nvPr>
        </p:nvGraphicFramePr>
        <p:xfrm>
          <a:off x="421288" y="990600"/>
          <a:ext cx="11435750" cy="5486401"/>
        </p:xfrm>
        <a:graphic>
          <a:graphicData uri="http://schemas.openxmlformats.org/drawingml/2006/table">
            <a:tbl>
              <a:tblPr/>
              <a:tblGrid>
                <a:gridCol w="3795605">
                  <a:extLst>
                    <a:ext uri="{9D8B030D-6E8A-4147-A177-3AD203B41FA5}">
                      <a16:colId xmlns:a16="http://schemas.microsoft.com/office/drawing/2014/main" val="2658827888"/>
                    </a:ext>
                  </a:extLst>
                </a:gridCol>
                <a:gridCol w="7640145">
                  <a:extLst>
                    <a:ext uri="{9D8B030D-6E8A-4147-A177-3AD203B41FA5}">
                      <a16:colId xmlns:a16="http://schemas.microsoft.com/office/drawing/2014/main" val="360767806"/>
                    </a:ext>
                  </a:extLst>
                </a:gridCol>
              </a:tblGrid>
              <a:tr h="300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주제</a:t>
                      </a: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세부 수행 내용</a:t>
                      </a: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027798"/>
                  </a:ext>
                </a:extLst>
              </a:tr>
              <a:tr h="1397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고속도로 </a:t>
                      </a:r>
                      <a:r>
                        <a:rPr lang="ko-KR" altLang="en-US" sz="1200" kern="120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자율주행기능 개발</a:t>
                      </a:r>
                      <a:endParaRPr lang="ko-KR" altLang="en-US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차선 인식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유지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SWC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설계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차선 변경 시나리오 상태 확인 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전방 장애물 감지 및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AEB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 시나리오 구현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직선 주행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차선 변경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 AEB)</a:t>
                      </a: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855347"/>
                  </a:ext>
                </a:extLst>
              </a:tr>
              <a:tr h="1520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ACC (Adaptive Cruise Control)</a:t>
                      </a:r>
                    </a:p>
                  </a:txBody>
                  <a:tcPr marL="63063" marR="63063" marT="31531" marB="3153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앞차 인식 후 거리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속도 제어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SWC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안전거리 모델 및 모드 관리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ACC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상태 및 통합 테스트를 위한 시나리오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063" marR="63063" marT="31531" marB="3153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542339"/>
                  </a:ext>
                </a:extLst>
              </a:tr>
              <a:tr h="11338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전자식 시동</a:t>
                      </a:r>
                      <a:r>
                        <a:rPr lang="en-US" altLang="ko-KR" sz="1200" kern="120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&amp;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변속 제어</a:t>
                      </a:r>
                    </a:p>
                  </a:txBody>
                  <a:tcPr marL="51192" marR="51192" marT="25596" marB="2559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버튼 시동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On/Off SWC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실시간 상태 기반 변속 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버튼기반 변속 상태 인식 및 상태 전환 조건 설계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시동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변속 상태 시각화 및 예외 처리 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1192" marR="51192" marT="25596" marB="2559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363295"/>
                  </a:ext>
                </a:extLst>
              </a:tr>
              <a:tr h="11338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후방 경고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충돌 방지 보조</a:t>
                      </a:r>
                      <a:endParaRPr lang="ko-KR" altLang="en-US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1192" marR="51192" marT="25596" marB="2559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초음파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영상 기반 후방 거리 측정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SWC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후방 장애물 인식 및 위험도 판단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경고 시스템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후방 장애물 충돌 방지를 위한 자동 감속 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1192" marR="51192" marT="25596" marB="2559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66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99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E9AB9-AA72-0D43-5941-82188E84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E5DA123-37D1-02D3-CEF5-04B74E96CF52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주제 및 세부 수행 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8F8BDC-E1EE-328D-44C1-72695CF1E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693299"/>
              </p:ext>
            </p:extLst>
          </p:nvPr>
        </p:nvGraphicFramePr>
        <p:xfrm>
          <a:off x="421288" y="990600"/>
          <a:ext cx="11435750" cy="3702251"/>
        </p:xfrm>
        <a:graphic>
          <a:graphicData uri="http://schemas.openxmlformats.org/drawingml/2006/table">
            <a:tbl>
              <a:tblPr/>
              <a:tblGrid>
                <a:gridCol w="3795605">
                  <a:extLst>
                    <a:ext uri="{9D8B030D-6E8A-4147-A177-3AD203B41FA5}">
                      <a16:colId xmlns:a16="http://schemas.microsoft.com/office/drawing/2014/main" val="2658827888"/>
                    </a:ext>
                  </a:extLst>
                </a:gridCol>
                <a:gridCol w="7640145">
                  <a:extLst>
                    <a:ext uri="{9D8B030D-6E8A-4147-A177-3AD203B41FA5}">
                      <a16:colId xmlns:a16="http://schemas.microsoft.com/office/drawing/2014/main" val="360767806"/>
                    </a:ext>
                  </a:extLst>
                </a:gridCol>
              </a:tblGrid>
              <a:tr h="300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주제</a:t>
                      </a: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세부 수행 내용</a:t>
                      </a: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027798"/>
                  </a:ext>
                </a:extLst>
              </a:tr>
              <a:tr h="11338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지능형 헤드램프 제어 </a:t>
                      </a:r>
                      <a:endParaRPr lang="ko-KR" altLang="en-US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센서 기반 주변 환경 인식 기능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야간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터널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실외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전방 차량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보행자 인식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헤드램프 자동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On/Off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및 조도 단계 조절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속도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주행상태 연동 램프 제어 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9558" marR="39558" marT="19779" marB="19779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62089"/>
                  </a:ext>
                </a:extLst>
              </a:tr>
              <a:tr h="11338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차량내 음성 기반 간단 제어 시스템</a:t>
                      </a:r>
                      <a:endParaRPr lang="en-US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063" marR="63063" marT="31531" marB="3153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음성 명령 인식 후 차량 편의 기능 구현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(3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가지 이상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창문동작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실내등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에어컨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히터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시트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실제 음성 인식 후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구현은 모형으로 </a:t>
                      </a:r>
                      <a:r>
                        <a:rPr lang="ko-KR" altLang="en-US" sz="1200" kern="1200" dirty="0" err="1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간략화하여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구현 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3063" marR="63063" marT="31531" marB="3153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996782"/>
                  </a:ext>
                </a:extLst>
              </a:tr>
              <a:tr h="11338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주행 중 물체 접근 경고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측면 안전 보조</a:t>
                      </a:r>
                      <a:endParaRPr lang="ko-KR" altLang="en-US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1192" marR="51192" marT="25596" marB="2559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좌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 센서 융합 위험 판단 기능 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SWC 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차선 변경 상태 감지 및 측면 충돌 가능성 알람 기능 구현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주행상태</a:t>
                      </a:r>
                      <a:r>
                        <a:rPr lang="en-US" altLang="ko-KR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ln>
                            <a:solidFill>
                              <a:srgbClr val="2E396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속도 기반 조건부 활성화</a:t>
                      </a:r>
                      <a:endParaRPr lang="en-US" altLang="ko-KR" sz="1200" kern="1200" dirty="0">
                        <a:ln>
                          <a:solidFill>
                            <a:srgbClr val="2E396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1192" marR="51192" marT="25596" marB="2559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67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992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5e6bf14-f0cc-4b61-b411-2df49da90bc6}" enabled="1" method="Privileged" siteId="{4b50f211-1db9-4c8b-9949-db2761998fb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280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어정인/매니저/기술교육팀 SW기술파트</dc:creator>
  <dcterms:modified xsi:type="dcterms:W3CDTF">2026-03-02T23:38:25Z</dcterms:modified>
  <dc:title>PowerPoint 프레젠테이션</dc:title>
  <cp:lastPrinted>2024-11-07T11:06:51Z</cp:lastPrinted>
  <cp:lastModifiedBy>최영균/책임매니저/기술교육사업기획팀 신사업기획파트</cp:lastModifiedBy>
  <dcterms:created xsi:type="dcterms:W3CDTF">2024-09-30T11:38:08Z</dcterms:created>
  <cp:revision>193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540f1d-08be-484e-a7b9-fb5a00c0f656_SiteId">
    <vt:lpwstr>4b50f211-1db9-4c8b-9949-db2761998fb9</vt:lpwstr>
  </property>
  <property fmtid="{D5CDD505-2E9C-101B-9397-08002B2CF9AE}" pid="3" name="MSIP_Label_dd540f1d-08be-484e-a7b9-fb5a00c0f656_SetDate">
    <vt:lpwstr>2026-01-09T04:38:32Z</vt:lpwstr>
  </property>
  <property fmtid="{D5CDD505-2E9C-101B-9397-08002B2CF9AE}" pid="4" name="MSIP_Label_dd540f1d-08be-484e-a7b9-fb5a00c0f656_Name">
    <vt:lpwstr>사내한-NGV</vt:lpwstr>
  </property>
  <property fmtid="{D5CDD505-2E9C-101B-9397-08002B2CF9AE}" pid="5" name="MSIP_Label_dd540f1d-08be-484e-a7b9-fb5a00c0f656_Method">
    <vt:lpwstr>Standard</vt:lpwstr>
  </property>
  <property fmtid="{D5CDD505-2E9C-101B-9397-08002B2CF9AE}" pid="6" name="MSIP_Label_dd540f1d-08be-484e-a7b9-fb5a00c0f656_Enabled">
    <vt:lpwstr>true</vt:lpwstr>
  </property>
  <property fmtid="{D5CDD505-2E9C-101B-9397-08002B2CF9AE}" pid="7" name="MSIP_Label_dd540f1d-08be-484e-a7b9-fb5a00c0f656_ContentBits">
    <vt:lpwstr>8</vt:lpwstr>
  </property>
</Properties>
</file>
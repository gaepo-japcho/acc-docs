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70" r:id="rId6"/>
    <p:sldId id="271" r:id="rId7"/>
    <p:sldId id="261" r:id="rId8"/>
    <p:sldId id="262" r:id="rId9"/>
    <p:sldId id="27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86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12C4B2-3047-4BE1-A538-86B26D7CE4E7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CD0C15-9883-4262-A5E6-FF40373B3F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9848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CD0C15-9883-4262-A5E6-FF40373B3FAD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08262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503920" y="0"/>
            <a:ext cx="3685032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685800"/>
            <a:ext cx="6400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 spc="400">
                <a:solidFill>
                  <a:srgbClr val="CADCFC"/>
                </a:solidFill>
                <a:latin typeface="맑은 고딕"/>
              </a:rPr>
              <a:t>SeSAC · AUTOSAR ACC PROJECT · 중간발표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05840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맑은 고딕"/>
              </a:rPr>
              <a:t>Adaptive Cruise 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40280"/>
            <a:ext cx="1005840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200" b="1" i="0">
                <a:solidFill>
                  <a:srgbClr val="CADCFC"/>
                </a:solidFill>
                <a:latin typeface="맑은 고딕"/>
              </a:rPr>
              <a:t>시스템 개발 · 중간 진행 보고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429000"/>
            <a:ext cx="73152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0">
                <a:solidFill>
                  <a:srgbClr val="CADCFC"/>
                </a:solidFill>
                <a:latin typeface="맑은 고딕"/>
              </a:rPr>
              <a:t>AUTOSAR · Automotive SPICE 4.0 · ISO 26262 기반 SW 개발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4160520"/>
            <a:ext cx="2743200" cy="36576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4434840"/>
            <a:ext cx="21031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 spc="300">
                <a:solidFill>
                  <a:srgbClr val="F96167"/>
                </a:solidFill>
                <a:latin typeface="맑은 고딕"/>
              </a:rPr>
              <a:t>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709160"/>
            <a:ext cx="3657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맑은 고딕"/>
              </a:rPr>
              <a:t>ACC on 1/10 RC-Car Platform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4434840"/>
            <a:ext cx="21031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 spc="300">
                <a:solidFill>
                  <a:srgbClr val="F96167"/>
                </a:solidFill>
                <a:latin typeface="맑은 고딕"/>
              </a:rPr>
              <a:t>TEAM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4709160"/>
            <a:ext cx="3657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맑은 고딕"/>
              </a:rPr>
              <a:t>개포동잡초 · 5명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1463040"/>
            <a:ext cx="3017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 spc="300">
                <a:solidFill>
                  <a:srgbClr val="F96167"/>
                </a:solidFill>
                <a:latin typeface="맑은 고딕"/>
              </a:rPr>
              <a:t>REPORT 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1783080"/>
            <a:ext cx="30175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맑은 고딕"/>
              </a:rPr>
              <a:t>2026. 04. 24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2514600"/>
            <a:ext cx="3017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 spc="300">
                <a:solidFill>
                  <a:srgbClr val="F96167"/>
                </a:solidFill>
                <a:latin typeface="맑은 고딕"/>
              </a:rPr>
              <a:t>DEADLINE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2834640"/>
            <a:ext cx="30175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맑은 고딕"/>
              </a:rPr>
              <a:t>2026. 04. 30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3520440"/>
            <a:ext cx="3017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 spc="300">
                <a:solidFill>
                  <a:srgbClr val="F96167"/>
                </a:solidFill>
                <a:latin typeface="맑은 고딕"/>
              </a:rPr>
              <a:t>PROGRESS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3840480"/>
            <a:ext cx="3017520" cy="95410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US" sz="5600" b="1" i="0" dirty="0">
                <a:solidFill>
                  <a:srgbClr val="FFFFFF"/>
                </a:solidFill>
                <a:latin typeface="맑은 고딕"/>
              </a:rPr>
              <a:t>6</a:t>
            </a:r>
            <a:r>
              <a:rPr sz="5600" b="1" i="0" dirty="0">
                <a:solidFill>
                  <a:srgbClr val="FFFFFF"/>
                </a:solidFill>
                <a:latin typeface="맑은 고딕"/>
              </a:rPr>
              <a:t>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4663440"/>
            <a:ext cx="30175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CADCFC"/>
                </a:solidFill>
                <a:latin typeface="맑은 고딕"/>
              </a:rPr>
              <a:t>요구사항·모델링·펌웨어 완료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CADCFC"/>
                </a:solidFill>
                <a:latin typeface="맑은 고딕"/>
              </a:rPr>
              <a:t>통합·검증 진행 중 · D-6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263640"/>
            <a:ext cx="8229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 spc="300">
                <a:solidFill>
                  <a:srgbClr val="7A83A8"/>
                </a:solidFill>
                <a:latin typeface="맑은 고딕"/>
              </a:rPr>
              <a:t>SeSAC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 spc="150">
                <a:solidFill>
                  <a:srgbClr val="7A83A8"/>
                </a:solidFill>
                <a:latin typeface="맑은 고딕"/>
              </a:rPr>
              <a:t>SeSAC · ACC Project · 중간발표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 i="0" spc="150">
                <a:solidFill>
                  <a:srgbClr val="7A83A8"/>
                </a:solidFill>
                <a:latin typeface="맑은 고딕"/>
              </a:rPr>
              <a:t>02 /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84048"/>
            <a:ext cx="109728" cy="292608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384048"/>
            <a:ext cx="914400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 spc="300">
                <a:solidFill>
                  <a:srgbClr val="1E2761"/>
                </a:solidFill>
                <a:latin typeface="맑은 고딕"/>
              </a:rPr>
              <a:t>AGENDA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22960"/>
            <a:ext cx="109728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000" b="1" i="0">
                <a:solidFill>
                  <a:srgbClr val="1E2761"/>
                </a:solidFill>
                <a:latin typeface="맑은 고딕"/>
              </a:rPr>
              <a:t>발표 순서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08760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7A83A8"/>
                </a:solidFill>
                <a:latin typeface="맑은 고딕"/>
              </a:rPr>
              <a:t>프로젝트 개요부터 모듈별 진행 현황, 남은 과제까지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48840"/>
            <a:ext cx="594360" cy="6858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2148840"/>
            <a:ext cx="594360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맑은 고딕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167128"/>
            <a:ext cx="44805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 i="0">
                <a:solidFill>
                  <a:srgbClr val="1A1F36"/>
                </a:solidFill>
                <a:latin typeface="맑은 고딕"/>
              </a:rPr>
              <a:t>프로젝트 개요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532888"/>
            <a:ext cx="44805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7A83A8"/>
                </a:solidFill>
                <a:latin typeface="맑은 고딕"/>
              </a:rPr>
              <a:t>목적 · 팀 · 플랫폼 · 표준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081528"/>
            <a:ext cx="594360" cy="6858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3081528"/>
            <a:ext cx="594360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맑은 고딕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099816"/>
            <a:ext cx="44805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 i="0">
                <a:solidFill>
                  <a:srgbClr val="1A1F36"/>
                </a:solidFill>
                <a:latin typeface="맑은 고딕"/>
              </a:rPr>
              <a:t>시스템 아키텍처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465576"/>
            <a:ext cx="44805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7A83A8"/>
                </a:solidFill>
                <a:latin typeface="맑은 고딕"/>
              </a:rPr>
              <a:t>3-노드 CAN 분산 구조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014216"/>
            <a:ext cx="594360" cy="6858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4014216"/>
            <a:ext cx="594360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맑은 고딕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032504"/>
            <a:ext cx="44805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 i="0">
                <a:solidFill>
                  <a:srgbClr val="1A1F36"/>
                </a:solidFill>
                <a:latin typeface="맑은 고딕"/>
              </a:rPr>
              <a:t>개발 프로세스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4398264"/>
            <a:ext cx="44805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7A83A8"/>
                </a:solidFill>
                <a:latin typeface="맑은 고딕"/>
              </a:rPr>
              <a:t>ASPICE V-모델 · ISO 26262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946904"/>
            <a:ext cx="594360" cy="6858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4946904"/>
            <a:ext cx="594360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맑은 고딕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4965192"/>
            <a:ext cx="44805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 i="0">
                <a:solidFill>
                  <a:srgbClr val="1A1F36"/>
                </a:solidFill>
                <a:latin typeface="맑은 고딕"/>
              </a:rPr>
              <a:t>요구사항 현황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5330952"/>
            <a:ext cx="44805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7A83A8"/>
                </a:solidFill>
                <a:latin typeface="맑은 고딕"/>
              </a:rPr>
              <a:t>STK · SYS · SWR 트레이서빌리티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2148840"/>
            <a:ext cx="594360" cy="6858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09360" y="2148840"/>
            <a:ext cx="594360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맑은 고딕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2167128"/>
            <a:ext cx="44805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 i="0">
                <a:solidFill>
                  <a:srgbClr val="1A1F36"/>
                </a:solidFill>
                <a:latin typeface="맑은 고딕"/>
              </a:rPr>
              <a:t>ECU (AUTOSAR) 진행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2532888"/>
            <a:ext cx="44805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 dirty="0">
                <a:solidFill>
                  <a:srgbClr val="7A83A8"/>
                </a:solidFill>
                <a:latin typeface="맑은 고딕"/>
              </a:rPr>
              <a:t>6개 SWC 전부 </a:t>
            </a:r>
            <a:r>
              <a:rPr sz="1100" b="0" i="0" dirty="0" err="1">
                <a:solidFill>
                  <a:srgbClr val="7A83A8"/>
                </a:solidFill>
                <a:latin typeface="맑은 고딕"/>
              </a:rPr>
              <a:t>slbuild</a:t>
            </a:r>
            <a:r>
              <a:rPr sz="1100" b="0" i="0" dirty="0">
                <a:solidFill>
                  <a:srgbClr val="7A83A8"/>
                </a:solidFill>
                <a:latin typeface="맑은 고딕"/>
              </a:rPr>
              <a:t> </a:t>
            </a:r>
            <a:r>
              <a:rPr sz="1100" b="0" i="0" dirty="0" err="1">
                <a:solidFill>
                  <a:srgbClr val="7A83A8"/>
                </a:solidFill>
                <a:latin typeface="맑은 고딕"/>
              </a:rPr>
              <a:t>성공</a:t>
            </a:r>
            <a:endParaRPr sz="1100" b="0" i="0" dirty="0">
              <a:solidFill>
                <a:srgbClr val="7A83A8"/>
              </a:solidFill>
              <a:latin typeface="맑은 고딕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309360" y="3081528"/>
            <a:ext cx="594360" cy="6858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9360" y="3081528"/>
            <a:ext cx="594360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맑은 고딕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86600" y="3099816"/>
            <a:ext cx="44805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 i="0">
                <a:solidFill>
                  <a:srgbClr val="1A1F36"/>
                </a:solidFill>
                <a:latin typeface="맑은 고딕"/>
              </a:rPr>
              <a:t>Arduino 모터 노드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86600" y="3465576"/>
            <a:ext cx="4480560" cy="2616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US" altLang="ko-KR" sz="1100" b="0" i="0" dirty="0">
                <a:solidFill>
                  <a:srgbClr val="7A83A8"/>
                </a:solidFill>
                <a:latin typeface="맑은 고딕"/>
              </a:rPr>
              <a:t>CAN / </a:t>
            </a:r>
            <a:r>
              <a:rPr lang="ko-KR" altLang="en-US" sz="1100" b="0" i="0" dirty="0">
                <a:solidFill>
                  <a:srgbClr val="7A83A8"/>
                </a:solidFill>
                <a:latin typeface="맑은 고딕"/>
              </a:rPr>
              <a:t>모터제어 펌웨어</a:t>
            </a:r>
            <a:endParaRPr lang="en-US" altLang="ko-KR" sz="1100" b="0" i="0" dirty="0">
              <a:solidFill>
                <a:srgbClr val="7A83A8"/>
              </a:solidFill>
              <a:latin typeface="맑은 고딕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6309360" y="4014216"/>
            <a:ext cx="594360" cy="6858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309360" y="4014216"/>
            <a:ext cx="594360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맑은 고딕"/>
              </a:rPr>
              <a:t>07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86600" y="4032504"/>
            <a:ext cx="44805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 i="0">
                <a:solidFill>
                  <a:srgbClr val="1A1F36"/>
                </a:solidFill>
                <a:latin typeface="맑은 고딕"/>
              </a:rPr>
              <a:t>Raspberry Pi HMI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86600" y="4398264"/>
            <a:ext cx="44805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 dirty="0">
                <a:solidFill>
                  <a:srgbClr val="7A83A8"/>
                </a:solidFill>
                <a:latin typeface="맑은 고딕"/>
              </a:rPr>
              <a:t>GUI · </a:t>
            </a:r>
            <a:r>
              <a:rPr sz="1100" b="0" i="0" dirty="0" err="1">
                <a:solidFill>
                  <a:srgbClr val="7A83A8"/>
                </a:solidFill>
                <a:latin typeface="맑은 고딕"/>
              </a:rPr>
              <a:t>센서</a:t>
            </a:r>
            <a:r>
              <a:rPr sz="1100" b="0" i="0" dirty="0">
                <a:solidFill>
                  <a:srgbClr val="7A83A8"/>
                </a:solidFill>
                <a:latin typeface="맑은 고딕"/>
              </a:rPr>
              <a:t> </a:t>
            </a:r>
            <a:r>
              <a:rPr sz="1100" b="0" i="0" dirty="0" err="1">
                <a:solidFill>
                  <a:srgbClr val="7A83A8"/>
                </a:solidFill>
                <a:latin typeface="맑은 고딕"/>
              </a:rPr>
              <a:t>융합</a:t>
            </a:r>
            <a:endParaRPr sz="1100" b="0" i="0" dirty="0">
              <a:solidFill>
                <a:srgbClr val="7A83A8"/>
              </a:solidFill>
              <a:latin typeface="맑은 고딕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6309360" y="4946904"/>
            <a:ext cx="594360" cy="6858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309360" y="4946904"/>
            <a:ext cx="594360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맑은 고딕"/>
              </a:rPr>
              <a:t>08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86600" y="4965192"/>
            <a:ext cx="44805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 i="0">
                <a:solidFill>
                  <a:srgbClr val="1A1F36"/>
                </a:solidFill>
                <a:latin typeface="맑은 고딕"/>
              </a:rPr>
              <a:t>남은 과제 &amp; 일정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86600" y="5330952"/>
            <a:ext cx="44805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7A83A8"/>
                </a:solidFill>
                <a:latin typeface="맑은 고딕"/>
              </a:rPr>
              <a:t>~ 2026. 04. 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 spc="150">
                <a:solidFill>
                  <a:srgbClr val="7A83A8"/>
                </a:solidFill>
                <a:latin typeface="맑은 고딕"/>
              </a:rPr>
              <a:t>SeSAC · ACC Project · 중간발표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 i="0" spc="150">
                <a:solidFill>
                  <a:srgbClr val="7A83A8"/>
                </a:solidFill>
                <a:latin typeface="맑은 고딕"/>
              </a:rPr>
              <a:t>03 /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84048"/>
            <a:ext cx="109728" cy="292608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384048"/>
            <a:ext cx="914400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 spc="300">
                <a:solidFill>
                  <a:srgbClr val="1E2761"/>
                </a:solidFill>
                <a:latin typeface="맑은 고딕"/>
              </a:rPr>
              <a:t>01  PROJECT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22960"/>
            <a:ext cx="109728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600" b="1" i="0">
                <a:solidFill>
                  <a:srgbClr val="1E2761"/>
                </a:solidFill>
                <a:latin typeface="맑은 고딕"/>
              </a:rPr>
              <a:t>프로젝트 개요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7A83A8"/>
                </a:solidFill>
                <a:latin typeface="맑은 고딕"/>
              </a:rPr>
              <a:t>1/10 스케일 RC카 기반 Adaptive Cruise Control — 요구사항부터 검증까지 V-모델 전체 체인 적용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011680"/>
            <a:ext cx="5760720" cy="4114800"/>
          </a:xfrm>
          <a:prstGeom prst="rect">
            <a:avLst/>
          </a:prstGeom>
          <a:solidFill>
            <a:srgbClr val="F7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2011680"/>
            <a:ext cx="73152" cy="411480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2194560"/>
            <a:ext cx="53949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 spc="400">
                <a:solidFill>
                  <a:srgbClr val="F96167"/>
                </a:solidFill>
                <a:latin typeface="맑은 고딕"/>
              </a:rPr>
              <a:t>WHAT WE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560320"/>
            <a:ext cx="53949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맑은 고딕"/>
              </a:rPr>
              <a:t>AUTOSAR 기반 ACC SW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200400"/>
            <a:ext cx="5394960" cy="256685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 dirty="0" err="1">
                <a:solidFill>
                  <a:srgbClr val="1A1F36"/>
                </a:solidFill>
                <a:latin typeface="맑은 고딕"/>
              </a:rPr>
              <a:t>전방</a:t>
            </a:r>
            <a:r>
              <a:rPr sz="1300" b="0" i="0" dirty="0">
                <a:solidFill>
                  <a:srgbClr val="1A1F36"/>
                </a:solidFill>
                <a:latin typeface="맑은 고딕"/>
              </a:rPr>
              <a:t> </a:t>
            </a:r>
            <a:r>
              <a:rPr sz="1300" b="0" i="0" dirty="0" err="1">
                <a:solidFill>
                  <a:srgbClr val="1A1F36"/>
                </a:solidFill>
                <a:latin typeface="맑은 고딕"/>
              </a:rPr>
              <a:t>차량을</a:t>
            </a:r>
            <a:r>
              <a:rPr sz="1300" b="0" i="0" dirty="0">
                <a:solidFill>
                  <a:srgbClr val="1A1F36"/>
                </a:solidFill>
                <a:latin typeface="맑은 고딕"/>
              </a:rPr>
              <a:t> </a:t>
            </a:r>
            <a:r>
              <a:rPr sz="1300" b="0" i="0" dirty="0" err="1">
                <a:solidFill>
                  <a:srgbClr val="1A1F36"/>
                </a:solidFill>
                <a:latin typeface="맑은 고딕"/>
              </a:rPr>
              <a:t>인식하고</a:t>
            </a:r>
            <a:r>
              <a:rPr sz="1300" b="0" i="0" dirty="0">
                <a:solidFill>
                  <a:srgbClr val="1A1F36"/>
                </a:solidFill>
                <a:latin typeface="맑은 고딕"/>
              </a:rPr>
              <a:t> </a:t>
            </a:r>
            <a:r>
              <a:rPr sz="1300" b="0" i="0" dirty="0" err="1">
                <a:solidFill>
                  <a:srgbClr val="1A1F36"/>
                </a:solidFill>
                <a:latin typeface="맑은 고딕"/>
              </a:rPr>
              <a:t>차간거리·속도를</a:t>
            </a:r>
            <a:r>
              <a:rPr sz="1300" b="0" i="0" dirty="0">
                <a:solidFill>
                  <a:srgbClr val="1A1F36"/>
                </a:solidFill>
                <a:latin typeface="맑은 고딕"/>
              </a:rPr>
              <a:t> </a:t>
            </a:r>
            <a:r>
              <a:rPr sz="1300" b="0" i="0" dirty="0" err="1">
                <a:solidFill>
                  <a:srgbClr val="1A1F36"/>
                </a:solidFill>
                <a:latin typeface="맑은 고딕"/>
              </a:rPr>
              <a:t>자동</a:t>
            </a:r>
            <a:r>
              <a:rPr sz="1300" b="0" i="0" dirty="0">
                <a:solidFill>
                  <a:srgbClr val="1A1F36"/>
                </a:solidFill>
                <a:latin typeface="맑은 고딕"/>
              </a:rPr>
              <a:t> </a:t>
            </a:r>
            <a:r>
              <a:rPr sz="1300" b="0" i="0" dirty="0" err="1">
                <a:solidFill>
                  <a:srgbClr val="1A1F36"/>
                </a:solidFill>
                <a:latin typeface="맑은 고딕"/>
              </a:rPr>
              <a:t>제어하는</a:t>
            </a:r>
            <a:r>
              <a:rPr sz="1300" b="0" i="0" dirty="0">
                <a:solidFill>
                  <a:srgbClr val="1A1F36"/>
                </a:solidFill>
                <a:latin typeface="맑은 고딕"/>
              </a:rPr>
              <a:t> ADAS </a:t>
            </a:r>
            <a:r>
              <a:rPr sz="1300" b="0" i="0" dirty="0" err="1">
                <a:solidFill>
                  <a:srgbClr val="1A1F36"/>
                </a:solidFill>
                <a:latin typeface="맑은 고딕"/>
              </a:rPr>
              <a:t>기능을</a:t>
            </a:r>
            <a:endParaRPr sz="1300" b="0" i="0" dirty="0">
              <a:solidFill>
                <a:srgbClr val="1A1F36"/>
              </a:solidFill>
              <a:latin typeface="맑은 고딕"/>
            </a:endParaRPr>
          </a:p>
          <a:p>
            <a:pPr algn="l">
              <a:lnSpc>
                <a:spcPct val="125000"/>
              </a:lnSpc>
            </a:pPr>
            <a:r>
              <a:rPr sz="1300" b="0" i="0" dirty="0">
                <a:solidFill>
                  <a:srgbClr val="1A1F36"/>
                </a:solidFill>
                <a:latin typeface="맑은 고딕"/>
              </a:rPr>
              <a:t>1/10 </a:t>
            </a:r>
            <a:r>
              <a:rPr sz="1300" b="0" i="0" dirty="0" err="1">
                <a:solidFill>
                  <a:srgbClr val="1A1F36"/>
                </a:solidFill>
                <a:latin typeface="맑은 고딕"/>
              </a:rPr>
              <a:t>RC카</a:t>
            </a:r>
            <a:r>
              <a:rPr sz="1300" b="0" i="0" dirty="0">
                <a:solidFill>
                  <a:srgbClr val="1A1F36"/>
                </a:solidFill>
                <a:latin typeface="맑은 고딕"/>
              </a:rPr>
              <a:t> </a:t>
            </a:r>
            <a:r>
              <a:rPr sz="1300" b="0" i="0" dirty="0" err="1">
                <a:solidFill>
                  <a:srgbClr val="1A1F36"/>
                </a:solidFill>
                <a:latin typeface="맑은 고딕"/>
              </a:rPr>
              <a:t>플랫폼에서</a:t>
            </a:r>
            <a:r>
              <a:rPr sz="1300" b="0" i="0" dirty="0">
                <a:solidFill>
                  <a:srgbClr val="1A1F36"/>
                </a:solidFill>
                <a:latin typeface="맑은 고딕"/>
              </a:rPr>
              <a:t> </a:t>
            </a:r>
            <a:r>
              <a:rPr sz="1300" b="0" i="0" dirty="0" err="1">
                <a:solidFill>
                  <a:srgbClr val="1A1F36"/>
                </a:solidFill>
                <a:latin typeface="맑은 고딕"/>
              </a:rPr>
              <a:t>실증</a:t>
            </a:r>
            <a:endParaRPr sz="1300" b="0" i="0" dirty="0">
              <a:solidFill>
                <a:srgbClr val="1A1F36"/>
              </a:solidFill>
              <a:latin typeface="맑은 고딕"/>
            </a:endParaRPr>
          </a:p>
          <a:p>
            <a:pPr algn="l">
              <a:lnSpc>
                <a:spcPct val="125000"/>
              </a:lnSpc>
            </a:pPr>
            <a:endParaRPr sz="1300" b="0" i="0" dirty="0">
              <a:solidFill>
                <a:srgbClr val="1A1F36"/>
              </a:solidFill>
              <a:latin typeface="맑은 고딕"/>
            </a:endParaRPr>
          </a:p>
          <a:p>
            <a:pPr algn="l">
              <a:lnSpc>
                <a:spcPct val="125000"/>
              </a:lnSpc>
            </a:pPr>
            <a:endParaRPr sz="1300" b="0" i="0" dirty="0">
              <a:solidFill>
                <a:srgbClr val="1A1F36"/>
              </a:solidFill>
              <a:latin typeface="맑은 고딕"/>
            </a:endParaRPr>
          </a:p>
          <a:p>
            <a:pPr algn="l">
              <a:lnSpc>
                <a:spcPct val="125000"/>
              </a:lnSpc>
            </a:pPr>
            <a:r>
              <a:rPr sz="1300" b="0" i="0" dirty="0">
                <a:solidFill>
                  <a:srgbClr val="1A1F36"/>
                </a:solidFill>
                <a:latin typeface="맑은 고딕"/>
              </a:rPr>
              <a:t>Automotive SPICE 4.0 </a:t>
            </a:r>
            <a:r>
              <a:rPr sz="1300" b="0" i="0" dirty="0" err="1">
                <a:solidFill>
                  <a:srgbClr val="1A1F36"/>
                </a:solidFill>
                <a:latin typeface="맑은 고딕"/>
              </a:rPr>
              <a:t>프로세스를</a:t>
            </a:r>
            <a:r>
              <a:rPr sz="1300" b="0" i="0" dirty="0">
                <a:solidFill>
                  <a:srgbClr val="1A1F36"/>
                </a:solidFill>
                <a:latin typeface="맑은 고딕"/>
              </a:rPr>
              <a:t> V-</a:t>
            </a:r>
            <a:r>
              <a:rPr sz="1300" b="0" i="0" dirty="0" err="1">
                <a:solidFill>
                  <a:srgbClr val="1A1F36"/>
                </a:solidFill>
                <a:latin typeface="맑은 고딕"/>
              </a:rPr>
              <a:t>모델</a:t>
            </a:r>
            <a:r>
              <a:rPr sz="1300" b="0" i="0" dirty="0">
                <a:solidFill>
                  <a:srgbClr val="1A1F36"/>
                </a:solidFill>
                <a:latin typeface="맑은 고딕"/>
              </a:rPr>
              <a:t> </a:t>
            </a:r>
            <a:r>
              <a:rPr sz="1300" b="0" i="0" dirty="0" err="1">
                <a:solidFill>
                  <a:srgbClr val="1A1F36"/>
                </a:solidFill>
                <a:latin typeface="맑은 고딕"/>
              </a:rPr>
              <a:t>전체</a:t>
            </a:r>
            <a:r>
              <a:rPr sz="1300" b="0" i="0" dirty="0">
                <a:solidFill>
                  <a:srgbClr val="1A1F36"/>
                </a:solidFill>
                <a:latin typeface="맑은 고딕"/>
              </a:rPr>
              <a:t> </a:t>
            </a:r>
            <a:r>
              <a:rPr sz="1300" b="0" i="0" dirty="0" err="1">
                <a:solidFill>
                  <a:srgbClr val="1A1F36"/>
                </a:solidFill>
                <a:latin typeface="맑은 고딕"/>
              </a:rPr>
              <a:t>체인에</a:t>
            </a:r>
            <a:r>
              <a:rPr sz="1300" b="0" i="0" dirty="0">
                <a:solidFill>
                  <a:srgbClr val="1A1F36"/>
                </a:solidFill>
                <a:latin typeface="맑은 고딕"/>
              </a:rPr>
              <a:t> </a:t>
            </a:r>
            <a:r>
              <a:rPr sz="1300" b="0" i="0" dirty="0" err="1">
                <a:solidFill>
                  <a:srgbClr val="1A1F36"/>
                </a:solidFill>
                <a:latin typeface="맑은 고딕"/>
              </a:rPr>
              <a:t>적용하여</a:t>
            </a:r>
            <a:endParaRPr sz="1300" b="0" i="0" dirty="0">
              <a:solidFill>
                <a:srgbClr val="1A1F36"/>
              </a:solidFill>
              <a:latin typeface="맑은 고딕"/>
            </a:endParaRPr>
          </a:p>
          <a:p>
            <a:pPr algn="l">
              <a:lnSpc>
                <a:spcPct val="125000"/>
              </a:lnSpc>
            </a:pPr>
            <a:r>
              <a:rPr sz="1300" b="0" i="0" dirty="0" err="1">
                <a:solidFill>
                  <a:srgbClr val="1A1F36"/>
                </a:solidFill>
                <a:latin typeface="맑은 고딕"/>
              </a:rPr>
              <a:t>요구사항</a:t>
            </a:r>
            <a:r>
              <a:rPr sz="1300" b="0" i="0" dirty="0">
                <a:solidFill>
                  <a:srgbClr val="1A1F36"/>
                </a:solidFill>
                <a:latin typeface="맑은 고딕"/>
              </a:rPr>
              <a:t> ↔ </a:t>
            </a:r>
            <a:r>
              <a:rPr sz="1300" b="0" i="0" dirty="0" err="1">
                <a:solidFill>
                  <a:srgbClr val="1A1F36"/>
                </a:solidFill>
                <a:latin typeface="맑은 고딕"/>
              </a:rPr>
              <a:t>설계</a:t>
            </a:r>
            <a:r>
              <a:rPr sz="1300" b="0" i="0" dirty="0">
                <a:solidFill>
                  <a:srgbClr val="1A1F36"/>
                </a:solidFill>
                <a:latin typeface="맑은 고딕"/>
              </a:rPr>
              <a:t> ↔ </a:t>
            </a:r>
            <a:r>
              <a:rPr sz="1300" b="0" i="0" dirty="0" err="1">
                <a:solidFill>
                  <a:srgbClr val="1A1F36"/>
                </a:solidFill>
                <a:latin typeface="맑은 고딕"/>
              </a:rPr>
              <a:t>구현</a:t>
            </a:r>
            <a:r>
              <a:rPr sz="1300" b="0" i="0" dirty="0">
                <a:solidFill>
                  <a:srgbClr val="1A1F36"/>
                </a:solidFill>
                <a:latin typeface="맑은 고딕"/>
              </a:rPr>
              <a:t> ↔ </a:t>
            </a:r>
            <a:r>
              <a:rPr sz="1300" b="0" i="0" dirty="0" err="1">
                <a:solidFill>
                  <a:srgbClr val="1A1F36"/>
                </a:solidFill>
                <a:latin typeface="맑은 고딕"/>
              </a:rPr>
              <a:t>테스트</a:t>
            </a:r>
            <a:r>
              <a:rPr sz="1300" b="0" i="0" dirty="0">
                <a:solidFill>
                  <a:srgbClr val="1A1F36"/>
                </a:solidFill>
                <a:latin typeface="맑은 고딕"/>
              </a:rPr>
              <a:t> 간 </a:t>
            </a:r>
            <a:r>
              <a:rPr sz="1300" b="0" i="0" dirty="0" err="1">
                <a:solidFill>
                  <a:srgbClr val="1A1F36"/>
                </a:solidFill>
                <a:latin typeface="맑은 고딕"/>
              </a:rPr>
              <a:t>추적성</a:t>
            </a:r>
            <a:r>
              <a:rPr sz="1300" b="0" i="0" dirty="0">
                <a:solidFill>
                  <a:srgbClr val="1A1F36"/>
                </a:solidFill>
                <a:latin typeface="맑은 고딕"/>
              </a:rPr>
              <a:t>(traceability) </a:t>
            </a:r>
            <a:r>
              <a:rPr sz="1300" b="0" i="0" dirty="0" err="1">
                <a:solidFill>
                  <a:srgbClr val="1A1F36"/>
                </a:solidFill>
                <a:latin typeface="맑은 고딕"/>
              </a:rPr>
              <a:t>확보</a:t>
            </a:r>
            <a:endParaRPr sz="1300" b="0" i="0" dirty="0">
              <a:solidFill>
                <a:srgbClr val="1A1F36"/>
              </a:solidFill>
              <a:latin typeface="맑은 고딕"/>
            </a:endParaRPr>
          </a:p>
          <a:p>
            <a:pPr algn="l">
              <a:lnSpc>
                <a:spcPct val="125000"/>
              </a:lnSpc>
            </a:pPr>
            <a:endParaRPr sz="1300" b="0" i="0" dirty="0">
              <a:solidFill>
                <a:srgbClr val="1A1F36"/>
              </a:solidFill>
              <a:latin typeface="맑은 고딕"/>
            </a:endParaRPr>
          </a:p>
          <a:p>
            <a:pPr algn="l">
              <a:lnSpc>
                <a:spcPct val="125000"/>
              </a:lnSpc>
            </a:pPr>
            <a:endParaRPr sz="1300" b="0" i="0" dirty="0">
              <a:solidFill>
                <a:srgbClr val="1A1F36"/>
              </a:solidFill>
              <a:latin typeface="맑은 고딕"/>
            </a:endParaRPr>
          </a:p>
          <a:p>
            <a:pPr algn="l">
              <a:lnSpc>
                <a:spcPct val="125000"/>
              </a:lnSpc>
            </a:pPr>
            <a:r>
              <a:rPr sz="1300" b="0" i="0" dirty="0">
                <a:solidFill>
                  <a:srgbClr val="1A1F36"/>
                </a:solidFill>
                <a:latin typeface="맑은 고딕"/>
              </a:rPr>
              <a:t>ISO 26262:2018 </a:t>
            </a:r>
            <a:r>
              <a:rPr sz="1300" b="0" i="0" dirty="0" err="1">
                <a:solidFill>
                  <a:srgbClr val="1A1F36"/>
                </a:solidFill>
                <a:latin typeface="맑은 고딕"/>
              </a:rPr>
              <a:t>기반</a:t>
            </a:r>
            <a:r>
              <a:rPr sz="1300" b="0" i="0" dirty="0">
                <a:solidFill>
                  <a:srgbClr val="1A1F36"/>
                </a:solidFill>
                <a:latin typeface="맑은 고딕"/>
              </a:rPr>
              <a:t> HARA → Safety Goal → FSC → TSR </a:t>
            </a:r>
            <a:r>
              <a:rPr sz="1300" b="0" i="0" dirty="0" err="1">
                <a:solidFill>
                  <a:srgbClr val="1A1F36"/>
                </a:solidFill>
                <a:latin typeface="맑은 고딕"/>
              </a:rPr>
              <a:t>체계로</a:t>
            </a:r>
            <a:endParaRPr sz="1300" b="0" i="0" dirty="0">
              <a:solidFill>
                <a:srgbClr val="1A1F36"/>
              </a:solidFill>
              <a:latin typeface="맑은 고딕"/>
            </a:endParaRPr>
          </a:p>
          <a:p>
            <a:pPr algn="l">
              <a:lnSpc>
                <a:spcPct val="125000"/>
              </a:lnSpc>
            </a:pPr>
            <a:r>
              <a:rPr sz="1300" b="0" i="0" dirty="0" err="1">
                <a:solidFill>
                  <a:srgbClr val="1A1F36"/>
                </a:solidFill>
                <a:latin typeface="맑은 고딕"/>
              </a:rPr>
              <a:t>안전</a:t>
            </a:r>
            <a:r>
              <a:rPr sz="1300" b="0" i="0" dirty="0">
                <a:solidFill>
                  <a:srgbClr val="1A1F36"/>
                </a:solidFill>
                <a:latin typeface="맑은 고딕"/>
              </a:rPr>
              <a:t> </a:t>
            </a:r>
            <a:r>
              <a:rPr sz="1300" b="0" i="0" dirty="0" err="1">
                <a:solidFill>
                  <a:srgbClr val="1A1F36"/>
                </a:solidFill>
                <a:latin typeface="맑은 고딕"/>
              </a:rPr>
              <a:t>요구사항을</a:t>
            </a:r>
            <a:r>
              <a:rPr sz="1300" b="0" i="0" dirty="0">
                <a:solidFill>
                  <a:srgbClr val="1A1F36"/>
                </a:solidFill>
                <a:latin typeface="맑은 고딕"/>
              </a:rPr>
              <a:t> </a:t>
            </a:r>
            <a:r>
              <a:rPr sz="1300" b="0" i="0" dirty="0" err="1">
                <a:solidFill>
                  <a:srgbClr val="1A1F36"/>
                </a:solidFill>
                <a:latin typeface="맑은 고딕"/>
              </a:rPr>
              <a:t>상세설계까지</a:t>
            </a:r>
            <a:r>
              <a:rPr sz="1300" b="0" i="0" dirty="0">
                <a:solidFill>
                  <a:srgbClr val="1A1F36"/>
                </a:solidFill>
                <a:latin typeface="맑은 고딕"/>
              </a:rPr>
              <a:t> </a:t>
            </a:r>
            <a:r>
              <a:rPr sz="1300" b="0" i="0" dirty="0" err="1">
                <a:solidFill>
                  <a:srgbClr val="1A1F36"/>
                </a:solidFill>
                <a:latin typeface="맑은 고딕"/>
              </a:rPr>
              <a:t>파생</a:t>
            </a:r>
            <a:endParaRPr sz="1300" b="0" i="0" dirty="0">
              <a:solidFill>
                <a:srgbClr val="1A1F36"/>
              </a:solidFill>
              <a:latin typeface="맑은 고딕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492240" y="2011680"/>
            <a:ext cx="2697480" cy="19659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20840" y="2286000"/>
            <a:ext cx="22402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 spc="300">
                <a:solidFill>
                  <a:srgbClr val="F96167"/>
                </a:solidFill>
                <a:latin typeface="맑은 고딕"/>
              </a:rPr>
              <a:t>기간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2697480"/>
            <a:ext cx="224028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맑은 고딕"/>
              </a:rPr>
              <a:t>~ 2026.04.30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3337560"/>
            <a:ext cx="224028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맑은 고딕"/>
              </a:rPr>
              <a:t>개발 완료 목표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72600" y="2011680"/>
            <a:ext cx="2697480" cy="19659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0" y="2286000"/>
            <a:ext cx="22402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 spc="300">
                <a:solidFill>
                  <a:srgbClr val="F96167"/>
                </a:solidFill>
                <a:latin typeface="맑은 고딕"/>
              </a:rPr>
              <a:t>팀 구성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2697480"/>
            <a:ext cx="224028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맑은 고딕"/>
              </a:rPr>
              <a:t>5 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3337560"/>
            <a:ext cx="224028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 dirty="0">
                <a:solidFill>
                  <a:srgbClr val="CADCFC"/>
                </a:solidFill>
                <a:latin typeface="맑은 고딕"/>
              </a:rPr>
              <a:t>PM · SW · HW · QA/Safety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4160520"/>
            <a:ext cx="2697480" cy="19659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720840" y="4434840"/>
            <a:ext cx="22402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 spc="300">
                <a:solidFill>
                  <a:srgbClr val="F96167"/>
                </a:solidFill>
                <a:latin typeface="맑은 고딕"/>
              </a:rPr>
              <a:t>HW 플랫폼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4846320"/>
            <a:ext cx="224028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맑은 고딕"/>
              </a:rPr>
              <a:t>MPC5606B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5486400"/>
            <a:ext cx="224028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 dirty="0">
                <a:solidFill>
                  <a:srgbClr val="CADCFC"/>
                </a:solidFill>
                <a:latin typeface="맑은 고딕"/>
              </a:rPr>
              <a:t>Arduino · RPi 5 · LiDAR · CAN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72600" y="4160520"/>
            <a:ext cx="2697480" cy="19659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601200" y="4434840"/>
            <a:ext cx="22402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 spc="300">
                <a:solidFill>
                  <a:srgbClr val="F96167"/>
                </a:solidFill>
                <a:latin typeface="맑은 고딕"/>
              </a:rPr>
              <a:t>적용 표준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4846320"/>
            <a:ext cx="224028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맑은 고딕"/>
              </a:rPr>
              <a:t>ASPICE 4.0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5486400"/>
            <a:ext cx="224028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 dirty="0">
                <a:solidFill>
                  <a:srgbClr val="CADCFC"/>
                </a:solidFill>
                <a:latin typeface="맑은 고딕"/>
              </a:rPr>
              <a:t>ISO 26262:2018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 spc="150">
                <a:solidFill>
                  <a:srgbClr val="7A83A8"/>
                </a:solidFill>
                <a:latin typeface="맑은 고딕"/>
              </a:rPr>
              <a:t>SeSAC · ACC Project · 중간발표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 i="0" spc="150">
                <a:solidFill>
                  <a:srgbClr val="7A83A8"/>
                </a:solidFill>
                <a:latin typeface="맑은 고딕"/>
              </a:rPr>
              <a:t>04 /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84048"/>
            <a:ext cx="109728" cy="292608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384048"/>
            <a:ext cx="914400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 spc="300">
                <a:solidFill>
                  <a:srgbClr val="1E2761"/>
                </a:solidFill>
                <a:latin typeface="맑은 고딕"/>
              </a:rPr>
              <a:t>02  SYSTEM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22960"/>
            <a:ext cx="109728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600" b="1" i="0">
                <a:solidFill>
                  <a:srgbClr val="1E2761"/>
                </a:solidFill>
                <a:latin typeface="맑은 고딕"/>
              </a:rPr>
              <a:t>시스템 아키텍처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7A83A8"/>
                </a:solidFill>
                <a:latin typeface="맑은 고딕"/>
              </a:rPr>
              <a:t>RPi(센서/HMI) · MPC5606B(제어) · Arduino × 2(CAN 게이트웨이 + 모터 노드) — 직진 전용 · AEB 미포함</a:t>
            </a:r>
          </a:p>
        </p:txBody>
      </p:sp>
      <p:pic>
        <p:nvPicPr>
          <p:cNvPr id="9" name="Picture 8" descr="architecture_v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4203" y="1874519"/>
            <a:ext cx="8263288" cy="46177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 descr="architecture_v4.png">
            <a:extLst>
              <a:ext uri="{FF2B5EF4-FFF2-40B4-BE49-F238E27FC236}">
                <a16:creationId xmlns:a16="http://schemas.microsoft.com/office/drawing/2014/main" id="{FA40221C-D6EB-4D58-CA59-9DFC8D9B7F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10987"/>
            <a:ext cx="12192000" cy="7324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5267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 spc="150">
                <a:solidFill>
                  <a:srgbClr val="7A83A8"/>
                </a:solidFill>
                <a:latin typeface="맑은 고딕"/>
              </a:rPr>
              <a:t>SeSAC · ACC Project · 중간발표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 i="0" spc="150">
                <a:solidFill>
                  <a:srgbClr val="7A83A8"/>
                </a:solidFill>
                <a:latin typeface="맑은 고딕"/>
              </a:rPr>
              <a:t>05 /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84048"/>
            <a:ext cx="109728" cy="292608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384048"/>
            <a:ext cx="914400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 spc="300">
                <a:solidFill>
                  <a:srgbClr val="1E2761"/>
                </a:solidFill>
                <a:latin typeface="맑은 고딕"/>
              </a:rPr>
              <a:t>03  DEVELOPMENT PROCESS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22960"/>
            <a:ext cx="109728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600" b="1" i="0">
                <a:solidFill>
                  <a:srgbClr val="1E2761"/>
                </a:solidFill>
                <a:latin typeface="맑은 고딕"/>
              </a:rPr>
              <a:t>개발 프로세스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7A83A8"/>
                </a:solidFill>
                <a:latin typeface="맑은 고딕"/>
              </a:rPr>
              <a:t>Automotive SPICE 4.0 V-모델 + ISO 26262:2018 안전 체인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006600"/>
            <a:ext cx="7239000" cy="4114800"/>
          </a:xfrm>
          <a:prstGeom prst="rect">
            <a:avLst/>
          </a:prstGeom>
          <a:solidFill>
            <a:srgbClr val="F7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2146300"/>
            <a:ext cx="6731000" cy="3683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 spc="300">
                <a:solidFill>
                  <a:srgbClr val="F96167"/>
                </a:solidFill>
                <a:latin typeface="맑은 고딕"/>
              </a:rPr>
              <a:t>ASPICE 4.0 · V-MODEL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4700" y="2603500"/>
            <a:ext cx="3048000" cy="3429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3600" y="2603500"/>
            <a:ext cx="914400" cy="3429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1" i="0" spc="200">
                <a:solidFill>
                  <a:srgbClr val="F96167"/>
                </a:solidFill>
                <a:latin typeface="맑은 고딕"/>
              </a:rPr>
              <a:t>STK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78000" y="2603500"/>
            <a:ext cx="1968500" cy="3429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맑은 고딕"/>
              </a:rPr>
              <a:t>Stakeholder 요구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4700" y="3022600"/>
            <a:ext cx="3048000" cy="3429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3600" y="3022600"/>
            <a:ext cx="914400" cy="3429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1" i="0" spc="200">
                <a:solidFill>
                  <a:srgbClr val="F96167"/>
                </a:solidFill>
                <a:latin typeface="맑은 고딕"/>
              </a:rPr>
              <a:t>SYS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78000" y="3022600"/>
            <a:ext cx="1968500" cy="3429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 i="0" dirty="0">
                <a:solidFill>
                  <a:srgbClr val="FFFFFF"/>
                </a:solidFill>
                <a:latin typeface="맑은 고딕"/>
              </a:rPr>
              <a:t>System </a:t>
            </a:r>
            <a:r>
              <a:rPr sz="1000" b="0" i="0" dirty="0" err="1">
                <a:solidFill>
                  <a:srgbClr val="FFFFFF"/>
                </a:solidFill>
                <a:latin typeface="맑은 고딕"/>
              </a:rPr>
              <a:t>요구</a:t>
            </a:r>
            <a:r>
              <a:rPr sz="1000" b="0" i="0" dirty="0">
                <a:solidFill>
                  <a:srgbClr val="FFFFFF"/>
                </a:solidFill>
                <a:latin typeface="맑은 고딕"/>
              </a:rPr>
              <a:t> · </a:t>
            </a:r>
            <a:r>
              <a:rPr sz="1000" b="0" i="0" dirty="0" err="1">
                <a:solidFill>
                  <a:srgbClr val="FFFFFF"/>
                </a:solidFill>
                <a:latin typeface="맑은 고딕"/>
              </a:rPr>
              <a:t>아키텍처</a:t>
            </a:r>
            <a:endParaRPr sz="1000" b="0" i="0" dirty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74700" y="3429000"/>
            <a:ext cx="3048000" cy="3429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3600" y="3429000"/>
            <a:ext cx="914400" cy="3429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1" i="0" spc="200">
                <a:solidFill>
                  <a:srgbClr val="F96167"/>
                </a:solidFill>
                <a:latin typeface="맑은 고딕"/>
              </a:rPr>
              <a:t>SWR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78000" y="3429000"/>
            <a:ext cx="1968500" cy="3429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맑은 고딕"/>
              </a:rPr>
              <a:t>SW 요구 · 아키텍처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64000" y="2603500"/>
            <a:ext cx="3302000" cy="3429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52900" y="2603500"/>
            <a:ext cx="1079500" cy="3429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1" i="0" spc="200">
                <a:solidFill>
                  <a:srgbClr val="F96167"/>
                </a:solidFill>
                <a:latin typeface="맑은 고딕"/>
              </a:rPr>
              <a:t>VAL.1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2400" y="2603500"/>
            <a:ext cx="2057400" cy="3429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맑은 고딕"/>
              </a:rPr>
              <a:t>Validation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64000" y="3022600"/>
            <a:ext cx="3302000" cy="3429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52900" y="3022600"/>
            <a:ext cx="1079500" cy="3429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1" i="0" spc="200">
                <a:solidFill>
                  <a:srgbClr val="F96167"/>
                </a:solidFill>
                <a:latin typeface="맑은 고딕"/>
              </a:rPr>
              <a:t>SYS.4-5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2400" y="3022600"/>
            <a:ext cx="2057400" cy="3429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맑은 고딕"/>
              </a:rPr>
              <a:t>시스템/SW 통합·자격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64000" y="3429000"/>
            <a:ext cx="3302000" cy="3429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152900" y="3429000"/>
            <a:ext cx="1079500" cy="3429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1" i="0" spc="200">
                <a:solidFill>
                  <a:srgbClr val="F96167"/>
                </a:solidFill>
                <a:latin typeface="맑은 고딕"/>
              </a:rPr>
              <a:t>SWE.4-6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32400" y="3429000"/>
            <a:ext cx="2057400" cy="3429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맑은 고딕"/>
              </a:rPr>
              <a:t>단위·통합·자격 테스트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4700" y="3937000"/>
            <a:ext cx="6477000" cy="36830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74700" y="3937000"/>
            <a:ext cx="6477000" cy="3683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구현 · Coding · Simulink MBD · AUTOSAR Blockset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4700" y="4432300"/>
            <a:ext cx="6731000" cy="1549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 spc="300">
                <a:solidFill>
                  <a:srgbClr val="F96167"/>
                </a:solidFill>
                <a:latin typeface="맑은 고딕"/>
              </a:rPr>
              <a:t>Traceability Chain</a:t>
            </a:r>
          </a:p>
          <a:p>
            <a:pPr algn="l">
              <a:lnSpc>
                <a:spcPct val="125000"/>
              </a:lnSpc>
            </a:pPr>
            <a:endParaRPr sz="1000" b="1" i="0" spc="300">
              <a:solidFill>
                <a:srgbClr val="F96167"/>
              </a:solidFill>
              <a:latin typeface="맑은 고딕"/>
            </a:endParaRPr>
          </a:p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1E2761"/>
                </a:solidFill>
                <a:latin typeface="Consolas"/>
              </a:rPr>
              <a:t>STK → SYS → SWR → Design → Code → Test</a:t>
            </a:r>
          </a:p>
          <a:p>
            <a:pPr algn="l">
              <a:lnSpc>
                <a:spcPct val="125000"/>
              </a:lnSpc>
            </a:pPr>
            <a:endParaRPr sz="1100" b="1" i="0">
              <a:solidFill>
                <a:srgbClr val="1E2761"/>
              </a:solidFill>
              <a:latin typeface="Consolas"/>
            </a:endParaRPr>
          </a:p>
          <a:p>
            <a:pPr algn="l">
              <a:lnSpc>
                <a:spcPct val="125000"/>
              </a:lnSpc>
            </a:pPr>
            <a:endParaRPr sz="1100" b="1" i="0">
              <a:solidFill>
                <a:srgbClr val="1E2761"/>
              </a:solidFill>
              <a:latin typeface="Consolas"/>
            </a:endParaRPr>
          </a:p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1A1F36"/>
                </a:solidFill>
                <a:latin typeface="맑은 고딕"/>
              </a:rPr>
              <a:t>요구사항 ID가 코드 주석·테스트·문서에</a:t>
            </a:r>
          </a:p>
          <a:p>
            <a:pPr algn="l">
              <a:lnSpc>
                <a:spcPct val="125000"/>
              </a:lnSpc>
            </a:pPr>
            <a:endParaRPr sz="1000" b="0" i="0">
              <a:solidFill>
                <a:srgbClr val="1A1F36"/>
              </a:solidFill>
              <a:latin typeface="맑은 고딕"/>
            </a:endParaRPr>
          </a:p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1A1F36"/>
                </a:solidFill>
                <a:latin typeface="맑은 고딕"/>
              </a:rPr>
              <a:t>일관 명시되어 ASPICE 감사에 대응.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848600" y="2006600"/>
            <a:ext cx="3886200" cy="4114800"/>
          </a:xfrm>
          <a:prstGeom prst="rect">
            <a:avLst/>
          </a:prstGeom>
          <a:solidFill>
            <a:srgbClr val="141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3" name="TextBox 32"/>
          <p:cNvSpPr txBox="1"/>
          <p:nvPr/>
        </p:nvSpPr>
        <p:spPr>
          <a:xfrm>
            <a:off x="8001000" y="2146300"/>
            <a:ext cx="3556000" cy="3683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 spc="300">
                <a:solidFill>
                  <a:srgbClr val="F96167"/>
                </a:solidFill>
                <a:latin typeface="맑은 고딕"/>
              </a:rPr>
              <a:t>ISO 26262:2018 · SAFETY CHAIN</a:t>
            </a:r>
          </a:p>
        </p:txBody>
      </p:sp>
      <p:sp>
        <p:nvSpPr>
          <p:cNvPr id="34" name="Oval 33"/>
          <p:cNvSpPr/>
          <p:nvPr/>
        </p:nvSpPr>
        <p:spPr>
          <a:xfrm>
            <a:off x="8026400" y="2603500"/>
            <a:ext cx="228600" cy="228600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026400" y="2603500"/>
            <a:ext cx="22860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31200" y="2578100"/>
            <a:ext cx="1270000" cy="2794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맑은 고딕"/>
              </a:rPr>
              <a:t>HARA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52000" y="2578100"/>
            <a:ext cx="1930400" cy="2794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맑은 고딕"/>
              </a:rPr>
              <a:t>Hazard Analysis &amp; Risk Assessment</a:t>
            </a:r>
          </a:p>
        </p:txBody>
      </p:sp>
      <p:sp>
        <p:nvSpPr>
          <p:cNvPr id="38" name="Oval 37"/>
          <p:cNvSpPr/>
          <p:nvPr/>
        </p:nvSpPr>
        <p:spPr>
          <a:xfrm>
            <a:off x="8026400" y="3048000"/>
            <a:ext cx="228600" cy="228600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026400" y="3048000"/>
            <a:ext cx="22860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31200" y="3022600"/>
            <a:ext cx="1270000" cy="2794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맑은 고딕"/>
              </a:rPr>
              <a:t>Safety Goal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52000" y="3022600"/>
            <a:ext cx="1930400" cy="2794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맑은 고딕"/>
              </a:rPr>
              <a:t>최상위 안전 목표 정의</a:t>
            </a:r>
          </a:p>
        </p:txBody>
      </p:sp>
      <p:sp>
        <p:nvSpPr>
          <p:cNvPr id="42" name="Oval 41"/>
          <p:cNvSpPr/>
          <p:nvPr/>
        </p:nvSpPr>
        <p:spPr>
          <a:xfrm>
            <a:off x="8026400" y="3492500"/>
            <a:ext cx="228600" cy="228600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026400" y="3492500"/>
            <a:ext cx="22860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31200" y="3467100"/>
            <a:ext cx="1270000" cy="2794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맑은 고딕"/>
              </a:rPr>
              <a:t>FSC / FSR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52000" y="3467100"/>
            <a:ext cx="1930400" cy="2794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맑은 고딕"/>
              </a:rPr>
              <a:t>Functional Safety Concept</a:t>
            </a:r>
          </a:p>
        </p:txBody>
      </p:sp>
      <p:sp>
        <p:nvSpPr>
          <p:cNvPr id="46" name="Oval 45"/>
          <p:cNvSpPr/>
          <p:nvPr/>
        </p:nvSpPr>
        <p:spPr>
          <a:xfrm>
            <a:off x="8026400" y="3937000"/>
            <a:ext cx="228600" cy="228600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026400" y="3937000"/>
            <a:ext cx="22860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31200" y="3911600"/>
            <a:ext cx="1270000" cy="2794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맑은 고딕"/>
              </a:rPr>
              <a:t>TSR / TSC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52000" y="3911600"/>
            <a:ext cx="1930400" cy="2794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맑은 고딕"/>
              </a:rPr>
              <a:t>Technical Safety Req.</a:t>
            </a:r>
          </a:p>
        </p:txBody>
      </p:sp>
      <p:sp>
        <p:nvSpPr>
          <p:cNvPr id="50" name="Oval 49"/>
          <p:cNvSpPr/>
          <p:nvPr/>
        </p:nvSpPr>
        <p:spPr>
          <a:xfrm>
            <a:off x="8026400" y="4381500"/>
            <a:ext cx="228600" cy="228600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026400" y="4381500"/>
            <a:ext cx="22860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31200" y="4356100"/>
            <a:ext cx="1270000" cy="2794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맑은 고딕"/>
              </a:rPr>
              <a:t>SwRS 안전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52000" y="4356100"/>
            <a:ext cx="1930400" cy="2794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맑은 고딕"/>
              </a:rPr>
              <a:t>SW 안전 요구사항</a:t>
            </a:r>
          </a:p>
        </p:txBody>
      </p:sp>
      <p:sp>
        <p:nvSpPr>
          <p:cNvPr id="54" name="Oval 53"/>
          <p:cNvSpPr/>
          <p:nvPr/>
        </p:nvSpPr>
        <p:spPr>
          <a:xfrm>
            <a:off x="8026400" y="4826000"/>
            <a:ext cx="228600" cy="228600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026400" y="4826000"/>
            <a:ext cx="22860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31200" y="4800600"/>
            <a:ext cx="1270000" cy="2794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맑은 고딕"/>
              </a:rPr>
              <a:t>구현·검증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52000" y="4800600"/>
            <a:ext cx="1930400" cy="2794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맑은 고딕"/>
              </a:rPr>
              <a:t>Safety Case 작성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026400" y="5207000"/>
            <a:ext cx="3556000" cy="35560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026400" y="5207000"/>
            <a:ext cx="3556000" cy="35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 i="0" spc="200">
                <a:solidFill>
                  <a:srgbClr val="FFFFFF"/>
                </a:solidFill>
                <a:latin typeface="맑은 고딕"/>
              </a:rPr>
              <a:t>ASIL B  ·  의도치 않은 가속 / 브레이크 미작동 (H-01, H-02)</a:t>
            </a:r>
          </a:p>
        </p:txBody>
      </p:sp>
    </p:spTree>
    <p:extLst>
      <p:ext uri="{BB962C8B-B14F-4D97-AF65-F5344CB8AC3E}">
        <p14:creationId xmlns:p14="http://schemas.microsoft.com/office/powerpoint/2010/main" val="42216758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 spc="150">
                <a:solidFill>
                  <a:srgbClr val="7A83A8"/>
                </a:solidFill>
                <a:latin typeface="맑은 고딕"/>
              </a:rPr>
              <a:t>SeSAC · ACC Project · 중간발표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 i="0" spc="150">
                <a:solidFill>
                  <a:srgbClr val="7A83A8"/>
                </a:solidFill>
                <a:latin typeface="맑은 고딕"/>
              </a:rPr>
              <a:t>06 /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84048"/>
            <a:ext cx="109728" cy="292608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384048"/>
            <a:ext cx="914400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 spc="300">
                <a:solidFill>
                  <a:srgbClr val="1E2761"/>
                </a:solidFill>
                <a:latin typeface="맑은 고딕"/>
              </a:rPr>
              <a:t>04  REQUIREMENTS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22960"/>
            <a:ext cx="109728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600" b="1" i="0">
                <a:solidFill>
                  <a:srgbClr val="1E2761"/>
                </a:solidFill>
                <a:latin typeface="맑은 고딕"/>
              </a:rPr>
              <a:t>요구사항 현황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10972800" cy="2923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 dirty="0" err="1">
                <a:solidFill>
                  <a:srgbClr val="7A83A8"/>
                </a:solidFill>
                <a:latin typeface="맑은 고딕"/>
              </a:rPr>
              <a:t>StrictDoc</a:t>
            </a:r>
            <a:r>
              <a:rPr sz="1300" b="0" i="0" dirty="0">
                <a:solidFill>
                  <a:srgbClr val="7A83A8"/>
                </a:solidFill>
                <a:latin typeface="맑은 고딕"/>
              </a:rPr>
              <a:t> (.</a:t>
            </a:r>
            <a:r>
              <a:rPr sz="1300" b="0" i="0" dirty="0" err="1">
                <a:solidFill>
                  <a:srgbClr val="7A83A8"/>
                </a:solidFill>
                <a:latin typeface="맑은 고딕"/>
              </a:rPr>
              <a:t>sdoc</a:t>
            </a:r>
            <a:r>
              <a:rPr sz="1300" b="0" i="0" dirty="0">
                <a:solidFill>
                  <a:srgbClr val="7A83A8"/>
                </a:solidFill>
                <a:latin typeface="맑은 고딕"/>
              </a:rPr>
              <a:t>) </a:t>
            </a:r>
            <a:r>
              <a:rPr sz="1300" b="0" i="0" dirty="0" err="1">
                <a:solidFill>
                  <a:srgbClr val="7A83A8"/>
                </a:solidFill>
                <a:latin typeface="맑은 고딕"/>
              </a:rPr>
              <a:t>기반</a:t>
            </a:r>
            <a:r>
              <a:rPr sz="1300" b="0" i="0" dirty="0">
                <a:solidFill>
                  <a:srgbClr val="7A83A8"/>
                </a:solidFill>
                <a:latin typeface="맑은 고딕"/>
              </a:rPr>
              <a:t> — STK → SYS → SWR </a:t>
            </a:r>
            <a:r>
              <a:rPr sz="1300" b="0" i="0" dirty="0" err="1">
                <a:solidFill>
                  <a:srgbClr val="7A83A8"/>
                </a:solidFill>
                <a:latin typeface="맑은 고딕"/>
              </a:rPr>
              <a:t>계층적</a:t>
            </a:r>
            <a:r>
              <a:rPr sz="1300" b="0" i="0" dirty="0">
                <a:solidFill>
                  <a:srgbClr val="7A83A8"/>
                </a:solidFill>
                <a:latin typeface="맑은 고딕"/>
              </a:rPr>
              <a:t> </a:t>
            </a:r>
            <a:r>
              <a:rPr sz="1300" b="0" i="0" dirty="0" err="1">
                <a:solidFill>
                  <a:srgbClr val="7A83A8"/>
                </a:solidFill>
                <a:latin typeface="맑은 고딕"/>
              </a:rPr>
              <a:t>도출</a:t>
            </a:r>
            <a:r>
              <a:rPr sz="1300" b="0" i="0" dirty="0">
                <a:solidFill>
                  <a:srgbClr val="7A83A8"/>
                </a:solidFill>
                <a:latin typeface="맑은 고딕"/>
              </a:rPr>
              <a:t> &amp; </a:t>
            </a:r>
            <a:r>
              <a:rPr lang="ko-KR" altLang="en-US" sz="1300" dirty="0">
                <a:solidFill>
                  <a:srgbClr val="7A83A8"/>
                </a:solidFill>
                <a:latin typeface="맑은 고딕"/>
              </a:rPr>
              <a:t>추적성</a:t>
            </a:r>
            <a:r>
              <a:rPr sz="1300" b="0" i="0" dirty="0">
                <a:solidFill>
                  <a:srgbClr val="7A83A8"/>
                </a:solidFill>
                <a:latin typeface="맑은 고딕"/>
              </a:rPr>
              <a:t> </a:t>
            </a:r>
            <a:r>
              <a:rPr sz="1300" b="0" i="0" dirty="0" err="1">
                <a:solidFill>
                  <a:srgbClr val="7A83A8"/>
                </a:solidFill>
                <a:latin typeface="맑은 고딕"/>
              </a:rPr>
              <a:t>확보</a:t>
            </a:r>
            <a:endParaRPr sz="1300" b="0" i="0" dirty="0">
              <a:solidFill>
                <a:srgbClr val="7A83A8"/>
              </a:solidFill>
              <a:latin typeface="맑은 고딕"/>
            </a:endParaRPr>
          </a:p>
        </p:txBody>
      </p: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630B2BD3-FA30-A909-2DBC-68BDC3E5994B}"/>
              </a:ext>
            </a:extLst>
          </p:cNvPr>
          <p:cNvGrpSpPr/>
          <p:nvPr/>
        </p:nvGrpSpPr>
        <p:grpSpPr>
          <a:xfrm>
            <a:off x="445008" y="2897051"/>
            <a:ext cx="11301984" cy="1280160"/>
            <a:chOff x="493776" y="2897051"/>
            <a:chExt cx="11301984" cy="1280160"/>
          </a:xfrm>
        </p:grpSpPr>
        <p:sp>
          <p:nvSpPr>
            <p:cNvPr id="9" name="Rectangle 8"/>
            <p:cNvSpPr/>
            <p:nvPr/>
          </p:nvSpPr>
          <p:spPr>
            <a:xfrm>
              <a:off x="493776" y="2897051"/>
              <a:ext cx="2194560" cy="1280160"/>
            </a:xfrm>
            <a:prstGeom prst="rect">
              <a:avLst/>
            </a:prstGeom>
            <a:solidFill>
              <a:srgbClr val="1E276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76656" y="3006779"/>
              <a:ext cx="1828800" cy="292608"/>
            </a:xfrm>
            <a:prstGeom prst="rect">
              <a:avLst/>
            </a:prstGeom>
            <a:noFill/>
          </p:spPr>
          <p:txBody>
            <a:bodyPr wrap="square" lIns="45720" rIns="45720" anchor="t">
              <a:spAutoFit/>
            </a:bodyPr>
            <a:lstStyle/>
            <a:p>
              <a:pPr algn="ctr"/>
              <a:r>
                <a:rPr sz="1100" b="1" i="0" spc="300">
                  <a:solidFill>
                    <a:srgbClr val="F96167"/>
                  </a:solidFill>
                  <a:latin typeface="맑은 고딕"/>
                </a:rPr>
                <a:t>STK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76656" y="3308531"/>
              <a:ext cx="1828800" cy="548640"/>
            </a:xfrm>
            <a:prstGeom prst="rect">
              <a:avLst/>
            </a:prstGeom>
            <a:noFill/>
          </p:spPr>
          <p:txBody>
            <a:bodyPr wrap="square" lIns="45720" rIns="45720" anchor="t">
              <a:spAutoFit/>
            </a:bodyPr>
            <a:lstStyle/>
            <a:p>
              <a:pPr algn="ctr"/>
              <a:r>
                <a:rPr sz="3600" b="1" i="0">
                  <a:solidFill>
                    <a:srgbClr val="FFFFFF"/>
                  </a:solidFill>
                  <a:latin typeface="맑은 고딕"/>
                </a:rPr>
                <a:t>24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76656" y="3720011"/>
              <a:ext cx="1828800" cy="274320"/>
            </a:xfrm>
            <a:prstGeom prst="rect">
              <a:avLst/>
            </a:prstGeom>
            <a:noFill/>
          </p:spPr>
          <p:txBody>
            <a:bodyPr wrap="square" lIns="45720" rIns="45720" anchor="t">
              <a:spAutoFit/>
            </a:bodyPr>
            <a:lstStyle/>
            <a:p>
              <a:pPr algn="ctr"/>
              <a:r>
                <a:rPr sz="1000" b="0" i="0">
                  <a:solidFill>
                    <a:srgbClr val="CADCFC"/>
                  </a:solidFill>
                  <a:latin typeface="맑은 고딕"/>
                </a:rPr>
                <a:t>Stakeholder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76656" y="3948611"/>
              <a:ext cx="1828800" cy="228600"/>
            </a:xfrm>
            <a:prstGeom prst="rect">
              <a:avLst/>
            </a:prstGeom>
            <a:noFill/>
          </p:spPr>
          <p:txBody>
            <a:bodyPr wrap="square" lIns="45720" rIns="45720" anchor="t">
              <a:spAutoFit/>
            </a:bodyPr>
            <a:lstStyle/>
            <a:p>
              <a:pPr algn="ctr"/>
              <a:r>
                <a:rPr sz="1000" b="1" i="0">
                  <a:solidFill>
                    <a:srgbClr val="2ECC71"/>
                  </a:solidFill>
                  <a:latin typeface="맑은 고딕"/>
                </a:rPr>
                <a:t>완료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2770632" y="2897051"/>
              <a:ext cx="2194560" cy="1280160"/>
            </a:xfrm>
            <a:prstGeom prst="rect">
              <a:avLst/>
            </a:prstGeom>
            <a:solidFill>
              <a:srgbClr val="1E276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953512" y="3006779"/>
              <a:ext cx="1828800" cy="292608"/>
            </a:xfrm>
            <a:prstGeom prst="rect">
              <a:avLst/>
            </a:prstGeom>
            <a:noFill/>
          </p:spPr>
          <p:txBody>
            <a:bodyPr wrap="square" lIns="45720" rIns="45720" anchor="t">
              <a:spAutoFit/>
            </a:bodyPr>
            <a:lstStyle/>
            <a:p>
              <a:pPr algn="ctr"/>
              <a:r>
                <a:rPr sz="1100" b="1" i="0" spc="300">
                  <a:solidFill>
                    <a:srgbClr val="F96167"/>
                  </a:solidFill>
                  <a:latin typeface="맑은 고딕"/>
                </a:rPr>
                <a:t>SYS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953512" y="3308531"/>
              <a:ext cx="1828800" cy="548640"/>
            </a:xfrm>
            <a:prstGeom prst="rect">
              <a:avLst/>
            </a:prstGeom>
            <a:noFill/>
          </p:spPr>
          <p:txBody>
            <a:bodyPr wrap="square" lIns="45720" rIns="45720" anchor="t">
              <a:spAutoFit/>
            </a:bodyPr>
            <a:lstStyle/>
            <a:p>
              <a:pPr algn="ctr"/>
              <a:r>
                <a:rPr sz="3600" b="1" i="0">
                  <a:solidFill>
                    <a:srgbClr val="FFFFFF"/>
                  </a:solidFill>
                  <a:latin typeface="맑은 고딕"/>
                </a:rPr>
                <a:t>37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953512" y="3720011"/>
              <a:ext cx="1828800" cy="274320"/>
            </a:xfrm>
            <a:prstGeom prst="rect">
              <a:avLst/>
            </a:prstGeom>
            <a:noFill/>
          </p:spPr>
          <p:txBody>
            <a:bodyPr wrap="square" lIns="45720" rIns="45720" anchor="t">
              <a:spAutoFit/>
            </a:bodyPr>
            <a:lstStyle/>
            <a:p>
              <a:pPr algn="ctr"/>
              <a:r>
                <a:rPr sz="1000" b="0" i="0">
                  <a:solidFill>
                    <a:srgbClr val="CADCFC"/>
                  </a:solidFill>
                  <a:latin typeface="맑은 고딕"/>
                </a:rPr>
                <a:t>System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953512" y="3948611"/>
              <a:ext cx="1828800" cy="228600"/>
            </a:xfrm>
            <a:prstGeom prst="rect">
              <a:avLst/>
            </a:prstGeom>
            <a:noFill/>
          </p:spPr>
          <p:txBody>
            <a:bodyPr wrap="square" lIns="45720" rIns="45720" anchor="t">
              <a:spAutoFit/>
            </a:bodyPr>
            <a:lstStyle/>
            <a:p>
              <a:pPr algn="ctr"/>
              <a:r>
                <a:rPr sz="1000" b="1" i="0">
                  <a:solidFill>
                    <a:srgbClr val="2ECC71"/>
                  </a:solidFill>
                  <a:latin typeface="맑은 고딕"/>
                </a:rPr>
                <a:t>완료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5047488" y="2897051"/>
              <a:ext cx="2194560" cy="1280160"/>
            </a:xfrm>
            <a:prstGeom prst="rect">
              <a:avLst/>
            </a:prstGeom>
            <a:solidFill>
              <a:srgbClr val="1E276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230368" y="3006779"/>
              <a:ext cx="1828800" cy="292608"/>
            </a:xfrm>
            <a:prstGeom prst="rect">
              <a:avLst/>
            </a:prstGeom>
            <a:noFill/>
          </p:spPr>
          <p:txBody>
            <a:bodyPr wrap="square" lIns="45720" rIns="45720" anchor="t">
              <a:spAutoFit/>
            </a:bodyPr>
            <a:lstStyle/>
            <a:p>
              <a:pPr algn="ctr"/>
              <a:r>
                <a:rPr sz="1100" b="1" i="0" spc="300">
                  <a:solidFill>
                    <a:srgbClr val="F96167"/>
                  </a:solidFill>
                  <a:latin typeface="맑은 고딕"/>
                </a:rPr>
                <a:t>SWR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5230368" y="3308531"/>
              <a:ext cx="1828800" cy="548640"/>
            </a:xfrm>
            <a:prstGeom prst="rect">
              <a:avLst/>
            </a:prstGeom>
            <a:noFill/>
          </p:spPr>
          <p:txBody>
            <a:bodyPr wrap="square" lIns="45720" rIns="45720" anchor="t">
              <a:spAutoFit/>
            </a:bodyPr>
            <a:lstStyle/>
            <a:p>
              <a:pPr algn="ctr"/>
              <a:r>
                <a:rPr sz="3600" b="1" i="0" dirty="0">
                  <a:solidFill>
                    <a:srgbClr val="FFFFFF"/>
                  </a:solidFill>
                  <a:latin typeface="맑은 고딕"/>
                </a:rPr>
                <a:t>31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5230368" y="3720011"/>
              <a:ext cx="1828800" cy="274320"/>
            </a:xfrm>
            <a:prstGeom prst="rect">
              <a:avLst/>
            </a:prstGeom>
            <a:noFill/>
          </p:spPr>
          <p:txBody>
            <a:bodyPr wrap="square" lIns="45720" rIns="45720" anchor="t">
              <a:spAutoFit/>
            </a:bodyPr>
            <a:lstStyle/>
            <a:p>
              <a:pPr algn="ctr"/>
              <a:r>
                <a:rPr sz="1000" b="0" i="0">
                  <a:solidFill>
                    <a:srgbClr val="CADCFC"/>
                  </a:solidFill>
                  <a:latin typeface="맑은 고딕"/>
                </a:rPr>
                <a:t>SW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5230368" y="3948611"/>
              <a:ext cx="1828800" cy="228600"/>
            </a:xfrm>
            <a:prstGeom prst="rect">
              <a:avLst/>
            </a:prstGeom>
            <a:noFill/>
          </p:spPr>
          <p:txBody>
            <a:bodyPr wrap="square" lIns="45720" rIns="45720" anchor="t">
              <a:spAutoFit/>
            </a:bodyPr>
            <a:lstStyle/>
            <a:p>
              <a:pPr algn="ctr"/>
              <a:r>
                <a:rPr sz="1000" b="1" i="0">
                  <a:solidFill>
                    <a:srgbClr val="2ECC71"/>
                  </a:solidFill>
                  <a:latin typeface="맑은 고딕"/>
                </a:rPr>
                <a:t>완료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7324344" y="2897051"/>
              <a:ext cx="2194560" cy="1280160"/>
            </a:xfrm>
            <a:prstGeom prst="rect">
              <a:avLst/>
            </a:prstGeom>
            <a:solidFill>
              <a:srgbClr val="1E276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7507224" y="3006779"/>
              <a:ext cx="1828800" cy="292608"/>
            </a:xfrm>
            <a:prstGeom prst="rect">
              <a:avLst/>
            </a:prstGeom>
            <a:noFill/>
          </p:spPr>
          <p:txBody>
            <a:bodyPr wrap="square" lIns="45720" rIns="45720" anchor="t">
              <a:spAutoFit/>
            </a:bodyPr>
            <a:lstStyle/>
            <a:p>
              <a:pPr algn="ctr"/>
              <a:r>
                <a:rPr sz="1100" b="1" i="0" spc="300">
                  <a:solidFill>
                    <a:srgbClr val="F96167"/>
                  </a:solidFill>
                  <a:latin typeface="맑은 고딕"/>
                </a:rPr>
                <a:t>HWR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7507224" y="3308531"/>
              <a:ext cx="1828800" cy="548640"/>
            </a:xfrm>
            <a:prstGeom prst="rect">
              <a:avLst/>
            </a:prstGeom>
            <a:noFill/>
          </p:spPr>
          <p:txBody>
            <a:bodyPr wrap="square" lIns="45720" rIns="45720" anchor="t">
              <a:spAutoFit/>
            </a:bodyPr>
            <a:lstStyle/>
            <a:p>
              <a:pPr algn="ctr"/>
              <a:r>
                <a:rPr sz="3600" b="1" i="0">
                  <a:solidFill>
                    <a:srgbClr val="FFFFFF"/>
                  </a:solidFill>
                  <a:latin typeface="맑은 고딕"/>
                </a:rPr>
                <a:t>12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7507224" y="3720011"/>
              <a:ext cx="1828800" cy="274320"/>
            </a:xfrm>
            <a:prstGeom prst="rect">
              <a:avLst/>
            </a:prstGeom>
            <a:noFill/>
          </p:spPr>
          <p:txBody>
            <a:bodyPr wrap="square" lIns="45720" rIns="45720" anchor="t">
              <a:spAutoFit/>
            </a:bodyPr>
            <a:lstStyle/>
            <a:p>
              <a:pPr algn="ctr"/>
              <a:r>
                <a:rPr sz="1000" b="0" i="0">
                  <a:solidFill>
                    <a:srgbClr val="CADCFC"/>
                  </a:solidFill>
                  <a:latin typeface="맑은 고딕"/>
                </a:rPr>
                <a:t>HW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7507224" y="3948611"/>
              <a:ext cx="1828800" cy="228600"/>
            </a:xfrm>
            <a:prstGeom prst="rect">
              <a:avLst/>
            </a:prstGeom>
            <a:noFill/>
          </p:spPr>
          <p:txBody>
            <a:bodyPr wrap="square" lIns="45720" rIns="45720" anchor="t">
              <a:spAutoFit/>
            </a:bodyPr>
            <a:lstStyle/>
            <a:p>
              <a:pPr algn="ctr"/>
              <a:r>
                <a:rPr sz="1000" b="1" i="0">
                  <a:solidFill>
                    <a:srgbClr val="2ECC71"/>
                  </a:solidFill>
                  <a:latin typeface="맑은 고딕"/>
                </a:rPr>
                <a:t>완료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9601200" y="2897051"/>
              <a:ext cx="2194560" cy="1280160"/>
            </a:xfrm>
            <a:prstGeom prst="rect">
              <a:avLst/>
            </a:prstGeom>
            <a:solidFill>
              <a:srgbClr val="1E276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9784080" y="3006779"/>
              <a:ext cx="1828800" cy="292608"/>
            </a:xfrm>
            <a:prstGeom prst="rect">
              <a:avLst/>
            </a:prstGeom>
            <a:noFill/>
          </p:spPr>
          <p:txBody>
            <a:bodyPr wrap="square" lIns="45720" rIns="45720" anchor="t">
              <a:spAutoFit/>
            </a:bodyPr>
            <a:lstStyle/>
            <a:p>
              <a:pPr algn="ctr"/>
              <a:r>
                <a:rPr sz="1100" b="1" i="0" spc="300">
                  <a:solidFill>
                    <a:srgbClr val="F96167"/>
                  </a:solidFill>
                  <a:latin typeface="맑은 고딕"/>
                </a:rPr>
                <a:t>SAF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9784080" y="3308531"/>
              <a:ext cx="1828800" cy="548640"/>
            </a:xfrm>
            <a:prstGeom prst="rect">
              <a:avLst/>
            </a:prstGeom>
            <a:noFill/>
          </p:spPr>
          <p:txBody>
            <a:bodyPr wrap="square" lIns="45720" rIns="45720" anchor="t">
              <a:spAutoFit/>
            </a:bodyPr>
            <a:lstStyle/>
            <a:p>
              <a:pPr algn="ctr"/>
              <a:r>
                <a:rPr sz="3600" b="1" i="0">
                  <a:solidFill>
                    <a:srgbClr val="FFFFFF"/>
                  </a:solidFill>
                  <a:latin typeface="맑은 고딕"/>
                </a:rPr>
                <a:t>17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9784080" y="3720011"/>
              <a:ext cx="1828800" cy="274320"/>
            </a:xfrm>
            <a:prstGeom prst="rect">
              <a:avLst/>
            </a:prstGeom>
            <a:noFill/>
          </p:spPr>
          <p:txBody>
            <a:bodyPr wrap="square" lIns="45720" rIns="45720" anchor="t">
              <a:spAutoFit/>
            </a:bodyPr>
            <a:lstStyle/>
            <a:p>
              <a:pPr algn="ctr"/>
              <a:r>
                <a:rPr sz="1000" b="0" i="0">
                  <a:solidFill>
                    <a:srgbClr val="CADCFC"/>
                  </a:solidFill>
                  <a:latin typeface="맑은 고딕"/>
                </a:rPr>
                <a:t>Safety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9784080" y="3948611"/>
              <a:ext cx="1828800" cy="228600"/>
            </a:xfrm>
            <a:prstGeom prst="rect">
              <a:avLst/>
            </a:prstGeom>
            <a:noFill/>
          </p:spPr>
          <p:txBody>
            <a:bodyPr wrap="square" lIns="45720" rIns="45720" anchor="t">
              <a:spAutoFit/>
            </a:bodyPr>
            <a:lstStyle/>
            <a:p>
              <a:pPr algn="ctr"/>
              <a:r>
                <a:rPr sz="1000" b="1" i="0">
                  <a:solidFill>
                    <a:srgbClr val="2ECC71"/>
                  </a:solidFill>
                  <a:latin typeface="맑은 고딕"/>
                </a:rPr>
                <a:t>완료</a:t>
              </a:r>
            </a:p>
          </p:txBody>
        </p:sp>
      </p:grpSp>
      <p:pic>
        <p:nvPicPr>
          <p:cNvPr id="79" name="그림 78">
            <a:extLst>
              <a:ext uri="{FF2B5EF4-FFF2-40B4-BE49-F238E27FC236}">
                <a16:creationId xmlns:a16="http://schemas.microsoft.com/office/drawing/2014/main" id="{365375BB-3C0F-3508-96E3-45BD74E9D2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5141" y="4460441"/>
            <a:ext cx="2013511" cy="2013511"/>
          </a:xfrm>
          <a:prstGeom prst="rect">
            <a:avLst/>
          </a:prstGeom>
        </p:spPr>
      </p:pic>
      <p:sp>
        <p:nvSpPr>
          <p:cNvPr id="81" name="TextBox 80">
            <a:extLst>
              <a:ext uri="{FF2B5EF4-FFF2-40B4-BE49-F238E27FC236}">
                <a16:creationId xmlns:a16="http://schemas.microsoft.com/office/drawing/2014/main" id="{DBFDCDD8-BAB8-7281-B822-E74CD8C913DA}"/>
              </a:ext>
            </a:extLst>
          </p:cNvPr>
          <p:cNvSpPr txBox="1"/>
          <p:nvPr/>
        </p:nvSpPr>
        <p:spPr>
          <a:xfrm>
            <a:off x="5791200" y="595927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https://gaepo-japcho.github.io/ACC-docs/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 spc="150">
                <a:solidFill>
                  <a:srgbClr val="7A83A8"/>
                </a:solidFill>
                <a:latin typeface="맑은 고딕"/>
              </a:rPr>
              <a:t>SeSAC · ACC Project · 중간발표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 i="0" spc="150">
                <a:solidFill>
                  <a:srgbClr val="7A83A8"/>
                </a:solidFill>
                <a:latin typeface="맑은 고딕"/>
              </a:rPr>
              <a:t>07 /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84048"/>
            <a:ext cx="109728" cy="292608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384048"/>
            <a:ext cx="914400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 spc="300">
                <a:solidFill>
                  <a:srgbClr val="1E2761"/>
                </a:solidFill>
                <a:latin typeface="맑은 고딕"/>
              </a:rPr>
              <a:t>05  MAIN ECU · AUTOSAR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22960"/>
            <a:ext cx="109728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400" b="1" i="0">
                <a:solidFill>
                  <a:srgbClr val="1E2761"/>
                </a:solidFill>
                <a:latin typeface="맑은 고딕"/>
              </a:rPr>
              <a:t>메인 ECU — AUTOSAR SWC 진행 현황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7A83A8"/>
                </a:solidFill>
                <a:latin typeface="맑은 고딕"/>
              </a:rPr>
              <a:t>Simulink Model-Based Design · MATLAB R2024b + AUTOSAR Blockset · Target: NXP MPC5606B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65960"/>
            <a:ext cx="11292840" cy="822960"/>
          </a:xfrm>
          <a:prstGeom prst="rect">
            <a:avLst/>
          </a:prstGeom>
          <a:solidFill>
            <a:srgbClr val="F7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965960"/>
            <a:ext cx="73152" cy="82296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2057400"/>
            <a:ext cx="7315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 spc="300">
                <a:solidFill>
                  <a:srgbClr val="F96167"/>
                </a:solidFill>
                <a:latin typeface="맑은 고딕"/>
              </a:rPr>
              <a:t>Step 1 · DATA DICTIONARY (ACC_Types.sldd)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59152"/>
            <a:ext cx="82296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onsolas"/>
              </a:rPr>
              <a:t>build_acc_dictionary.m · 15 ImplDataType · 5 Enum · 4 Linear-Scaled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2057400"/>
            <a:ext cx="274320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2600" b="1" i="0">
                <a:solidFill>
                  <a:srgbClr val="2ECC71"/>
                </a:solidFill>
                <a:latin typeface="맑은 고딕"/>
              </a:rPr>
              <a:t>✓ 완료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017520"/>
            <a:ext cx="2743200" cy="13258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3017520"/>
            <a:ext cx="2743200" cy="73152"/>
          </a:xfrm>
          <a:prstGeom prst="rect">
            <a:avLst/>
          </a:prstGeom>
          <a:solidFill>
            <a:srgbClr val="F5A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3182112"/>
            <a:ext cx="14173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맑은 고딕"/>
              </a:rPr>
              <a:t>AccState</a:t>
            </a:r>
          </a:p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맑은 고딕"/>
              </a:rPr>
              <a:t>Machine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3200400"/>
            <a:ext cx="10515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 dirty="0">
                <a:solidFill>
                  <a:srgbClr val="CADCFC"/>
                </a:solidFill>
                <a:latin typeface="맑은 고딕"/>
              </a:rPr>
              <a:t>5-state FSM · 10ms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3657600"/>
            <a:ext cx="1051560" cy="2616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 dirty="0" err="1">
                <a:solidFill>
                  <a:srgbClr val="F5A830"/>
                </a:solidFill>
                <a:latin typeface="맑은 고딕"/>
              </a:rPr>
              <a:t>스켈레톤</a:t>
            </a:r>
            <a:endParaRPr sz="1100" b="1" i="0" dirty="0">
              <a:solidFill>
                <a:srgbClr val="F5A830"/>
              </a:solidFill>
              <a:latin typeface="맑은 고딕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011680" y="3977640"/>
            <a:ext cx="1051560" cy="2308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ko-KR" altLang="en-US" sz="900" b="0" i="0" dirty="0" err="1">
                <a:solidFill>
                  <a:srgbClr val="CADCFC"/>
                </a:solidFill>
                <a:latin typeface="맑은 고딕"/>
              </a:rPr>
              <a:t>배정우</a:t>
            </a:r>
            <a:endParaRPr sz="900" b="0" i="0" dirty="0">
              <a:solidFill>
                <a:srgbClr val="CADCFC"/>
              </a:solidFill>
              <a:latin typeface="맑은 고딕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163056" y="3017520"/>
            <a:ext cx="2743200" cy="13258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163056" y="3017520"/>
            <a:ext cx="2743200" cy="73152"/>
          </a:xfrm>
          <a:prstGeom prst="rect">
            <a:avLst/>
          </a:prstGeom>
          <a:solidFill>
            <a:srgbClr val="F5A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45936" y="3182112"/>
            <a:ext cx="14173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맑은 고딕"/>
              </a:rPr>
              <a:t>Distance</a:t>
            </a:r>
          </a:p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맑은 고딕"/>
              </a:rPr>
              <a:t>Control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17536" y="3200400"/>
            <a:ext cx="10515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CADCFC"/>
                </a:solidFill>
                <a:latin typeface="맑은 고딕"/>
              </a:rPr>
              <a:t>거리 PID · 20ms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17536" y="3657600"/>
            <a:ext cx="1051560" cy="2616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 dirty="0" err="1">
                <a:solidFill>
                  <a:srgbClr val="F5A830"/>
                </a:solidFill>
                <a:latin typeface="맑은 고딕"/>
              </a:rPr>
              <a:t>✓ 로직 구현</a:t>
            </a:r>
            <a:endParaRPr sz="1100" b="1" i="0" dirty="0">
              <a:solidFill>
                <a:srgbClr val="F5A830"/>
              </a:solidFill>
              <a:latin typeface="맑은 고딕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717536" y="3977640"/>
            <a:ext cx="1051560" cy="2308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ko-KR" altLang="en-US" sz="900" b="0" i="0" dirty="0">
                <a:solidFill>
                  <a:srgbClr val="CADCFC"/>
                </a:solidFill>
                <a:latin typeface="맑은 고딕"/>
              </a:rPr>
              <a:t>엄지혜</a:t>
            </a:r>
            <a:endParaRPr sz="900" b="0" i="0" dirty="0">
              <a:solidFill>
                <a:srgbClr val="CADCFC"/>
              </a:solidFill>
              <a:latin typeface="맑은 고딕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9015984" y="3017520"/>
            <a:ext cx="2743200" cy="13258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9015984" y="3017520"/>
            <a:ext cx="2743200" cy="73152"/>
          </a:xfrm>
          <a:prstGeom prst="rect">
            <a:avLst/>
          </a:prstGeom>
          <a:solidFill>
            <a:srgbClr val="F5A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198864" y="3182112"/>
            <a:ext cx="14173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맑은 고딕"/>
              </a:rPr>
              <a:t>Motor</a:t>
            </a:r>
          </a:p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맑은 고딕"/>
              </a:rPr>
              <a:t>Control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70464" y="3200400"/>
            <a:ext cx="10515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CADCFC"/>
                </a:solidFill>
                <a:latin typeface="맑은 고딕"/>
              </a:rPr>
              <a:t>속도 PI · 10ms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70464" y="3657600"/>
            <a:ext cx="1051560" cy="2616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 dirty="0" err="1">
                <a:solidFill>
                  <a:srgbClr val="F5A830"/>
                </a:solidFill>
                <a:latin typeface="맑은 고딕"/>
              </a:rPr>
              <a:t>✓ 로직 구현</a:t>
            </a:r>
            <a:endParaRPr sz="1100" b="1" i="0" dirty="0">
              <a:solidFill>
                <a:srgbClr val="F5A830"/>
              </a:solidFill>
              <a:latin typeface="맑은 고딕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0570464" y="3977640"/>
            <a:ext cx="1051560" cy="2308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ko-KR" altLang="en-US" sz="900" b="0" i="0" dirty="0">
                <a:solidFill>
                  <a:srgbClr val="CADCFC"/>
                </a:solidFill>
                <a:latin typeface="맑은 고딕"/>
              </a:rPr>
              <a:t>박종범 </a:t>
            </a:r>
            <a:r>
              <a:rPr lang="en-US" altLang="ko-KR" sz="900" b="0" i="0" dirty="0">
                <a:solidFill>
                  <a:srgbClr val="CADCFC"/>
                </a:solidFill>
                <a:latin typeface="맑은 고딕"/>
              </a:rPr>
              <a:t>/ </a:t>
            </a:r>
            <a:r>
              <a:rPr lang="ko-KR" altLang="en-US" sz="900" b="0" i="0" dirty="0">
                <a:solidFill>
                  <a:srgbClr val="CADCFC"/>
                </a:solidFill>
                <a:latin typeface="맑은 고딕"/>
              </a:rPr>
              <a:t>엄지혜</a:t>
            </a:r>
            <a:endParaRPr lang="en-US" altLang="ko-KR" sz="900" b="0" i="0" dirty="0">
              <a:solidFill>
                <a:srgbClr val="CADCFC"/>
              </a:solidFill>
              <a:latin typeface="맑은 고딕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457200" y="4453128"/>
            <a:ext cx="2743200" cy="13258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57200" y="4453128"/>
            <a:ext cx="2743200" cy="73152"/>
          </a:xfrm>
          <a:prstGeom prst="rect">
            <a:avLst/>
          </a:prstGeom>
          <a:solidFill>
            <a:srgbClr val="F5A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0080" y="4617720"/>
            <a:ext cx="14173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맑은 고딕"/>
              </a:rPr>
              <a:t>CanComm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11680" y="4636008"/>
            <a:ext cx="10515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CADCFC"/>
                </a:solidFill>
                <a:latin typeface="맑은 고딕"/>
              </a:rPr>
              <a:t>Rx/Tx · 10/20/50ms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11680" y="5093208"/>
            <a:ext cx="1051560" cy="2616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 dirty="0" err="1">
                <a:solidFill>
                  <a:srgbClr val="F5A830"/>
                </a:solidFill>
                <a:latin typeface="맑은 고딕"/>
              </a:rPr>
              <a:t>스켈레톤</a:t>
            </a:r>
            <a:endParaRPr sz="1100" b="1" i="0" dirty="0">
              <a:solidFill>
                <a:srgbClr val="F5A830"/>
              </a:solidFill>
              <a:latin typeface="맑은 고딕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011680" y="5413248"/>
            <a:ext cx="1051560" cy="2308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ko-KR" altLang="en-US" sz="900" dirty="0">
                <a:solidFill>
                  <a:srgbClr val="CADCFC"/>
                </a:solidFill>
                <a:latin typeface="맑은 고딕"/>
              </a:rPr>
              <a:t>박종범</a:t>
            </a:r>
            <a:endParaRPr sz="900" b="0" i="0" dirty="0">
              <a:solidFill>
                <a:srgbClr val="CADCFC"/>
              </a:solidFill>
              <a:latin typeface="맑은 고딕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3310128" y="4453128"/>
            <a:ext cx="2743200" cy="13258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3310128" y="4453128"/>
            <a:ext cx="2743200" cy="73152"/>
          </a:xfrm>
          <a:prstGeom prst="rect">
            <a:avLst/>
          </a:prstGeom>
          <a:solidFill>
            <a:srgbClr val="F5A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493008" y="4617720"/>
            <a:ext cx="14173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맑은 고딕"/>
              </a:rPr>
              <a:t>Diagnostics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64608" y="4636008"/>
            <a:ext cx="10515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 dirty="0">
                <a:solidFill>
                  <a:srgbClr val="CADCFC"/>
                </a:solidFill>
                <a:latin typeface="맑은 고딕"/>
              </a:rPr>
              <a:t>FAULT </a:t>
            </a:r>
            <a:r>
              <a:rPr sz="1000" b="0" i="1" dirty="0" err="1">
                <a:solidFill>
                  <a:srgbClr val="CADCFC"/>
                </a:solidFill>
                <a:latin typeface="맑은 고딕"/>
              </a:rPr>
              <a:t>진단</a:t>
            </a:r>
            <a:r>
              <a:rPr sz="1000" b="0" i="1" dirty="0">
                <a:solidFill>
                  <a:srgbClr val="CADCFC"/>
                </a:solidFill>
                <a:latin typeface="맑은 고딕"/>
              </a:rPr>
              <a:t> · 10ms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64608" y="5093208"/>
            <a:ext cx="10515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 dirty="0" err="1">
                <a:solidFill>
                  <a:srgbClr val="F5A830"/>
                </a:solidFill>
                <a:latin typeface="맑은 고딕"/>
              </a:rPr>
              <a:t>✓ 로직 구현</a:t>
            </a:r>
            <a:endParaRPr sz="1100" b="1" i="0" dirty="0">
              <a:solidFill>
                <a:srgbClr val="F5A830"/>
              </a:solidFill>
              <a:latin typeface="맑은 고딕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4864608" y="5413248"/>
            <a:ext cx="1051560" cy="2308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ko-KR" altLang="en-US" sz="900" b="0" i="0" dirty="0" err="1">
                <a:solidFill>
                  <a:srgbClr val="CADCFC"/>
                </a:solidFill>
                <a:latin typeface="맑은 고딕"/>
              </a:rPr>
              <a:t>김유림</a:t>
            </a:r>
            <a:endParaRPr sz="900" b="0" i="0" dirty="0">
              <a:solidFill>
                <a:srgbClr val="CADCFC"/>
              </a:solidFill>
              <a:latin typeface="맑은 고딕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6163056" y="4453128"/>
            <a:ext cx="2743200" cy="13258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6163056" y="4453128"/>
            <a:ext cx="2743200" cy="73152"/>
          </a:xfrm>
          <a:prstGeom prst="rect">
            <a:avLst/>
          </a:prstGeom>
          <a:solidFill>
            <a:srgbClr val="F5A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345936" y="4617720"/>
            <a:ext cx="14173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맑은 고딕"/>
              </a:rPr>
              <a:t>HmiManager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17536" y="4636008"/>
            <a:ext cx="10515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CADCFC"/>
                </a:solidFill>
                <a:latin typeface="맑은 고딕"/>
              </a:rPr>
              <a:t>HMI 표시 데이터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17536" y="5093208"/>
            <a:ext cx="1051560" cy="2616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 dirty="0" err="1">
                <a:solidFill>
                  <a:srgbClr val="F5A830"/>
                </a:solidFill>
                <a:latin typeface="맑은 고딕"/>
              </a:rPr>
              <a:t>✓ 로직 구현</a:t>
            </a:r>
            <a:endParaRPr sz="1100" b="1" i="0" dirty="0">
              <a:solidFill>
                <a:srgbClr val="F5A830"/>
              </a:solidFill>
              <a:latin typeface="맑은 고딕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7717536" y="5413248"/>
            <a:ext cx="1051560" cy="2308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ko-KR" altLang="en-US" sz="900" dirty="0" err="1">
                <a:solidFill>
                  <a:srgbClr val="CADCFC"/>
                </a:solidFill>
                <a:latin typeface="맑은 고딕"/>
              </a:rPr>
              <a:t>유다희</a:t>
            </a:r>
            <a:endParaRPr sz="900" b="0" i="0" dirty="0">
              <a:solidFill>
                <a:srgbClr val="CADCFC"/>
              </a:solidFill>
              <a:latin typeface="맑은 고딕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457200" y="5852160"/>
            <a:ext cx="11292840" cy="502920"/>
          </a:xfrm>
          <a:prstGeom prst="rect">
            <a:avLst/>
          </a:prstGeom>
          <a:solidFill>
            <a:srgbClr val="141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457200" y="5852160"/>
            <a:ext cx="91440" cy="5029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731520" y="5852160"/>
            <a:ext cx="64008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300" b="1" i="0" dirty="0" err="1">
                <a:solidFill>
                  <a:srgbClr val="FFFFFF"/>
                </a:solidFill>
                <a:latin typeface="맑은 고딕"/>
              </a:rPr>
              <a:t>진행률</a:t>
            </a:r>
            <a:r>
              <a:rPr sz="1300" b="1" i="0" dirty="0">
                <a:solidFill>
                  <a:srgbClr val="FFFFFF"/>
                </a:solidFill>
                <a:latin typeface="맑은 고딕"/>
              </a:rPr>
              <a:t>  6 SWC + Composition </a:t>
            </a:r>
            <a:r>
              <a:rPr sz="1300" b="1" i="0" dirty="0" err="1">
                <a:solidFill>
                  <a:srgbClr val="FFFFFF"/>
                </a:solidFill>
                <a:latin typeface="맑은 고딕"/>
              </a:rPr>
              <a:t>slbuild</a:t>
            </a:r>
            <a:r>
              <a:rPr sz="1300" b="1" i="0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300" b="1" i="0" dirty="0" err="1">
                <a:solidFill>
                  <a:srgbClr val="FFFFFF"/>
                </a:solidFill>
                <a:latin typeface="맑은 고딕"/>
              </a:rPr>
              <a:t>성공 · 4개 로직 구현 완료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040880" y="5852160"/>
            <a:ext cx="45720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100" b="1" i="0">
                <a:solidFill>
                  <a:srgbClr val="F5A830"/>
                </a:solidFill>
                <a:latin typeface="맑은 고딕"/>
              </a:rPr>
              <a:t>✓ R2024b AR-tree API 이슈 해결 완료</a:t>
            </a:r>
          </a:p>
        </p:txBody>
      </p:sp>
      <p:sp>
        <p:nvSpPr>
          <p:cNvPr id="66" name="Rectangle 49">
            <a:extLst>
              <a:ext uri="{FF2B5EF4-FFF2-40B4-BE49-F238E27FC236}">
                <a16:creationId xmlns:a16="http://schemas.microsoft.com/office/drawing/2014/main" id="{0F2C5CFB-CBB2-D418-88F9-88136804FC15}"/>
              </a:ext>
            </a:extLst>
          </p:cNvPr>
          <p:cNvSpPr/>
          <p:nvPr/>
        </p:nvSpPr>
        <p:spPr>
          <a:xfrm>
            <a:off x="3310128" y="3025130"/>
            <a:ext cx="2743200" cy="13258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50">
            <a:extLst>
              <a:ext uri="{FF2B5EF4-FFF2-40B4-BE49-F238E27FC236}">
                <a16:creationId xmlns:a16="http://schemas.microsoft.com/office/drawing/2014/main" id="{9CDB9AD8-4CBB-78EA-12CE-7ACD4A772454}"/>
              </a:ext>
            </a:extLst>
          </p:cNvPr>
          <p:cNvSpPr/>
          <p:nvPr/>
        </p:nvSpPr>
        <p:spPr>
          <a:xfrm>
            <a:off x="3310128" y="3025130"/>
            <a:ext cx="2743200" cy="73152"/>
          </a:xfrm>
          <a:prstGeom prst="rect">
            <a:avLst/>
          </a:prstGeom>
          <a:solidFill>
            <a:srgbClr val="F5A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7324FBB-2117-3E69-6E10-9F99D27337B9}"/>
              </a:ext>
            </a:extLst>
          </p:cNvPr>
          <p:cNvSpPr txBox="1"/>
          <p:nvPr/>
        </p:nvSpPr>
        <p:spPr>
          <a:xfrm>
            <a:off x="3493008" y="3189722"/>
            <a:ext cx="1417320" cy="286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US" sz="1300" b="1" dirty="0" err="1">
                <a:solidFill>
                  <a:srgbClr val="FFFFFF"/>
                </a:solidFill>
                <a:latin typeface="맑은 고딕"/>
              </a:rPr>
              <a:t>DataDictionary</a:t>
            </a:r>
            <a:endParaRPr sz="1300" b="1" i="0" dirty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6AE8E85-3A20-BFFE-57A9-341E2D54DE65}"/>
              </a:ext>
            </a:extLst>
          </p:cNvPr>
          <p:cNvSpPr txBox="1"/>
          <p:nvPr/>
        </p:nvSpPr>
        <p:spPr>
          <a:xfrm>
            <a:off x="4864608" y="3208010"/>
            <a:ext cx="1051560" cy="44345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000" b="0" i="1" dirty="0">
                <a:solidFill>
                  <a:srgbClr val="CADCFC"/>
                </a:solidFill>
                <a:latin typeface="맑은 고딕"/>
              </a:rPr>
              <a:t>AUTOSAR IF </a:t>
            </a:r>
            <a:r>
              <a:rPr lang="ko-KR" altLang="en-US" sz="1000" b="0" i="1" dirty="0">
                <a:solidFill>
                  <a:srgbClr val="CADCFC"/>
                </a:solidFill>
                <a:latin typeface="맑은 고딕"/>
              </a:rPr>
              <a:t>정의</a:t>
            </a:r>
            <a:endParaRPr sz="1000" b="0" i="1" dirty="0">
              <a:solidFill>
                <a:srgbClr val="CADCFC"/>
              </a:solidFill>
              <a:latin typeface="맑은 고딕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6238C08-7FB2-3048-4325-04FF1D9666D9}"/>
              </a:ext>
            </a:extLst>
          </p:cNvPr>
          <p:cNvSpPr txBox="1"/>
          <p:nvPr/>
        </p:nvSpPr>
        <p:spPr>
          <a:xfrm>
            <a:off x="4864608" y="3665210"/>
            <a:ext cx="1051560" cy="2616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 dirty="0" err="1">
                <a:solidFill>
                  <a:srgbClr val="F5A830"/>
                </a:solidFill>
                <a:latin typeface="맑은 고딕"/>
              </a:rPr>
              <a:t>✓ 로직 구현</a:t>
            </a:r>
            <a:endParaRPr sz="1100" b="1" i="0" dirty="0">
              <a:solidFill>
                <a:srgbClr val="F5A830"/>
              </a:solidFill>
              <a:latin typeface="맑은 고딕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1681537-3269-00CF-5398-A2F5E720C493}"/>
              </a:ext>
            </a:extLst>
          </p:cNvPr>
          <p:cNvSpPr txBox="1"/>
          <p:nvPr/>
        </p:nvSpPr>
        <p:spPr>
          <a:xfrm>
            <a:off x="4864608" y="3985250"/>
            <a:ext cx="1051560" cy="2308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ko-KR" altLang="en-US" sz="900" b="0" i="0" dirty="0">
                <a:solidFill>
                  <a:srgbClr val="CADCFC"/>
                </a:solidFill>
                <a:latin typeface="맑은 고딕"/>
              </a:rPr>
              <a:t>박종범</a:t>
            </a:r>
            <a:endParaRPr sz="900" b="0" i="0" dirty="0">
              <a:solidFill>
                <a:srgbClr val="CADCFC"/>
              </a:solidFill>
              <a:latin typeface="맑은 고딕"/>
            </a:endParaRPr>
          </a:p>
        </p:txBody>
      </p:sp>
      <p:sp>
        <p:nvSpPr>
          <p:cNvPr id="300" name="Rectangle 49"/>
          <p:cNvSpPr/>
          <p:nvPr/>
        </p:nvSpPr>
        <p:spPr>
          <a:xfrm>
            <a:off x="9015984" y="4453128"/>
            <a:ext cx="2743200" cy="13258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1" name="Rectangle 50"/>
          <p:cNvSpPr/>
          <p:nvPr/>
        </p:nvSpPr>
        <p:spPr>
          <a:xfrm>
            <a:off x="9015984" y="4453128"/>
            <a:ext cx="2743200" cy="73152"/>
          </a:xfrm>
          <a:prstGeom prst="rect">
            <a:avLst/>
          </a:prstGeom>
          <a:solidFill>
            <a:srgbClr val="F5A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2" name="TextBox 51"/>
          <p:cNvSpPr txBox="1"/>
          <p:nvPr/>
        </p:nvSpPr>
        <p:spPr>
          <a:xfrm>
            <a:off x="9198864" y="4617720"/>
            <a:ext cx="14173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맑은 고딕"/>
              </a:rPr>
              <a:t>Composition</a:t>
            </a:r>
          </a:p>
        </p:txBody>
      </p:sp>
      <p:sp>
        <p:nvSpPr>
          <p:cNvPr id="303" name="TextBox 52"/>
          <p:cNvSpPr txBox="1"/>
          <p:nvPr/>
        </p:nvSpPr>
        <p:spPr>
          <a:xfrm>
            <a:off x="10570464" y="4636008"/>
            <a:ext cx="10515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CADCFC"/>
                </a:solidFill>
                <a:latin typeface="맑은 고딕"/>
              </a:rPr>
              <a:t>6 SWC 통합 · ARXML</a:t>
            </a:r>
          </a:p>
        </p:txBody>
      </p:sp>
      <p:sp>
        <p:nvSpPr>
          <p:cNvPr id="304" name="TextBox 53"/>
          <p:cNvSpPr txBox="1"/>
          <p:nvPr/>
        </p:nvSpPr>
        <p:spPr>
          <a:xfrm>
            <a:off x="10570464" y="5093208"/>
            <a:ext cx="1051560" cy="2616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 dirty="0" err="1">
                <a:solidFill>
                  <a:srgbClr val="F5A830"/>
                </a:solidFill>
                <a:latin typeface="맑은 고딕"/>
              </a:rPr>
              <a:t>✓ slbuild 성공</a:t>
            </a:r>
            <a:endParaRPr sz="1100" b="1" i="0" dirty="0">
              <a:solidFill>
                <a:srgbClr val="F5A830"/>
              </a:solidFill>
              <a:latin typeface="맑은 고딕"/>
            </a:endParaRPr>
          </a:p>
        </p:txBody>
      </p:sp>
      <p:sp>
        <p:nvSpPr>
          <p:cNvPr id="305" name="TextBox 54"/>
          <p:cNvSpPr txBox="1"/>
          <p:nvPr/>
        </p:nvSpPr>
        <p:spPr>
          <a:xfrm>
            <a:off x="10570464" y="5413248"/>
            <a:ext cx="1051560" cy="2308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ko-KR" altLang="en-US" sz="900" dirty="0" err="1">
                <a:solidFill>
                  <a:srgbClr val="CADCFC"/>
                </a:solidFill>
                <a:latin typeface="맑은 고딕"/>
              </a:rPr>
              <a:t>전원</a:t>
            </a:r>
            <a:endParaRPr sz="900" b="0" i="0" dirty="0">
              <a:solidFill>
                <a:srgbClr val="CADCFC"/>
              </a:solidFill>
              <a:latin typeface="맑은 고딕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EE79112-F7DF-1D13-9CAF-2A6F75CC95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6212" y="0"/>
            <a:ext cx="88795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9072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 spc="150">
                <a:solidFill>
                  <a:srgbClr val="7A83A8"/>
                </a:solidFill>
                <a:latin typeface="맑은 고딕"/>
              </a:rPr>
              <a:t>SeSAC · ACC Project · 중간발표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 i="0" spc="150">
                <a:solidFill>
                  <a:srgbClr val="7A83A8"/>
                </a:solidFill>
                <a:latin typeface="맑은 고딕"/>
              </a:rPr>
              <a:t>08 /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84048"/>
            <a:ext cx="109728" cy="292608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384048"/>
            <a:ext cx="914400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 spc="300">
                <a:solidFill>
                  <a:srgbClr val="1E2761"/>
                </a:solidFill>
                <a:latin typeface="맑은 고딕"/>
              </a:rPr>
              <a:t>06  ARDUINO MOTOR NODE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22960"/>
            <a:ext cx="109728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맑은 고딕"/>
              </a:rPr>
              <a:t>Arduino 모터 시스템 — 2-노드 구조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7A83A8"/>
                </a:solidFill>
                <a:latin typeface="맑은 고딕"/>
              </a:rPr>
              <a:t>HWR002: MCP2515-SPI(D11/12/13) + Motor Shield R3(PWM/DIR) 핀 충돌 → 보드 분리 · 게이트웨이 ↔ 모터노드는 I2C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011680"/>
            <a:ext cx="5760720" cy="4114800"/>
          </a:xfrm>
          <a:prstGeom prst="rect">
            <a:avLst/>
          </a:prstGeom>
          <a:solidFill>
            <a:srgbClr val="F7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2011680"/>
            <a:ext cx="73152" cy="411480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2121408"/>
            <a:ext cx="5303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 spc="300">
                <a:solidFill>
                  <a:srgbClr val="F96167"/>
                </a:solidFill>
                <a:latin typeface="맑은 고딕"/>
              </a:rPr>
              <a:t>NODE 1 · CAN 게이트웨이 (acc_can_node/)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423160"/>
            <a:ext cx="53035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 i="0" dirty="0">
                <a:solidFill>
                  <a:srgbClr val="1E2761"/>
                </a:solidFill>
                <a:latin typeface="맑은 고딕"/>
              </a:rPr>
              <a:t>Arduino Uno + MCP2515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880360"/>
            <a:ext cx="53035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1">
                <a:solidFill>
                  <a:srgbClr val="1A1F36"/>
                </a:solidFill>
                <a:latin typeface="맑은 고딕"/>
              </a:rPr>
              <a:t>MPC5606B ↔ CAN 송수신 · 모터 노드 ↔ I2C 중계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3447288"/>
            <a:ext cx="274320" cy="274320"/>
          </a:xfrm>
          <a:prstGeom prst="ellipse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3447288"/>
            <a:ext cx="27432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383280"/>
            <a:ext cx="48463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onsolas"/>
              </a:rPr>
              <a:t>acc_can_node.ino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639312"/>
            <a:ext cx="48463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 dirty="0">
                <a:solidFill>
                  <a:srgbClr val="1A1F36"/>
                </a:solidFill>
                <a:latin typeface="맑은 고딕"/>
              </a:rPr>
              <a:t>main loop · 30ms timeout · ASIL-B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3995928"/>
            <a:ext cx="274320" cy="274320"/>
          </a:xfrm>
          <a:prstGeom prst="ellipse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3995928"/>
            <a:ext cx="27432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3931920"/>
            <a:ext cx="48463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onsolas"/>
              </a:rPr>
              <a:t>can_handler.cpp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4187952"/>
            <a:ext cx="48463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 dirty="0">
                <a:solidFill>
                  <a:srgbClr val="1A1F36"/>
                </a:solidFill>
                <a:latin typeface="맑은 고딕"/>
              </a:rPr>
              <a:t>MCP2515 ISR · 0x210 Rx / 0x300 Tx</a:t>
            </a:r>
          </a:p>
        </p:txBody>
      </p:sp>
      <p:sp>
        <p:nvSpPr>
          <p:cNvPr id="22" name="Oval 21"/>
          <p:cNvSpPr/>
          <p:nvPr/>
        </p:nvSpPr>
        <p:spPr>
          <a:xfrm>
            <a:off x="822960" y="4544568"/>
            <a:ext cx="274320" cy="274320"/>
          </a:xfrm>
          <a:prstGeom prst="ellipse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" y="4544568"/>
            <a:ext cx="27432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4480560"/>
            <a:ext cx="48463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onsolas"/>
              </a:rPr>
              <a:t>i2c_handler.cpp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4736592"/>
            <a:ext cx="48463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1A1F36"/>
                </a:solidFill>
                <a:latin typeface="맑은 고딕"/>
              </a:rPr>
              <a:t>I2C Master · 모터 명령/피드백 중계</a:t>
            </a:r>
          </a:p>
        </p:txBody>
      </p:sp>
      <p:sp>
        <p:nvSpPr>
          <p:cNvPr id="26" name="Oval 25"/>
          <p:cNvSpPr/>
          <p:nvPr/>
        </p:nvSpPr>
        <p:spPr>
          <a:xfrm>
            <a:off x="822960" y="5093208"/>
            <a:ext cx="274320" cy="274320"/>
          </a:xfrm>
          <a:prstGeom prst="ellipse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60" y="5093208"/>
            <a:ext cx="27432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5029200"/>
            <a:ext cx="48463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onsolas"/>
              </a:rPr>
              <a:t>config.h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5285232"/>
            <a:ext cx="48463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1A1F36"/>
                </a:solidFill>
                <a:latin typeface="맑은 고딕"/>
              </a:rPr>
              <a:t>핀 맵 · CAN ID 정의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2011680"/>
            <a:ext cx="5349240" cy="4114800"/>
          </a:xfrm>
          <a:prstGeom prst="rect">
            <a:avLst/>
          </a:prstGeom>
          <a:solidFill>
            <a:srgbClr val="141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629400" y="2121408"/>
            <a:ext cx="4937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 spc="300">
                <a:solidFill>
                  <a:srgbClr val="F96167"/>
                </a:solidFill>
                <a:latin typeface="맑은 고딕"/>
              </a:rPr>
              <a:t>NODE 2 · 모터 노드 (acc_motor_node/)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2423160"/>
            <a:ext cx="4937760" cy="4001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 i="0" dirty="0">
                <a:solidFill>
                  <a:srgbClr val="FFFFFF"/>
                </a:solidFill>
                <a:latin typeface="맑은 고딕"/>
              </a:rPr>
              <a:t>Arduino Uno + Motor Shield R3</a:t>
            </a:r>
            <a:r>
              <a:rPr lang="en-US" sz="2000" b="1" i="0" dirty="0">
                <a:solidFill>
                  <a:srgbClr val="FFFFFF"/>
                </a:solidFill>
                <a:latin typeface="맑은 고딕"/>
              </a:rPr>
              <a:t> </a:t>
            </a:r>
            <a:r>
              <a:rPr lang="en-US" sz="2000" b="1" dirty="0">
                <a:solidFill>
                  <a:srgbClr val="FFFFFF"/>
                </a:solidFill>
                <a:latin typeface="맑은 고딕"/>
              </a:rPr>
              <a:t>x2</a:t>
            </a:r>
            <a:endParaRPr sz="2000" b="1" i="0" dirty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629400" y="2880360"/>
            <a:ext cx="49377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1">
                <a:solidFill>
                  <a:srgbClr val="CADCFC"/>
                </a:solidFill>
                <a:latin typeface="맑은 고딕"/>
              </a:rPr>
              <a:t>I2C Slave · 대표 바퀴 1개 PWM/엔코더 (스케일카 시연)</a:t>
            </a:r>
          </a:p>
        </p:txBody>
      </p:sp>
      <p:sp>
        <p:nvSpPr>
          <p:cNvPr id="34" name="Oval 33"/>
          <p:cNvSpPr/>
          <p:nvPr/>
        </p:nvSpPr>
        <p:spPr>
          <a:xfrm>
            <a:off x="6675120" y="3447288"/>
            <a:ext cx="274320" cy="274320"/>
          </a:xfrm>
          <a:prstGeom prst="ellipse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675120" y="3447288"/>
            <a:ext cx="27432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86600" y="3383280"/>
            <a:ext cx="44805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CADCFC"/>
                </a:solidFill>
                <a:latin typeface="Consolas"/>
              </a:rPr>
              <a:t>acc_motor_node.ino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86600" y="3639312"/>
            <a:ext cx="44805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맑은 고딕"/>
              </a:rPr>
              <a:t>main loop · I2C 명령 처리</a:t>
            </a:r>
          </a:p>
        </p:txBody>
      </p:sp>
      <p:sp>
        <p:nvSpPr>
          <p:cNvPr id="38" name="Oval 37"/>
          <p:cNvSpPr/>
          <p:nvPr/>
        </p:nvSpPr>
        <p:spPr>
          <a:xfrm>
            <a:off x="6675120" y="3995928"/>
            <a:ext cx="274320" cy="274320"/>
          </a:xfrm>
          <a:prstGeom prst="ellipse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675120" y="3995928"/>
            <a:ext cx="27432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86600" y="3931920"/>
            <a:ext cx="44805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CADCFC"/>
                </a:solidFill>
                <a:latin typeface="Consolas"/>
              </a:rPr>
              <a:t>motor_driver.cpp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86600" y="4187952"/>
            <a:ext cx="44805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맑은 고딕"/>
              </a:rPr>
              <a:t>PWM 생성 · 방향 제어 · saturation</a:t>
            </a:r>
          </a:p>
        </p:txBody>
      </p:sp>
      <p:sp>
        <p:nvSpPr>
          <p:cNvPr id="42" name="Oval 41"/>
          <p:cNvSpPr/>
          <p:nvPr/>
        </p:nvSpPr>
        <p:spPr>
          <a:xfrm>
            <a:off x="6675120" y="4544568"/>
            <a:ext cx="274320" cy="274320"/>
          </a:xfrm>
          <a:prstGeom prst="ellipse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675120" y="4544568"/>
            <a:ext cx="27432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86600" y="4480560"/>
            <a:ext cx="44805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CADCFC"/>
                </a:solidFill>
                <a:latin typeface="Consolas"/>
              </a:rPr>
              <a:t>encoder.cpp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86600" y="4736592"/>
            <a:ext cx="44805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맑은 고딕"/>
              </a:rPr>
              <a:t>INT 기반 펄스 카운트 → 속도 cm/s</a:t>
            </a:r>
          </a:p>
        </p:txBody>
      </p:sp>
      <p:sp>
        <p:nvSpPr>
          <p:cNvPr id="46" name="Oval 45"/>
          <p:cNvSpPr/>
          <p:nvPr/>
        </p:nvSpPr>
        <p:spPr>
          <a:xfrm>
            <a:off x="6675120" y="5093208"/>
            <a:ext cx="274320" cy="274320"/>
          </a:xfrm>
          <a:prstGeom prst="ellipse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675120" y="5093208"/>
            <a:ext cx="27432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✓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86600" y="5029200"/>
            <a:ext cx="44805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CADCFC"/>
                </a:solidFill>
                <a:latin typeface="Consolas"/>
              </a:rPr>
              <a:t>i2c_handler.cpp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86600" y="5285232"/>
            <a:ext cx="44805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맑은 고딕"/>
              </a:rPr>
              <a:t>I2C Slave · cmd 수신 · spd 응답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 spc="150">
                <a:solidFill>
                  <a:srgbClr val="7A83A8"/>
                </a:solidFill>
                <a:latin typeface="맑은 고딕"/>
              </a:rPr>
              <a:t>SeSAC · ACC Project · 중간발표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 i="0" spc="150">
                <a:solidFill>
                  <a:srgbClr val="7A83A8"/>
                </a:solidFill>
                <a:latin typeface="맑은 고딕"/>
              </a:rPr>
              <a:t>09 /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84048"/>
            <a:ext cx="109728" cy="292608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384048"/>
            <a:ext cx="914400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 spc="300">
                <a:solidFill>
                  <a:srgbClr val="1E2761"/>
                </a:solidFill>
                <a:latin typeface="맑은 고딕"/>
              </a:rPr>
              <a:t>07  RASPBERRY PI HOST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22960"/>
            <a:ext cx="109728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400" b="1" i="0">
                <a:solidFill>
                  <a:srgbClr val="1E2761"/>
                </a:solidFill>
                <a:latin typeface="맑은 고딕"/>
              </a:rPr>
              <a:t>Raspberry Pi — HMI · 센서 융합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7A83A8"/>
                </a:solidFill>
                <a:latin typeface="맑은 고딕"/>
              </a:rPr>
              <a:t>Python 3.14 + uv · PyQt5 GUI · OpenCV + Ultralytics YOLO · python-can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011680"/>
            <a:ext cx="3749039" cy="4206240"/>
          </a:xfrm>
          <a:prstGeom prst="rect">
            <a:avLst/>
          </a:prstGeom>
          <a:solidFill>
            <a:srgbClr val="F7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2011680"/>
            <a:ext cx="3749039" cy="73152"/>
          </a:xfrm>
          <a:prstGeom prst="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2194560"/>
            <a:ext cx="3200399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 spc="200">
                <a:solidFill>
                  <a:srgbClr val="F96167"/>
                </a:solidFill>
                <a:latin typeface="Consolas"/>
              </a:rPr>
              <a:t>acc_hmi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514600"/>
            <a:ext cx="3200399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 i="0">
                <a:solidFill>
                  <a:srgbClr val="1E2761"/>
                </a:solidFill>
                <a:latin typeface="맑은 고딕"/>
              </a:rPr>
              <a:t>HMI GUI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063240"/>
            <a:ext cx="3200399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A1F36"/>
                </a:solidFill>
                <a:latin typeface="맑은 고딕"/>
              </a:rPr>
              <a:t>PyQt5 기반 터치 UI · 상태·속도·거리 레벨 표시 · ACC ON/OFF/SET/RES 버튼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206240"/>
            <a:ext cx="3200399" cy="18288"/>
          </a:xfrm>
          <a:prstGeom prst="rect">
            <a:avLst/>
          </a:prstGeom>
          <a:solidFill>
            <a:srgbClr val="7A8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4343400"/>
            <a:ext cx="3200399" cy="1280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1A1F36"/>
                </a:solidFill>
                <a:latin typeface="맑은 고딕"/>
              </a:rPr>
              <a:t>▸ main.py 구현 완료</a:t>
            </a:r>
          </a:p>
          <a:p>
            <a:pPr algn="l">
              <a:lnSpc>
                <a:spcPct val="140000"/>
              </a:lnSpc>
            </a:pPr>
            <a:endParaRPr sz="1000" b="0" i="0">
              <a:solidFill>
                <a:srgbClr val="1A1F36"/>
              </a:solidFill>
              <a:latin typeface="맑은 고딕"/>
            </a:endParaRP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1A1F36"/>
                </a:solidFill>
                <a:latin typeface="맑은 고딕"/>
              </a:rPr>
              <a:t>▸ acc_state.py (시뮬 FSM)</a:t>
            </a:r>
          </a:p>
          <a:p>
            <a:pPr algn="l">
              <a:lnSpc>
                <a:spcPct val="140000"/>
              </a:lnSpc>
            </a:pPr>
            <a:endParaRPr sz="1000" b="0" i="0">
              <a:solidFill>
                <a:srgbClr val="1A1F36"/>
              </a:solidFill>
              <a:latin typeface="맑은 고딕"/>
            </a:endParaRP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1A1F36"/>
                </a:solidFill>
                <a:latin typeface="맑은 고딕"/>
              </a:rPr>
              <a:t>▸ GUI 레이아웃 고정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760720"/>
            <a:ext cx="3749039" cy="457200"/>
          </a:xfrm>
          <a:prstGeom prst="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5760720"/>
            <a:ext cx="3749039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Simulation mode 동작 확인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15967" y="2011680"/>
            <a:ext cx="3749039" cy="4206240"/>
          </a:xfrm>
          <a:prstGeom prst="rect">
            <a:avLst/>
          </a:prstGeom>
          <a:solidFill>
            <a:srgbClr val="F7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315967" y="2011680"/>
            <a:ext cx="3749039" cy="73152"/>
          </a:xfrm>
          <a:prstGeom prst="rect">
            <a:avLst/>
          </a:prstGeom>
          <a:solidFill>
            <a:srgbClr val="F5A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90287" y="2194560"/>
            <a:ext cx="3200399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 spc="200">
                <a:solidFill>
                  <a:srgbClr val="F96167"/>
                </a:solidFill>
                <a:latin typeface="Consolas"/>
              </a:rPr>
              <a:t>acc_can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0287" y="2514600"/>
            <a:ext cx="3200399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 i="0">
                <a:solidFill>
                  <a:srgbClr val="1E2761"/>
                </a:solidFill>
                <a:latin typeface="맑은 고딕"/>
              </a:rPr>
              <a:t>CAN Bridge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90287" y="3063240"/>
            <a:ext cx="3200399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A1F36"/>
                </a:solidFill>
                <a:latin typeface="맑은 고딕"/>
              </a:rPr>
              <a:t>MCP2515 (SPI) · 0x110·0x111·0x120·0x510 Tx / 0x300·0x520·0x410 Rx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90287" y="4206240"/>
            <a:ext cx="3200399" cy="18288"/>
          </a:xfrm>
          <a:prstGeom prst="rect">
            <a:avLst/>
          </a:prstGeom>
          <a:solidFill>
            <a:srgbClr val="7A8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90287" y="4343400"/>
            <a:ext cx="3200399" cy="1280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1A1F36"/>
                </a:solidFill>
                <a:latin typeface="맑은 고딕"/>
              </a:rPr>
              <a:t>▸ python-can + DBC codec 완료</a:t>
            </a:r>
          </a:p>
          <a:p>
            <a:pPr algn="l">
              <a:lnSpc>
                <a:spcPct val="140000"/>
              </a:lnSpc>
            </a:pPr>
            <a:endParaRPr sz="1000" b="0" i="0">
              <a:solidFill>
                <a:srgbClr val="1A1F36"/>
              </a:solidFill>
              <a:latin typeface="맑은 고딕"/>
            </a:endParaRP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1A1F36"/>
                </a:solidFill>
                <a:latin typeface="맑은 고딕"/>
              </a:rPr>
              <a:t>▸ CanInterface Tx/Rx 동작</a:t>
            </a:r>
          </a:p>
          <a:p>
            <a:pPr algn="l">
              <a:lnSpc>
                <a:spcPct val="140000"/>
              </a:lnSpc>
            </a:pPr>
            <a:endParaRPr sz="1000" b="0" i="0">
              <a:solidFill>
                <a:srgbClr val="1A1F36"/>
              </a:solidFill>
              <a:latin typeface="맑은 고딕"/>
            </a:endParaRP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1A1F36"/>
                </a:solidFill>
                <a:latin typeface="맑은 고딕"/>
              </a:rPr>
              <a:t>▸ Sim fallback 자동 전환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15967" y="5760720"/>
            <a:ext cx="3749039" cy="457200"/>
          </a:xfrm>
          <a:prstGeom prst="rect">
            <a:avLst/>
          </a:prstGeom>
          <a:solidFill>
            <a:srgbClr val="F5A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315967" y="5760720"/>
            <a:ext cx="3749039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통합 테스트 단계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74734" y="2011680"/>
            <a:ext cx="3749039" cy="4206240"/>
          </a:xfrm>
          <a:prstGeom prst="rect">
            <a:avLst/>
          </a:prstGeom>
          <a:solidFill>
            <a:srgbClr val="F7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174734" y="2011680"/>
            <a:ext cx="3749039" cy="73152"/>
          </a:xfrm>
          <a:prstGeom prst="rect">
            <a:avLst/>
          </a:prstGeom>
          <a:solidFill>
            <a:srgbClr val="F5A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449054" y="2194560"/>
            <a:ext cx="3200399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 spc="200">
                <a:solidFill>
                  <a:srgbClr val="F96167"/>
                </a:solidFill>
                <a:latin typeface="Consolas"/>
              </a:rPr>
              <a:t>acc_fusion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49054" y="2514600"/>
            <a:ext cx="3200399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 i="0">
                <a:solidFill>
                  <a:srgbClr val="1E2761"/>
                </a:solidFill>
                <a:latin typeface="맑은 고딕"/>
              </a:rPr>
              <a:t>Sensor Fusion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49054" y="3063240"/>
            <a:ext cx="3200399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A1F36"/>
                </a:solidFill>
                <a:latin typeface="맑은 고딕"/>
              </a:rPr>
              <a:t>RPi Camera + RPLiDAR · 차량 탐지(YOLO) + 거리 측정 → 0x110 SENSOR_FUSION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49054" y="4206240"/>
            <a:ext cx="3200399" cy="18288"/>
          </a:xfrm>
          <a:prstGeom prst="rect">
            <a:avLst/>
          </a:prstGeom>
          <a:solidFill>
            <a:srgbClr val="7A8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449054" y="4343400"/>
            <a:ext cx="3200399" cy="1280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1A1F36"/>
                </a:solidFill>
                <a:latin typeface="맑은 고딕"/>
              </a:rPr>
              <a:t>▸ YOLO 모델 통합 완료</a:t>
            </a:r>
          </a:p>
          <a:p>
            <a:pPr algn="l">
              <a:lnSpc>
                <a:spcPct val="140000"/>
              </a:lnSpc>
            </a:pPr>
            <a:endParaRPr sz="1000" b="0" i="0">
              <a:solidFill>
                <a:srgbClr val="1A1F36"/>
              </a:solidFill>
              <a:latin typeface="맑은 고딕"/>
            </a:endParaRP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1A1F36"/>
                </a:solidFill>
                <a:latin typeface="맑은 고딕"/>
              </a:rPr>
              <a:t>▸ RPLiDAR 드라이버 동작</a:t>
            </a:r>
          </a:p>
          <a:p>
            <a:pPr algn="l">
              <a:lnSpc>
                <a:spcPct val="140000"/>
              </a:lnSpc>
            </a:pPr>
            <a:endParaRPr sz="1000" b="0" i="0">
              <a:solidFill>
                <a:srgbClr val="1A1F36"/>
              </a:solidFill>
              <a:latin typeface="맑은 고딕"/>
            </a:endParaRP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1A1F36"/>
                </a:solidFill>
                <a:latin typeface="맑은 고딕"/>
              </a:rPr>
              <a:t>▸ 카메라+LiDAR 퓨전 demo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74734" y="5760720"/>
            <a:ext cx="3749039" cy="457200"/>
          </a:xfrm>
          <a:prstGeom prst="rect">
            <a:avLst/>
          </a:prstGeom>
          <a:solidFill>
            <a:srgbClr val="F5A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174734" y="5760720"/>
            <a:ext cx="3749039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통합 테스트 단계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 spc="150">
                <a:solidFill>
                  <a:srgbClr val="7A83A8"/>
                </a:solidFill>
                <a:latin typeface="맑은 고딕"/>
              </a:rPr>
              <a:t>SeSAC · ACC Project · 중간발표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 i="0" spc="150">
                <a:solidFill>
                  <a:srgbClr val="7A83A8"/>
                </a:solidFill>
                <a:latin typeface="맑은 고딕"/>
              </a:rPr>
              <a:t>10 /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84048"/>
            <a:ext cx="109728" cy="292608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384048"/>
            <a:ext cx="914400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 spc="300">
                <a:solidFill>
                  <a:srgbClr val="1E2761"/>
                </a:solidFill>
                <a:latin typeface="맑은 고딕"/>
              </a:rPr>
              <a:t>08  CAN DATABASE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22960"/>
            <a:ext cx="109728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600" b="1" i="0">
                <a:solidFill>
                  <a:srgbClr val="1E2761"/>
                </a:solidFill>
                <a:latin typeface="맑은 고딕"/>
              </a:rPr>
              <a:t>CAN 메시지 정의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7A83A8"/>
                </a:solidFill>
                <a:latin typeface="맑은 고딕"/>
              </a:rPr>
              <a:t>acc_db.dbc · 9 메시지 · 3 노드 (SENSOR · ECU · MTR) · 500 kbps · MTR_CMD에 AUTOSAR E2E P01 적용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03120"/>
            <a:ext cx="11247120" cy="411480"/>
          </a:xfrm>
          <a:prstGeom prst="rect">
            <a:avLst/>
          </a:prstGeom>
          <a:solidFill>
            <a:srgbClr val="141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6928" y="2103120"/>
            <a:ext cx="118872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 spc="200">
                <a:solidFill>
                  <a:srgbClr val="FFFFFF"/>
                </a:solidFill>
                <a:latin typeface="맑은 고딕"/>
              </a:rPr>
              <a:t>CAN 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55648" y="2103120"/>
            <a:ext cx="24688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 spc="200">
                <a:solidFill>
                  <a:srgbClr val="FFFFFF"/>
                </a:solidFill>
                <a:latin typeface="맑은 고딕"/>
              </a:rPr>
              <a:t>메시지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24528" y="2103120"/>
            <a:ext cx="20116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 spc="200">
                <a:solidFill>
                  <a:srgbClr val="FFFFFF"/>
                </a:solidFill>
                <a:latin typeface="맑은 고딕"/>
              </a:rPr>
              <a:t>방향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6208" y="2103120"/>
            <a:ext cx="10972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 spc="200">
                <a:solidFill>
                  <a:srgbClr val="FFFFFF"/>
                </a:solidFill>
                <a:latin typeface="맑은 고딕"/>
              </a:rPr>
              <a:t>주기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33488" y="2103120"/>
            <a:ext cx="448056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 spc="200">
                <a:solidFill>
                  <a:srgbClr val="FFFFFF"/>
                </a:solidFill>
                <a:latin typeface="맑은 고딕"/>
              </a:rPr>
              <a:t>핵심 시그널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514600"/>
            <a:ext cx="11247120" cy="365760"/>
          </a:xfrm>
          <a:prstGeom prst="rect">
            <a:avLst/>
          </a:prstGeom>
          <a:solidFill>
            <a:srgbClr val="F7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66928" y="2514600"/>
            <a:ext cx="118872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F96167"/>
                </a:solidFill>
                <a:latin typeface="Consolas"/>
              </a:rPr>
              <a:t>0x110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55648" y="2514600"/>
            <a:ext cx="246888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Consolas"/>
              </a:rPr>
              <a:t>SENSOR_FUSION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24528" y="2514600"/>
            <a:ext cx="201168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맑은 고딕"/>
              </a:rPr>
              <a:t>RPi → ECU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6208" y="2514600"/>
            <a:ext cx="109728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맑은 고딕"/>
              </a:rPr>
              <a:t>20 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33488" y="2514600"/>
            <a:ext cx="448056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맑은 고딕"/>
              </a:rPr>
              <a:t>VEH_DET · VEH_DIST (mm, 0–12000)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880360"/>
            <a:ext cx="1124712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66928" y="2880360"/>
            <a:ext cx="118872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F96167"/>
                </a:solidFill>
                <a:latin typeface="Consolas"/>
              </a:rPr>
              <a:t>0x111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55648" y="2880360"/>
            <a:ext cx="246888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Consolas"/>
              </a:rPr>
              <a:t>SENSOR_HEARTBEAT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24528" y="2880360"/>
            <a:ext cx="201168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맑은 고딕"/>
              </a:rPr>
              <a:t>RPi → ECU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36208" y="2880360"/>
            <a:ext cx="109728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맑은 고딕"/>
              </a:rPr>
              <a:t>20 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33488" y="2880360"/>
            <a:ext cx="448056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맑은 고딕"/>
              </a:rPr>
              <a:t>HB_SENSOR · ERR_SENSOR (60ms timeout)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246120"/>
            <a:ext cx="11247120" cy="365760"/>
          </a:xfrm>
          <a:prstGeom prst="rect">
            <a:avLst/>
          </a:prstGeom>
          <a:solidFill>
            <a:srgbClr val="F7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66928" y="3246120"/>
            <a:ext cx="118872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F96167"/>
                </a:solidFill>
                <a:latin typeface="Consolas"/>
              </a:rPr>
              <a:t>0x120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55648" y="3246120"/>
            <a:ext cx="246888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Consolas"/>
              </a:rPr>
              <a:t>VEH_CTRL 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24528" y="3246120"/>
            <a:ext cx="201168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맑은 고딕"/>
              </a:rPr>
              <a:t>RPi → ECU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36208" y="3246120"/>
            <a:ext cx="109728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맑은 고딕"/>
              </a:rPr>
              <a:t>20 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33488" y="3246120"/>
            <a:ext cx="448056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맑은 고딕"/>
              </a:rPr>
              <a:t>BTN_BRAKE · SET_ACCEL_PWM (ASIL-B 안전 경로)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3611880"/>
            <a:ext cx="1124712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66928" y="3611880"/>
            <a:ext cx="118872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F96167"/>
                </a:solidFill>
                <a:latin typeface="Consolas"/>
              </a:rPr>
              <a:t>0x210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55648" y="3611880"/>
            <a:ext cx="246888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Consolas"/>
              </a:rPr>
              <a:t>MTR_CMD ★ E2E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24528" y="3611880"/>
            <a:ext cx="201168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맑은 고딕"/>
              </a:rPr>
              <a:t>ECU → MTR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36208" y="3611880"/>
            <a:ext cx="109728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맑은 고딕"/>
              </a:rPr>
              <a:t>10 ms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33488" y="3611880"/>
            <a:ext cx="448056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맑은 고딕"/>
              </a:rPr>
              <a:t>PWM 4ch + Rolling Counter + CRC-8 (E2E P01)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3977640"/>
            <a:ext cx="11247120" cy="365760"/>
          </a:xfrm>
          <a:prstGeom prst="rect">
            <a:avLst/>
          </a:prstGeom>
          <a:solidFill>
            <a:srgbClr val="F7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66928" y="3977640"/>
            <a:ext cx="118872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F96167"/>
                </a:solidFill>
                <a:latin typeface="Consolas"/>
              </a:rPr>
              <a:t>0x300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55648" y="3977640"/>
            <a:ext cx="246888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Consolas"/>
              </a:rPr>
              <a:t>MTR_SPD_FB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24528" y="3977640"/>
            <a:ext cx="201168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맑은 고딕"/>
              </a:rPr>
              <a:t>MTR → ECU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36208" y="3977640"/>
            <a:ext cx="109728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맑은 고딕"/>
              </a:rPr>
              <a:t>10 ms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33488" y="3977640"/>
            <a:ext cx="448056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맑은 고딕"/>
              </a:rPr>
              <a:t>GET_SPD_AVG · 4륜 개별 속도 (예약)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4343400"/>
            <a:ext cx="1124712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66928" y="4343400"/>
            <a:ext cx="118872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F96167"/>
                </a:solidFill>
                <a:latin typeface="Consolas"/>
              </a:rPr>
              <a:t>0x310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755648" y="4343400"/>
            <a:ext cx="246888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Consolas"/>
              </a:rPr>
              <a:t>MTR_HEARTBEAT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24528" y="4343400"/>
            <a:ext cx="201168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맑은 고딕"/>
              </a:rPr>
              <a:t>MTR → ECU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36208" y="4343400"/>
            <a:ext cx="109728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맑은 고딕"/>
              </a:rPr>
              <a:t>10 ms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33488" y="4343400"/>
            <a:ext cx="448056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맑은 고딕"/>
              </a:rPr>
              <a:t>HB_MTR · ERR_MTR (30ms timeout)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4709160"/>
            <a:ext cx="11247120" cy="365760"/>
          </a:xfrm>
          <a:prstGeom prst="rect">
            <a:avLst/>
          </a:prstGeom>
          <a:solidFill>
            <a:srgbClr val="F7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66928" y="4709160"/>
            <a:ext cx="118872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F96167"/>
                </a:solidFill>
                <a:latin typeface="Consolas"/>
              </a:rPr>
              <a:t>0x410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755648" y="4709160"/>
            <a:ext cx="246888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Consolas"/>
              </a:rPr>
              <a:t>ECU_HEARTBEAT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24528" y="4709160"/>
            <a:ext cx="201168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맑은 고딕"/>
              </a:rPr>
              <a:t>ECU → *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36208" y="4709160"/>
            <a:ext cx="109728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맑은 고딕"/>
              </a:rPr>
              <a:t>10 ms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33488" y="4709160"/>
            <a:ext cx="448056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맑은 고딕"/>
              </a:rPr>
              <a:t>HB_ECU · ERR_ECU (ASIL-B, 30ms timeout)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" y="5074920"/>
            <a:ext cx="1124712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566928" y="5074920"/>
            <a:ext cx="118872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F96167"/>
                </a:solidFill>
                <a:latin typeface="Consolas"/>
              </a:rPr>
              <a:t>0x510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755648" y="5074920"/>
            <a:ext cx="246888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Consolas"/>
              </a:rPr>
              <a:t>ACC_CTRL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224528" y="5074920"/>
            <a:ext cx="201168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맑은 고딕"/>
              </a:rPr>
              <a:t>RPi → ECU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36208" y="5074920"/>
            <a:ext cx="109728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맑은 고딕"/>
              </a:rPr>
              <a:t>50 ms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333488" y="5074920"/>
            <a:ext cx="448056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맑은 고딕"/>
              </a:rPr>
              <a:t>ACC ON/OFF · SET · RES · 속도± · 거리1/2/3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7200" y="5440680"/>
            <a:ext cx="11247120" cy="365760"/>
          </a:xfrm>
          <a:prstGeom prst="rect">
            <a:avLst/>
          </a:prstGeom>
          <a:solidFill>
            <a:srgbClr val="F7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66928" y="5440680"/>
            <a:ext cx="118872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F96167"/>
                </a:solidFill>
                <a:latin typeface="Consolas"/>
              </a:rPr>
              <a:t>0x520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755648" y="5440680"/>
            <a:ext cx="246888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Consolas"/>
              </a:rPr>
              <a:t>ACC_STATUS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24528" y="5440680"/>
            <a:ext cx="201168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맑은 고딕"/>
              </a:rPr>
              <a:t>ECU → RPi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236208" y="5440680"/>
            <a:ext cx="109728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맑은 고딕"/>
              </a:rPr>
              <a:t>50 ms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333488" y="5440680"/>
            <a:ext cx="448056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맑은 고딕"/>
              </a:rPr>
              <a:t>GET_ACC_STATE · GET_ACC_SPD · GET_ACC_LVL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57200" y="5897880"/>
            <a:ext cx="11247120" cy="5029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731520" y="5971032"/>
            <a:ext cx="3657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 spc="300">
                <a:solidFill>
                  <a:srgbClr val="F96167"/>
                </a:solidFill>
                <a:latin typeface="맑은 고딕"/>
              </a:rPr>
              <a:t>STATUS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286000" y="6016752"/>
            <a:ext cx="914400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맑은 고딕"/>
              </a:rPr>
              <a:t>★ = ASIL-B 안전 경로 · MTR_CMD는 E2E (RC + CRC-8) · Heartbeat 3종 (각 30~60ms 타임아웃)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 spc="150">
                <a:solidFill>
                  <a:srgbClr val="7A83A8"/>
                </a:solidFill>
                <a:latin typeface="맑은 고딕"/>
              </a:rPr>
              <a:t>SeSAC · ACC Project · 중간발표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 i="0" spc="150">
                <a:solidFill>
                  <a:srgbClr val="7A83A8"/>
                </a:solidFill>
                <a:latin typeface="맑은 고딕"/>
              </a:rPr>
              <a:t>11 /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84048"/>
            <a:ext cx="109728" cy="292608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384048"/>
            <a:ext cx="914400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 spc="300">
                <a:solidFill>
                  <a:srgbClr val="1E2761"/>
                </a:solidFill>
                <a:latin typeface="맑은 고딕"/>
              </a:rPr>
              <a:t>09  KEY MILESTONES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22960"/>
            <a:ext cx="109728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600" b="1" i="0">
                <a:solidFill>
                  <a:srgbClr val="1E2761"/>
                </a:solidFill>
                <a:latin typeface="맑은 고딕"/>
              </a:rPr>
              <a:t>주요 성과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7A83A8"/>
                </a:solidFill>
                <a:latin typeface="맑은 고딕"/>
              </a:rPr>
              <a:t>중간발표 시점까지 달성한 핵심 산출물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65960"/>
            <a:ext cx="5486400" cy="2011680"/>
          </a:xfrm>
          <a:prstGeom prst="rect">
            <a:avLst/>
          </a:prstGeom>
          <a:solidFill>
            <a:srgbClr val="141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965960"/>
            <a:ext cx="91440" cy="201168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2423160"/>
            <a:ext cx="2377440" cy="10972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5800" b="1">
                <a:solidFill>
                  <a:srgbClr val="FFFFFF"/>
                </a:solidFill>
                <a:latin typeface="맑은 고딕"/>
              </a:rPr>
              <a:t>100</a:t>
            </a:r>
            <a:r>
              <a:rPr sz="2200" b="1">
                <a:solidFill>
                  <a:srgbClr val="CADCFC"/>
                </a:solidFill>
                <a:latin typeface="맑은 고딕"/>
              </a:rPr>
              <a:t>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2286000"/>
            <a:ext cx="2514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 spc="300">
                <a:solidFill>
                  <a:srgbClr val="F96167"/>
                </a:solidFill>
                <a:latin typeface="맑은 고딕"/>
              </a:rPr>
              <a:t>요구사항 정의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2743200"/>
            <a:ext cx="251460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CADCFC"/>
                </a:solidFill>
                <a:latin typeface="맑은 고딕"/>
              </a:rPr>
              <a:t>STK 24 · SYS 37 · SWR 31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CADCFC"/>
                </a:solidFill>
                <a:latin typeface="맑은 고딕"/>
              </a:rPr>
              <a:t>HWR 12 · SAF 17 (Safety Goal 3)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1965960"/>
            <a:ext cx="5486400" cy="20116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72200" y="1965960"/>
            <a:ext cx="91440" cy="201168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46520" y="2423160"/>
            <a:ext cx="2377440" cy="10972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5800" b="1">
                <a:solidFill>
                  <a:srgbClr val="FFFFFF"/>
                </a:solidFill>
                <a:latin typeface="맑은 고딕"/>
              </a:rPr>
              <a:t>9</a:t>
            </a:r>
            <a:r>
              <a:rPr sz="2200" b="1">
                <a:solidFill>
                  <a:srgbClr val="CADCFC"/>
                </a:solidFill>
                <a:latin typeface="맑은 고딕"/>
              </a:rPr>
              <a:t>/ 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2286000"/>
            <a:ext cx="2514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 spc="300">
                <a:solidFill>
                  <a:srgbClr val="F96167"/>
                </a:solidFill>
                <a:latin typeface="맑은 고딕"/>
              </a:rPr>
              <a:t>CAN 메시지 정의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2743200"/>
            <a:ext cx="251460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CADCFC"/>
                </a:solidFill>
                <a:latin typeface="맑은 고딕"/>
              </a:rPr>
              <a:t>acc_db.dbc 확정 · E2E P01 적용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CADCFC"/>
                </a:solidFill>
                <a:latin typeface="맑은 고딕"/>
              </a:rPr>
              <a:t>3-노드 ASIL-B 인터페이스 확정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206240"/>
            <a:ext cx="5486400" cy="2011680"/>
          </a:xfrm>
          <a:prstGeom prst="rect">
            <a:avLst/>
          </a:prstGeom>
          <a:solidFill>
            <a:srgbClr val="141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" y="4206240"/>
            <a:ext cx="91440" cy="201168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4663440"/>
            <a:ext cx="2377440" cy="10972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5800" b="1">
                <a:solidFill>
                  <a:srgbClr val="FFFFFF"/>
                </a:solidFill>
                <a:latin typeface="맑은 고딕"/>
              </a:rPr>
              <a:t>100</a:t>
            </a:r>
            <a:r>
              <a:rPr sz="2200" b="1">
                <a:solidFill>
                  <a:srgbClr val="CADCFC"/>
                </a:solidFill>
                <a:latin typeface="맑은 고딕"/>
              </a:rPr>
              <a:t>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54680" y="4526280"/>
            <a:ext cx="2514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 spc="300">
                <a:solidFill>
                  <a:srgbClr val="F96167"/>
                </a:solidFill>
                <a:latin typeface="맑은 고딕"/>
              </a:rPr>
              <a:t>Arduino 펌웨어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54680" y="4983480"/>
            <a:ext cx="251460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CADCFC"/>
                </a:solidFill>
                <a:latin typeface="맑은 고딕"/>
              </a:rPr>
              <a:t>게이트웨이 + 모터노드 골격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CADCFC"/>
                </a:solidFill>
                <a:latin typeface="맑은 고딕"/>
              </a:rPr>
              <a:t>RPi HMI·CAN·Fusion 통합 테스트 중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4206240"/>
            <a:ext cx="5486400" cy="20116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172200" y="4206240"/>
            <a:ext cx="91440" cy="201168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46520" y="4663440"/>
            <a:ext cx="2377440" cy="10972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5800" b="1">
                <a:solidFill>
                  <a:srgbClr val="FFFFFF"/>
                </a:solidFill>
                <a:latin typeface="맑은 고딕"/>
              </a:rPr>
              <a:t>65</a:t>
            </a:r>
            <a:r>
              <a:rPr sz="2200" b="1">
                <a:solidFill>
                  <a:srgbClr val="CADCFC"/>
                </a:solidFill>
                <a:latin typeface="맑은 고딕"/>
              </a:rPr>
              <a:t>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4526280"/>
            <a:ext cx="2514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 spc="300">
                <a:solidFill>
                  <a:srgbClr val="F96167"/>
                </a:solidFill>
                <a:latin typeface="맑은 고딕"/>
              </a:rPr>
              <a:t>전체 진행률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4983480"/>
            <a:ext cx="251460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CADCFC"/>
                </a:solidFill>
                <a:latin typeface="맑은 고딕"/>
              </a:rPr>
              <a:t>요구사항·아키텍처·문서 완료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CADCFC"/>
                </a:solidFill>
                <a:latin typeface="맑은 고딕"/>
              </a:rPr>
              <a:t>ECU 6/6 SWC slbuild 통과 (4개 로직)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 spc="150">
                <a:solidFill>
                  <a:srgbClr val="7A83A8"/>
                </a:solidFill>
                <a:latin typeface="맑은 고딕"/>
              </a:rPr>
              <a:t>SeSAC · ACC Project · 중간발표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 i="0" spc="150">
                <a:solidFill>
                  <a:srgbClr val="7A83A8"/>
                </a:solidFill>
                <a:latin typeface="맑은 고딕"/>
              </a:rPr>
              <a:t>12 /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84048"/>
            <a:ext cx="109728" cy="292608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384048"/>
            <a:ext cx="914400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 spc="300">
                <a:solidFill>
                  <a:srgbClr val="1E2761"/>
                </a:solidFill>
                <a:latin typeface="맑은 고딕"/>
              </a:rPr>
              <a:t>10  REMAINING WORK &amp; RISKS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22960"/>
            <a:ext cx="109728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400" b="1" i="0">
                <a:solidFill>
                  <a:srgbClr val="1E2761"/>
                </a:solidFill>
                <a:latin typeface="맑은 고딕"/>
              </a:rPr>
              <a:t>남은 과제 &amp; 기술적 리스크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7A83A8"/>
                </a:solidFill>
                <a:latin typeface="맑은 고딕"/>
              </a:rPr>
              <a:t>4월 30일 데드라인까지 해결해야 하는 주요 이슈와 대응 방안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011680"/>
            <a:ext cx="5669280" cy="4114800"/>
          </a:xfrm>
          <a:prstGeom prst="rect">
            <a:avLst/>
          </a:prstGeom>
          <a:solidFill>
            <a:srgbClr val="F7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2011680"/>
            <a:ext cx="73152" cy="41148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2148840"/>
            <a:ext cx="53035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 spc="300">
                <a:solidFill>
                  <a:srgbClr val="1E2761"/>
                </a:solidFill>
                <a:latin typeface="맑은 고딕"/>
              </a:rPr>
              <a:t>REMAINING WORK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2679192"/>
            <a:ext cx="228600" cy="2286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34440" y="2606040"/>
            <a:ext cx="47548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맑은 고딕"/>
              </a:rPr>
              <a:t>AUTOSAR SWC 마무리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880360"/>
            <a:ext cx="47548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1A1F36"/>
                </a:solidFill>
                <a:latin typeface="맑은 고딕"/>
              </a:rPr>
              <a:t>ASM Stateflow · CanComm Rx/Tx 디코드 로직 구현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" y="3246120"/>
            <a:ext cx="228600" cy="2286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34440" y="3172968"/>
            <a:ext cx="47548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맑은 고딕"/>
              </a:rPr>
              <a:t>PID/PI 제어값 튜닝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447288"/>
            <a:ext cx="47548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1A1F36"/>
                </a:solidFill>
                <a:latin typeface="맑은 고딕"/>
              </a:rPr>
              <a:t>DC 거리 PID · MC 속도 PI gain 튜닝 + FF Lookup 벤치 데이터</a:t>
            </a:r>
          </a:p>
        </p:txBody>
      </p:sp>
      <p:sp>
        <p:nvSpPr>
          <p:cNvPr id="18" name="Oval 17"/>
          <p:cNvSpPr/>
          <p:nvPr/>
        </p:nvSpPr>
        <p:spPr>
          <a:xfrm>
            <a:off x="868680" y="3813048"/>
            <a:ext cx="228600" cy="2286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34440" y="3739896"/>
            <a:ext cx="47548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맑은 고딕"/>
              </a:rPr>
              <a:t>ARXML → mobilgene BSW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014216"/>
            <a:ext cx="47548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1A1F36"/>
                </a:solidFill>
                <a:latin typeface="맑은 고딕"/>
              </a:rPr>
              <a:t>ARXML export · mobilgene 통합 · MPC5606B S32DS 플래싱</a:t>
            </a:r>
          </a:p>
        </p:txBody>
      </p:sp>
      <p:sp>
        <p:nvSpPr>
          <p:cNvPr id="21" name="Oval 20"/>
          <p:cNvSpPr/>
          <p:nvPr/>
        </p:nvSpPr>
        <p:spPr>
          <a:xfrm>
            <a:off x="868680" y="4379976"/>
            <a:ext cx="228600" cy="2286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234440" y="4306824"/>
            <a:ext cx="47548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맑은 고딕"/>
              </a:rPr>
              <a:t>실차 3노드 통합 테스트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4581144"/>
            <a:ext cx="47548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1A1F36"/>
                </a:solidFill>
                <a:latin typeface="맑은 고딕"/>
              </a:rPr>
              <a:t>RPi ↔ ECU ↔ Arduino CAN 통신 시나리오 검증</a:t>
            </a:r>
          </a:p>
        </p:txBody>
      </p:sp>
      <p:sp>
        <p:nvSpPr>
          <p:cNvPr id="24" name="Oval 23"/>
          <p:cNvSpPr/>
          <p:nvPr/>
        </p:nvSpPr>
        <p:spPr>
          <a:xfrm>
            <a:off x="868680" y="4946904"/>
            <a:ext cx="228600" cy="2286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234440" y="4873752"/>
            <a:ext cx="47548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맑은 고딕"/>
              </a:rPr>
              <a:t>ASIL-B 안전 검증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5148072"/>
            <a:ext cx="47548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1A1F36"/>
                </a:solidFill>
                <a:latin typeface="맑은 고딕"/>
              </a:rPr>
              <a:t>Timeout · E2E · Safe-state 시나리오 · Safety Case 작성</a:t>
            </a:r>
          </a:p>
        </p:txBody>
      </p:sp>
      <p:sp>
        <p:nvSpPr>
          <p:cNvPr id="27" name="Oval 26"/>
          <p:cNvSpPr/>
          <p:nvPr/>
        </p:nvSpPr>
        <p:spPr>
          <a:xfrm>
            <a:off x="868680" y="5513832"/>
            <a:ext cx="228600" cy="2286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234440" y="5440680"/>
            <a:ext cx="47548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맑은 고딕"/>
              </a:rPr>
              <a:t>최종 산출물 · 발표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5715000"/>
            <a:ext cx="47548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1A1F36"/>
                </a:solidFill>
                <a:latin typeface="맑은 고딕"/>
              </a:rPr>
              <a:t>ASPICE 감사 대응 · 최종 보고서 · 데모 시연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2011680"/>
            <a:ext cx="5349240" cy="4114800"/>
          </a:xfrm>
          <a:prstGeom prst="rect">
            <a:avLst/>
          </a:prstGeom>
          <a:solidFill>
            <a:srgbClr val="141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629400" y="2148840"/>
            <a:ext cx="49377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 spc="300">
                <a:solidFill>
                  <a:srgbClr val="F96167"/>
                </a:solidFill>
                <a:latin typeface="맑은 고딕"/>
              </a:rPr>
              <a:t>TECHNICAL RISKS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29400" y="2697480"/>
            <a:ext cx="502920" cy="2743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629400" y="2697480"/>
            <a:ext cx="50292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High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60" y="2651760"/>
            <a:ext cx="438912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맑은 고딕"/>
              </a:rPr>
              <a:t>ASM / CanComm 로직 미완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3760" y="2999232"/>
            <a:ext cx="43891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CADCFC"/>
                </a:solidFill>
                <a:latin typeface="맑은 고딕"/>
              </a:rPr>
              <a:t>6개 SWC slbuild 성공했으나 ASM Stateflow + CanComm 디코드 구현 남음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29400" y="3538728"/>
            <a:ext cx="502920" cy="2743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629400" y="3538728"/>
            <a:ext cx="50292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23760" y="3493008"/>
            <a:ext cx="438912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맑은 고딕"/>
              </a:rPr>
              <a:t>R2024b AR-tree API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23760" y="3840480"/>
            <a:ext cx="43891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CADCFC"/>
                </a:solidFill>
                <a:latin typeface="맑은 고딕"/>
              </a:rPr>
              <a:t>addPackageableElement 이슈 해결 · 6 SWC + Composition slbuild 성공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629400" y="4379976"/>
            <a:ext cx="502920" cy="2743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629400" y="4379976"/>
            <a:ext cx="50292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High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23760" y="4334256"/>
            <a:ext cx="438912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맑은 고딕"/>
              </a:rPr>
              <a:t>MPC5606B 실기 빌드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23760" y="4681728"/>
            <a:ext cx="43891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CADCFC"/>
                </a:solidFill>
                <a:latin typeface="맑은 고딕"/>
              </a:rPr>
              <a:t>현재 x86-64 코드 생성만 · mobilgene BSW + S32DS 플래싱 미완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629400" y="5221224"/>
            <a:ext cx="502920" cy="274320"/>
          </a:xfrm>
          <a:prstGeom prst="rect">
            <a:avLst/>
          </a:prstGeom>
          <a:solidFill>
            <a:srgbClr val="F5A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629400" y="5221224"/>
            <a:ext cx="50292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Med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23760" y="5175504"/>
            <a:ext cx="438912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맑은 고딕"/>
              </a:rPr>
              <a:t>실차 통합/검증 시간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23760" y="5522976"/>
            <a:ext cx="43891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CADCFC"/>
                </a:solidFill>
                <a:latin typeface="맑은 고딕"/>
              </a:rPr>
              <a:t>RPi-ECU-Arduino 3노드 통합 + ASIL-B 시나리오 검증 시간 부족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 spc="150">
                <a:solidFill>
                  <a:srgbClr val="7A83A8"/>
                </a:solidFill>
                <a:latin typeface="맑은 고딕"/>
              </a:rPr>
              <a:t>SeSAC · ACC Project · 중간발표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 i="0" spc="150">
                <a:solidFill>
                  <a:srgbClr val="7A83A8"/>
                </a:solidFill>
                <a:latin typeface="맑은 고딕"/>
              </a:rPr>
              <a:t>13 /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84048"/>
            <a:ext cx="109728" cy="292608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384048"/>
            <a:ext cx="914400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 spc="300">
                <a:solidFill>
                  <a:srgbClr val="1E2761"/>
                </a:solidFill>
                <a:latin typeface="맑은 고딕"/>
              </a:rPr>
              <a:t>11  SCHEDULE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22960"/>
            <a:ext cx="109728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600" b="1" i="0">
                <a:solidFill>
                  <a:srgbClr val="1E2761"/>
                </a:solidFill>
                <a:latin typeface="맑은 고딕"/>
              </a:rPr>
              <a:t>향후 일정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7A83A8"/>
                </a:solidFill>
                <a:latin typeface="맑은 고딕"/>
              </a:rPr>
              <a:t>2026.04.24  (오늘 · 중간발표)  →  2026.04.30  (최종 제출 · 6일 남음)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419856"/>
            <a:ext cx="10332720" cy="54864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14400" y="3419856"/>
            <a:ext cx="1549908" cy="54864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49808" y="3291840"/>
            <a:ext cx="329184" cy="329184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0" y="2606040"/>
            <a:ext cx="1828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 i="0">
                <a:solidFill>
                  <a:srgbClr val="1E2761"/>
                </a:solidFill>
                <a:latin typeface="Consolas"/>
              </a:rPr>
              <a:t>04.24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2286000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1" i="0" spc="300">
                <a:solidFill>
                  <a:srgbClr val="F96167"/>
                </a:solidFill>
                <a:latin typeface="맑은 고딕"/>
              </a:rPr>
              <a:t>TODAY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-182880" y="3840480"/>
            <a:ext cx="219456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>
                <a:solidFill>
                  <a:srgbClr val="1A1F36"/>
                </a:solidFill>
                <a:latin typeface="맑은 고딕"/>
              </a:rPr>
              <a:t>중간발표</a:t>
            </a:r>
          </a:p>
          <a:p>
            <a:pPr algn="ctr">
              <a:lnSpc>
                <a:spcPct val="125000"/>
              </a:lnSpc>
            </a:pPr>
            <a:r>
              <a:rPr sz="1200" b="0" i="0">
                <a:solidFill>
                  <a:srgbClr val="1A1F36"/>
                </a:solidFill>
                <a:latin typeface="맑은 고딕"/>
              </a:rPr>
              <a:t>(오늘)</a:t>
            </a:r>
          </a:p>
        </p:txBody>
      </p:sp>
      <p:sp>
        <p:nvSpPr>
          <p:cNvPr id="15" name="Oval 14"/>
          <p:cNvSpPr/>
          <p:nvPr/>
        </p:nvSpPr>
        <p:spPr>
          <a:xfrm>
            <a:off x="2816352" y="3291840"/>
            <a:ext cx="329184" cy="329184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066544" y="2606040"/>
            <a:ext cx="1828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 i="0">
                <a:solidFill>
                  <a:srgbClr val="1E2761"/>
                </a:solidFill>
                <a:latin typeface="Consolas"/>
              </a:rPr>
              <a:t>04.25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66544" y="2286000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1" i="0" spc="300">
                <a:solidFill>
                  <a:srgbClr val="7A83A8"/>
                </a:solidFill>
                <a:latin typeface="맑은 고딕"/>
              </a:rPr>
              <a:t>예정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3664" y="3840480"/>
            <a:ext cx="219456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>
                <a:solidFill>
                  <a:srgbClr val="1A1F36"/>
                </a:solidFill>
                <a:latin typeface="맑은 고딕"/>
              </a:rPr>
              <a:t>ASM Stateflow + CanComm</a:t>
            </a:r>
          </a:p>
          <a:p>
            <a:pPr algn="ctr">
              <a:lnSpc>
                <a:spcPct val="125000"/>
              </a:lnSpc>
            </a:pPr>
            <a:r>
              <a:rPr sz="1200" b="0" i="0">
                <a:solidFill>
                  <a:srgbClr val="1A1F36"/>
                </a:solidFill>
                <a:latin typeface="맑은 고딕"/>
              </a:rPr>
              <a:t>디코드 로직 구현</a:t>
            </a:r>
          </a:p>
        </p:txBody>
      </p:sp>
      <p:sp>
        <p:nvSpPr>
          <p:cNvPr id="19" name="Oval 18"/>
          <p:cNvSpPr/>
          <p:nvPr/>
        </p:nvSpPr>
        <p:spPr>
          <a:xfrm>
            <a:off x="5399532" y="3291840"/>
            <a:ext cx="329184" cy="329184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49724" y="2606040"/>
            <a:ext cx="1828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 i="0">
                <a:solidFill>
                  <a:srgbClr val="1E2761"/>
                </a:solidFill>
                <a:latin typeface="Consolas"/>
              </a:rPr>
              <a:t>04.27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49724" y="2286000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1" i="0" spc="300">
                <a:solidFill>
                  <a:srgbClr val="7A83A8"/>
                </a:solidFill>
                <a:latin typeface="맑은 고딕"/>
              </a:rPr>
              <a:t>예정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66844" y="3840480"/>
            <a:ext cx="219456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>
                <a:solidFill>
                  <a:srgbClr val="1A1F36"/>
                </a:solidFill>
                <a:latin typeface="맑은 고딕"/>
              </a:rPr>
              <a:t>6 SWC Composition</a:t>
            </a:r>
          </a:p>
          <a:p>
            <a:pPr algn="ctr">
              <a:lnSpc>
                <a:spcPct val="125000"/>
              </a:lnSpc>
            </a:pPr>
            <a:r>
              <a:rPr sz="1200" b="0" i="0">
                <a:solidFill>
                  <a:srgbClr val="1A1F36"/>
                </a:solidFill>
                <a:latin typeface="맑은 고딕"/>
              </a:rPr>
              <a:t>+ ARXML Export</a:t>
            </a:r>
          </a:p>
        </p:txBody>
      </p:sp>
      <p:sp>
        <p:nvSpPr>
          <p:cNvPr id="23" name="Oval 22"/>
          <p:cNvSpPr/>
          <p:nvPr/>
        </p:nvSpPr>
        <p:spPr>
          <a:xfrm>
            <a:off x="7982712" y="3291840"/>
            <a:ext cx="329184" cy="329184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232904" y="2606040"/>
            <a:ext cx="1828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 i="0">
                <a:solidFill>
                  <a:srgbClr val="1E2761"/>
                </a:solidFill>
                <a:latin typeface="Consolas"/>
              </a:rPr>
              <a:t>04.29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2286000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1" i="0" spc="300">
                <a:solidFill>
                  <a:srgbClr val="7A83A8"/>
                </a:solidFill>
                <a:latin typeface="맑은 고딕"/>
              </a:rPr>
              <a:t>예정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50024" y="3840480"/>
            <a:ext cx="219456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>
                <a:solidFill>
                  <a:srgbClr val="1A1F36"/>
                </a:solidFill>
                <a:latin typeface="맑은 고딕"/>
              </a:rPr>
              <a:t>MPC5606B 빌드</a:t>
            </a:r>
          </a:p>
          <a:p>
            <a:pPr algn="ctr">
              <a:lnSpc>
                <a:spcPct val="125000"/>
              </a:lnSpc>
            </a:pPr>
            <a:r>
              <a:rPr sz="1200" b="0" i="0">
                <a:solidFill>
                  <a:srgbClr val="1A1F36"/>
                </a:solidFill>
                <a:latin typeface="맑은 고딕"/>
              </a:rPr>
              <a:t>+ PID/PI 튜닝</a:t>
            </a:r>
          </a:p>
        </p:txBody>
      </p:sp>
      <p:sp>
        <p:nvSpPr>
          <p:cNvPr id="27" name="Oval 26"/>
          <p:cNvSpPr/>
          <p:nvPr/>
        </p:nvSpPr>
        <p:spPr>
          <a:xfrm>
            <a:off x="11082528" y="3291840"/>
            <a:ext cx="329184" cy="329184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332720" y="2606040"/>
            <a:ext cx="1828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 i="0">
                <a:solidFill>
                  <a:srgbClr val="1E2761"/>
                </a:solidFill>
                <a:latin typeface="Consolas"/>
              </a:rPr>
              <a:t>04.30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2720" y="2286000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1" i="0" spc="300">
                <a:solidFill>
                  <a:srgbClr val="F96167"/>
                </a:solidFill>
                <a:latin typeface="맑은 고딕"/>
              </a:rPr>
              <a:t>DEADLINE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49840" y="3840480"/>
            <a:ext cx="219456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>
                <a:solidFill>
                  <a:srgbClr val="1A1F36"/>
                </a:solidFill>
                <a:latin typeface="맑은 고딕"/>
              </a:rPr>
              <a:t>실차 통합 검증</a:t>
            </a:r>
          </a:p>
          <a:p>
            <a:pPr algn="ctr">
              <a:lnSpc>
                <a:spcPct val="125000"/>
              </a:lnSpc>
            </a:pPr>
            <a:r>
              <a:rPr sz="1200" b="0" i="0">
                <a:solidFill>
                  <a:srgbClr val="1A1F36"/>
                </a:solidFill>
                <a:latin typeface="맑은 고딕"/>
              </a:rPr>
              <a:t>+ 최종 제출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120640"/>
            <a:ext cx="2194560" cy="1005840"/>
          </a:xfrm>
          <a:prstGeom prst="rect">
            <a:avLst/>
          </a:prstGeom>
          <a:solidFill>
            <a:srgbClr val="F7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57200" y="5120640"/>
            <a:ext cx="54864" cy="100584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" y="5212080"/>
            <a:ext cx="1920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맑은 고딕"/>
              </a:rPr>
              <a:t>김유림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5532120"/>
            <a:ext cx="19202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 spc="200">
                <a:solidFill>
                  <a:srgbClr val="F96167"/>
                </a:solidFill>
                <a:latin typeface="맑은 고딕"/>
              </a:rPr>
              <a:t>PM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5779008"/>
            <a:ext cx="1920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1A1F36"/>
                </a:solidFill>
                <a:latin typeface="맑은 고딕"/>
              </a:rPr>
              <a:t>일정 관리 · PID MBD 보조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34056" y="5120640"/>
            <a:ext cx="2194560" cy="1005840"/>
          </a:xfrm>
          <a:prstGeom prst="rect">
            <a:avLst/>
          </a:prstGeom>
          <a:solidFill>
            <a:srgbClr val="F7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2734056" y="5120640"/>
            <a:ext cx="54864" cy="100584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916936" y="5212080"/>
            <a:ext cx="1920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맑은 고딕"/>
              </a:rPr>
              <a:t>엄지혜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16936" y="5532120"/>
            <a:ext cx="19202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 spc="200">
                <a:solidFill>
                  <a:srgbClr val="F96167"/>
                </a:solidFill>
                <a:latin typeface="맑은 고딕"/>
              </a:rPr>
              <a:t>SW-ECU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16936" y="5779008"/>
            <a:ext cx="1920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1A1F36"/>
                </a:solidFill>
                <a:latin typeface="맑은 고딕"/>
              </a:rPr>
              <a:t>AUTOSAR SWC · 단위 테스트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10912" y="5120640"/>
            <a:ext cx="2194560" cy="1005840"/>
          </a:xfrm>
          <a:prstGeom prst="rect">
            <a:avLst/>
          </a:prstGeom>
          <a:solidFill>
            <a:srgbClr val="F7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5010912" y="5120640"/>
            <a:ext cx="54864" cy="100584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93792" y="5212080"/>
            <a:ext cx="1920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맑은 고딕"/>
              </a:rPr>
              <a:t>박종범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93792" y="5532120"/>
            <a:ext cx="19202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 spc="200">
                <a:solidFill>
                  <a:srgbClr val="F96167"/>
                </a:solidFill>
                <a:latin typeface="맑은 고딕"/>
              </a:rPr>
              <a:t>HMI/HW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93792" y="5779008"/>
            <a:ext cx="1920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1A1F36"/>
                </a:solidFill>
                <a:latin typeface="맑은 고딕"/>
              </a:rPr>
              <a:t>RPi HMI · Confirmation Review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87768" y="5120640"/>
            <a:ext cx="2194560" cy="1005840"/>
          </a:xfrm>
          <a:prstGeom prst="rect">
            <a:avLst/>
          </a:prstGeom>
          <a:solidFill>
            <a:srgbClr val="F7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7287768" y="5120640"/>
            <a:ext cx="54864" cy="100584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470648" y="5212080"/>
            <a:ext cx="1920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맑은 고딕"/>
              </a:rPr>
              <a:t>유다희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70648" y="5532120"/>
            <a:ext cx="19202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 spc="200">
                <a:solidFill>
                  <a:srgbClr val="F96167"/>
                </a:solidFill>
                <a:latin typeface="맑은 고딕"/>
              </a:rPr>
              <a:t>HW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70648" y="5779008"/>
            <a:ext cx="1920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1A1F36"/>
                </a:solidFill>
                <a:latin typeface="맑은 고딕"/>
              </a:rPr>
              <a:t>Arduino · Simulink PID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564624" y="5120640"/>
            <a:ext cx="2194560" cy="1005840"/>
          </a:xfrm>
          <a:prstGeom prst="rect">
            <a:avLst/>
          </a:prstGeom>
          <a:solidFill>
            <a:srgbClr val="F7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9564624" y="5120640"/>
            <a:ext cx="54864" cy="100584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747504" y="5212080"/>
            <a:ext cx="1920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맑은 고딕"/>
              </a:rPr>
              <a:t>배정우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47504" y="5532120"/>
            <a:ext cx="19202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 spc="200">
                <a:solidFill>
                  <a:srgbClr val="F96167"/>
                </a:solidFill>
                <a:latin typeface="맑은 고딕"/>
              </a:rPr>
              <a:t>Safety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747504" y="5779008"/>
            <a:ext cx="1920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1A1F36"/>
                </a:solidFill>
                <a:latin typeface="맑은 고딕"/>
              </a:rPr>
              <a:t>ASIL-B 검증 · Safety Case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686800" y="0"/>
            <a:ext cx="3502152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7772400" cy="20116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0" b="1" i="0">
                <a:solidFill>
                  <a:srgbClr val="FFFFFF"/>
                </a:solidFill>
                <a:latin typeface="맑은 고딕"/>
              </a:rPr>
              <a:t>Q &amp;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49039"/>
            <a:ext cx="77724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0" i="0">
                <a:solidFill>
                  <a:srgbClr val="CADCFC"/>
                </a:solidFill>
                <a:latin typeface="맑은 고딕"/>
              </a:rPr>
              <a:t>질문과 피드백을 기다립니다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389120"/>
            <a:ext cx="2286000" cy="36576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4617720"/>
            <a:ext cx="73152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 spc="300">
                <a:solidFill>
                  <a:srgbClr val="CADCFC"/>
                </a:solidFill>
                <a:latin typeface="맑은 고딕"/>
              </a:rPr>
              <a:t>SeSAC · AUTOSAR ACC PROJECT · 개포동잡초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937760"/>
            <a:ext cx="73152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맑은 고딕"/>
              </a:rPr>
              <a:t>김유림 · 엄지혜 · 박종범 · 유다희 · 배정우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1828800"/>
            <a:ext cx="30175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 spc="300">
                <a:solidFill>
                  <a:srgbClr val="F96167"/>
                </a:solidFill>
                <a:latin typeface="맑은 고딕"/>
              </a:rPr>
              <a:t>TODAY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2148840"/>
            <a:ext cx="30175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맑은 고딕"/>
              </a:rPr>
              <a:t>2026. 04. 24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2971800"/>
            <a:ext cx="30175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 spc="300">
                <a:solidFill>
                  <a:srgbClr val="F96167"/>
                </a:solidFill>
                <a:latin typeface="맑은 고딕"/>
              </a:rPr>
              <a:t>DAYS LEFT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3291840"/>
            <a:ext cx="301752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400" b="1" i="0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4526280"/>
            <a:ext cx="3017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1">
                <a:solidFill>
                  <a:srgbClr val="CADCFC"/>
                </a:solidFill>
                <a:latin typeface="맑은 고딕"/>
              </a:rPr>
              <a:t>Until 2026. 04. 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309360"/>
            <a:ext cx="8229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1">
                <a:solidFill>
                  <a:srgbClr val="CADCFC"/>
                </a:solidFill>
                <a:latin typeface="맑은 고딕"/>
              </a:rPr>
              <a:t>Thank you for your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18C6524-54C9-4682-A340-E2C4ADCA7F96}">
  <we:reference id="wa200010001" version="1.0.0.1" store="ko-KR" storeType="OMEX"/>
  <we:alternateReferences>
    <we:reference id="wa200010001" version="1.0.0.1" store="wa200010001" storeType="OMEX"/>
  </we:alternateReferences>
  <we:properties>
    <we:property name="claude.fileId" value="&quot;9390ba05-872e-499d-bcc5-47592c5f6a48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1794</Words>
  <Application>Microsoft Office PowerPoint</Application>
  <PresentationFormat>와이드스크린</PresentationFormat>
  <Paragraphs>425</Paragraphs>
  <Slides>16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1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종범 박</cp:lastModifiedBy>
  <cp:revision>3</cp:revision>
  <dcterms:created xsi:type="dcterms:W3CDTF">2013-01-27T09:14:16Z</dcterms:created>
  <dcterms:modified xsi:type="dcterms:W3CDTF">2026-04-24T07:24:16Z</dcterms:modified>
  <cp:category/>
</cp:coreProperties>
</file>